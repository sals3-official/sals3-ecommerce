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640080" y="685800"/>
            <a:ext cx="457200" cy="457200"/>
          </a:xfrm>
          <a:prstGeom prst="rect">
            <a:avLst/>
          </a:prstGeom>
          <a:noFill/>
          <a:ln/>
        </p:spPr>
        <p:txBody>
          <a:bodyPr wrap="square" lIns="0" tIns="0" rIns="0" bIns="0" rtlCol="0" anchor="ctr"/>
          <a:lstStyle/>
          <a:p>
            <a:pPr indent="0" marL="0">
              <a:buNone/>
            </a:pPr>
            <a:r>
              <a:rPr lang="en-US" sz="3000" b="1" dirty="0">
                <a:solidFill>
                  <a:srgbClr val="0F8B6C"/>
                </a:solidFill>
                <a:latin typeface="Aptos Display" pitchFamily="34" charset="0"/>
                <a:ea typeface="Aptos Display" pitchFamily="34" charset="-122"/>
                <a:cs typeface="Aptos Display" pitchFamily="34" charset="-120"/>
              </a:rPr>
              <a:t>S</a:t>
            </a:r>
            <a:endParaRPr lang="en-US" sz="3000" dirty="0"/>
          </a:p>
        </p:txBody>
      </p:sp>
      <p:sp>
        <p:nvSpPr>
          <p:cNvPr id="3" name="Text 1"/>
          <p:cNvSpPr txBox="1"/>
          <p:nvPr/>
        </p:nvSpPr>
        <p:spPr>
          <a:xfrm>
            <a:off x="484632" y="1554480"/>
            <a:ext cx="54864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SALS3 · CUSTOMER OPERATIONS</a:t>
            </a:r>
            <a:endParaRPr lang="en-US" sz="700" dirty="0"/>
          </a:p>
        </p:txBody>
      </p:sp>
      <p:sp>
        <p:nvSpPr>
          <p:cNvPr id="4" name="Text 2"/>
          <p:cNvSpPr txBox="1"/>
          <p:nvPr/>
        </p:nvSpPr>
        <p:spPr>
          <a:xfrm>
            <a:off x="484632" y="1783080"/>
            <a:ext cx="7315200" cy="1097280"/>
          </a:xfrm>
          <a:prstGeom prst="rect">
            <a:avLst/>
          </a:prstGeom>
          <a:noFill/>
          <a:ln/>
        </p:spPr>
        <p:txBody>
          <a:bodyPr wrap="square" lIns="0" tIns="0" rIns="0" bIns="0" rtlCol="0" anchor="ctr"/>
          <a:lstStyle/>
          <a:p>
            <a:pPr indent="0" marL="0">
              <a:buNone/>
            </a:pPr>
            <a:r>
              <a:rPr lang="en-US" sz="3200" b="1" dirty="0">
                <a:solidFill>
                  <a:srgbClr val="13224A"/>
                </a:solidFill>
                <a:latin typeface="Aptos Display" pitchFamily="34" charset="0"/>
                <a:ea typeface="Aptos Display" pitchFamily="34" charset="-122"/>
                <a:cs typeface="Aptos Display" pitchFamily="34" charset="-120"/>
              </a:rPr>
              <a:t>Cancellation</a:t>
            </a:r>
            <a:endParaRPr lang="en-US" sz="3200" dirty="0"/>
          </a:p>
          <a:p>
            <a:pPr indent="0" marL="0">
              <a:buNone/>
            </a:pPr>
            <a:r>
              <a:rPr lang="en-US" sz="3200" b="1" dirty="0">
                <a:solidFill>
                  <a:srgbClr val="13224A"/>
                </a:solidFill>
                <a:latin typeface="Aptos Display" pitchFamily="34" charset="0"/>
                <a:ea typeface="Aptos Display" pitchFamily="34" charset="-122"/>
                <a:cs typeface="Aptos Display" pitchFamily="34" charset="-120"/>
              </a:rPr>
              <a:t>Order Cancellation SOP</a:t>
            </a:r>
            <a:endParaRPr lang="en-US" sz="3200" dirty="0"/>
          </a:p>
        </p:txBody>
      </p:sp>
      <p:sp>
        <p:nvSpPr>
          <p:cNvPr id="5" name="Text 3"/>
          <p:cNvSpPr txBox="1"/>
          <p:nvPr/>
        </p:nvSpPr>
        <p:spPr>
          <a:xfrm>
            <a:off x="484632" y="2926080"/>
            <a:ext cx="7772400" cy="274320"/>
          </a:xfrm>
          <a:prstGeom prst="rect">
            <a:avLst/>
          </a:prstGeom>
          <a:noFill/>
          <a:ln/>
        </p:spPr>
        <p:txBody>
          <a:bodyPr wrap="square" lIns="0" tIns="0" rIns="0" bIns="0" rtlCol="0" anchor="ctr"/>
          <a:lstStyle/>
          <a:p>
            <a:pPr indent="0" marL="0">
              <a:buNone/>
            </a:pPr>
            <a:r>
              <a:rPr lang="en-US" sz="1100" dirty="0">
                <a:solidFill>
                  <a:srgbClr val="5B6472"/>
                </a:solidFill>
                <a:latin typeface="Aptos" pitchFamily="34" charset="0"/>
                <a:ea typeface="Aptos" pitchFamily="34" charset="-122"/>
                <a:cs typeface="Aptos" pitchFamily="34" charset="-120"/>
              </a:rPr>
              <a:t>Final rules (v4.2 → this deck v5)  ·  CJ-only fulfilment  ·  Stripe refunds  ·  supersedes v4.1 (10 Sep 2026)</a:t>
            </a:r>
            <a:endParaRPr lang="en-US" sz="1100" dirty="0"/>
          </a:p>
        </p:txBody>
      </p:sp>
      <p:sp>
        <p:nvSpPr>
          <p:cNvPr id="6" name="Shape 4"/>
          <p:cNvSpPr/>
          <p:nvPr/>
        </p:nvSpPr>
        <p:spPr>
          <a:xfrm>
            <a:off x="411480" y="3429000"/>
            <a:ext cx="1931670" cy="237744"/>
          </a:xfrm>
          <a:prstGeom prst="roundRect">
            <a:avLst>
              <a:gd name="adj" fmla="val 23077"/>
            </a:avLst>
          </a:prstGeom>
          <a:solidFill>
            <a:srgbClr val="E3F6F0"/>
          </a:solidFill>
          <a:ln w="9525">
            <a:solidFill>
              <a:srgbClr val="0F8B6C"/>
            </a:solidFill>
            <a:prstDash val="solid"/>
          </a:ln>
        </p:spPr>
      </p:sp>
      <p:sp>
        <p:nvSpPr>
          <p:cNvPr id="7" name="Text 5"/>
          <p:cNvSpPr txBox="1"/>
          <p:nvPr/>
        </p:nvSpPr>
        <p:spPr>
          <a:xfrm>
            <a:off x="411480" y="3429000"/>
            <a:ext cx="1931670" cy="237744"/>
          </a:xfrm>
          <a:prstGeom prst="rect">
            <a:avLst/>
          </a:prstGeom>
          <a:noFill/>
          <a:ln/>
        </p:spPr>
        <p:txBody>
          <a:bodyPr wrap="square" lIns="0" tIns="0" rIns="0" bIns="0" rtlCol="0" anchor="ctr"/>
          <a:lstStyle/>
          <a:p>
            <a:pPr algn="ctr" indent="0" marL="0">
              <a:buNone/>
            </a:pPr>
            <a:r>
              <a:rPr lang="en-US" sz="650" b="1" dirty="0">
                <a:solidFill>
                  <a:srgbClr val="0F8B6C"/>
                </a:solidFill>
                <a:latin typeface="Aptos" pitchFamily="34" charset="0"/>
                <a:ea typeface="Aptos" pitchFamily="34" charset="-122"/>
                <a:cs typeface="Aptos" pitchFamily="34" charset="-120"/>
              </a:rPr>
              <a:t>24-hour hold in CJ Imported</a:t>
            </a:r>
            <a:endParaRPr lang="en-US" sz="650" dirty="0"/>
          </a:p>
        </p:txBody>
      </p:sp>
      <p:sp>
        <p:nvSpPr>
          <p:cNvPr id="8" name="Shape 6"/>
          <p:cNvSpPr/>
          <p:nvPr/>
        </p:nvSpPr>
        <p:spPr>
          <a:xfrm>
            <a:off x="2480310" y="3429000"/>
            <a:ext cx="1931670" cy="237744"/>
          </a:xfrm>
          <a:prstGeom prst="roundRect">
            <a:avLst>
              <a:gd name="adj" fmla="val 23077"/>
            </a:avLst>
          </a:prstGeom>
          <a:solidFill>
            <a:srgbClr val="E3F6F0"/>
          </a:solidFill>
          <a:ln w="9525">
            <a:solidFill>
              <a:srgbClr val="0F8B6C"/>
            </a:solidFill>
            <a:prstDash val="solid"/>
          </a:ln>
        </p:spPr>
      </p:sp>
      <p:sp>
        <p:nvSpPr>
          <p:cNvPr id="9" name="Text 7"/>
          <p:cNvSpPr txBox="1"/>
          <p:nvPr/>
        </p:nvSpPr>
        <p:spPr>
          <a:xfrm>
            <a:off x="2480310" y="3429000"/>
            <a:ext cx="1931670" cy="237744"/>
          </a:xfrm>
          <a:prstGeom prst="rect">
            <a:avLst/>
          </a:prstGeom>
          <a:noFill/>
          <a:ln/>
        </p:spPr>
        <p:txBody>
          <a:bodyPr wrap="square" lIns="0" tIns="0" rIns="0" bIns="0" rtlCol="0" anchor="ctr"/>
          <a:lstStyle/>
          <a:p>
            <a:pPr algn="ctr" indent="0" marL="0">
              <a:buNone/>
            </a:pPr>
            <a:r>
              <a:rPr lang="en-US" sz="650" b="1" dirty="0">
                <a:solidFill>
                  <a:srgbClr val="0F8B6C"/>
                </a:solidFill>
                <a:latin typeface="Aptos" pitchFamily="34" charset="0"/>
                <a:ea typeface="Aptos" pitchFamily="34" charset="-122"/>
                <a:cs typeface="Aptos" pitchFamily="34" charset="-120"/>
              </a:rPr>
              <a:t>Then request only, Sals3 reviews</a:t>
            </a:r>
            <a:endParaRPr lang="en-US" sz="650" dirty="0"/>
          </a:p>
        </p:txBody>
      </p:sp>
      <p:sp>
        <p:nvSpPr>
          <p:cNvPr id="10" name="Shape 8"/>
          <p:cNvSpPr/>
          <p:nvPr/>
        </p:nvSpPr>
        <p:spPr>
          <a:xfrm>
            <a:off x="4549140" y="3429000"/>
            <a:ext cx="1931670" cy="237744"/>
          </a:xfrm>
          <a:prstGeom prst="roundRect">
            <a:avLst>
              <a:gd name="adj" fmla="val 23077"/>
            </a:avLst>
          </a:prstGeom>
          <a:solidFill>
            <a:srgbClr val="E3F6F0"/>
          </a:solidFill>
          <a:ln w="9525">
            <a:solidFill>
              <a:srgbClr val="0F8B6C"/>
            </a:solidFill>
            <a:prstDash val="solid"/>
          </a:ln>
        </p:spPr>
      </p:sp>
      <p:sp>
        <p:nvSpPr>
          <p:cNvPr id="11" name="Text 9"/>
          <p:cNvSpPr txBox="1"/>
          <p:nvPr/>
        </p:nvSpPr>
        <p:spPr>
          <a:xfrm>
            <a:off x="4549140" y="3429000"/>
            <a:ext cx="1931670" cy="237744"/>
          </a:xfrm>
          <a:prstGeom prst="rect">
            <a:avLst/>
          </a:prstGeom>
          <a:noFill/>
          <a:ln/>
        </p:spPr>
        <p:txBody>
          <a:bodyPr wrap="square" lIns="0" tIns="0" rIns="0" bIns="0" rtlCol="0" anchor="ctr"/>
          <a:lstStyle/>
          <a:p>
            <a:pPr algn="ctr" indent="0" marL="0">
              <a:buNone/>
            </a:pPr>
            <a:r>
              <a:rPr lang="en-US" sz="650" b="1" dirty="0">
                <a:solidFill>
                  <a:srgbClr val="0F8B6C"/>
                </a:solidFill>
                <a:latin typeface="Aptos" pitchFamily="34" charset="0"/>
                <a:ea typeface="Aptos" pitchFamily="34" charset="-122"/>
                <a:cs typeface="Aptos" pitchFamily="34" charset="-120"/>
              </a:rPr>
              <a:t>No refund before CJ refunds</a:t>
            </a:r>
            <a:endParaRPr lang="en-US" sz="650" dirty="0"/>
          </a:p>
        </p:txBody>
      </p:sp>
      <p:sp>
        <p:nvSpPr>
          <p:cNvPr id="12" name="Shape 10"/>
          <p:cNvSpPr/>
          <p:nvPr/>
        </p:nvSpPr>
        <p:spPr>
          <a:xfrm>
            <a:off x="6617970" y="3429000"/>
            <a:ext cx="1931670" cy="237744"/>
          </a:xfrm>
          <a:prstGeom prst="roundRect">
            <a:avLst>
              <a:gd name="adj" fmla="val 23077"/>
            </a:avLst>
          </a:prstGeom>
          <a:solidFill>
            <a:srgbClr val="E3F6F0"/>
          </a:solidFill>
          <a:ln w="9525">
            <a:solidFill>
              <a:srgbClr val="0F8B6C"/>
            </a:solidFill>
            <a:prstDash val="solid"/>
          </a:ln>
        </p:spPr>
      </p:sp>
      <p:sp>
        <p:nvSpPr>
          <p:cNvPr id="13" name="Text 11"/>
          <p:cNvSpPr txBox="1"/>
          <p:nvPr/>
        </p:nvSpPr>
        <p:spPr>
          <a:xfrm>
            <a:off x="6617970" y="3429000"/>
            <a:ext cx="1931670" cy="237744"/>
          </a:xfrm>
          <a:prstGeom prst="rect">
            <a:avLst/>
          </a:prstGeom>
          <a:noFill/>
          <a:ln/>
        </p:spPr>
        <p:txBody>
          <a:bodyPr wrap="square" lIns="0" tIns="0" rIns="0" bIns="0" rtlCol="0" anchor="ctr"/>
          <a:lstStyle/>
          <a:p>
            <a:pPr algn="ctr" indent="0" marL="0">
              <a:buNone/>
            </a:pPr>
            <a:r>
              <a:rPr lang="en-US" sz="650" b="1" dirty="0">
                <a:solidFill>
                  <a:srgbClr val="0F8B6C"/>
                </a:solidFill>
                <a:latin typeface="Aptos" pitchFamily="34" charset="0"/>
                <a:ea typeface="Aptos" pitchFamily="34" charset="-122"/>
                <a:cs typeface="Aptos" pitchFamily="34" charset="-120"/>
              </a:rPr>
              <a:t>Packing started = closed</a:t>
            </a:r>
            <a:endParaRPr lang="en-US" sz="650" dirty="0"/>
          </a:p>
        </p:txBody>
      </p:sp>
      <p:sp>
        <p:nvSpPr>
          <p:cNvPr id="14" name="Text 12"/>
          <p:cNvSpPr txBox="1"/>
          <p:nvPr/>
        </p:nvSpPr>
        <p:spPr>
          <a:xfrm>
            <a:off x="484632" y="4754880"/>
            <a:ext cx="4572000" cy="182880"/>
          </a:xfrm>
          <a:prstGeom prst="rect">
            <a:avLst/>
          </a:prstGeom>
          <a:noFill/>
          <a:ln/>
        </p:spPr>
        <p:txBody>
          <a:bodyPr wrap="square" lIns="0" tIns="0" rIns="0" bIns="0" rtlCol="0" anchor="ctr"/>
          <a:lstStyle/>
          <a:p>
            <a:pPr indent="0" marL="0">
              <a:buNone/>
            </a:pPr>
            <a:r>
              <a:rPr lang="en-US" sz="700" dirty="0">
                <a:solidFill>
                  <a:srgbClr val="5B6472"/>
                </a:solidFill>
                <a:latin typeface="Aptos" pitchFamily="34" charset="0"/>
                <a:ea typeface="Aptos" pitchFamily="34" charset="-122"/>
                <a:cs typeface="Aptos" pitchFamily="34" charset="-120"/>
              </a:rPr>
              <a:t>Approved 10 Sep 2026 by the owner  ·  built on SIT the same day  ·  ADR-020 + ADR-021</a:t>
            </a:r>
            <a:endParaRPr lang="en-US" sz="700" dirty="0"/>
          </a:p>
        </p:txBody>
      </p:sp>
      <p:sp>
        <p:nvSpPr>
          <p:cNvPr id="15" name="Text 13"/>
          <p:cNvSpPr txBox="1"/>
          <p:nvPr/>
        </p:nvSpPr>
        <p:spPr>
          <a:xfrm>
            <a:off x="4572000" y="4754880"/>
            <a:ext cx="4114800" cy="182880"/>
          </a:xfrm>
          <a:prstGeom prst="rect">
            <a:avLst/>
          </a:prstGeom>
          <a:noFill/>
          <a:ln/>
        </p:spPr>
        <p:txBody>
          <a:bodyPr wrap="square" lIns="0" tIns="0" rIns="0" bIns="0" rtlCol="0" anchor="ctr"/>
          <a:lstStyle/>
          <a:p>
            <a:pPr algn="r" indent="0" marL="0">
              <a:buNone/>
            </a:pPr>
            <a:r>
              <a:rPr lang="en-US" sz="700" dirty="0">
                <a:solidFill>
                  <a:srgbClr val="5B6472"/>
                </a:solidFill>
                <a:latin typeface="Aptos" pitchFamily="34" charset="0"/>
                <a:ea typeface="Aptos" pitchFamily="34" charset="-122"/>
                <a:cs typeface="Aptos" pitchFamily="34" charset="-120"/>
              </a:rPr>
              <a:t>Customer entry point:  My Orders → Order → Cancel order / Request cancellation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CHANGE LOG</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What the final rules change from v4.1, and why</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02</a:t>
            </a:r>
            <a:endParaRPr lang="en-US" sz="6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371600"/>
                <a:gridCol w="1828800"/>
                <a:gridCol w="2834640"/>
                <a:gridCol w="2286000"/>
              </a:tblGrid>
              <a:tr h="429768">
                <a:tc>
                  <a:txBody>
                    <a:bodyPr/>
                    <a:lstStyle/>
                    <a:p>
                      <a:pPr indent="0" marL="0">
                        <a:buNone/>
                      </a:pPr>
                      <a:r>
                        <a:rPr lang="en-US" sz="660" b="1" dirty="0">
                          <a:solidFill>
                            <a:srgbClr val="FFFFFF"/>
                          </a:solidFill>
                          <a:latin typeface="Aptos" pitchFamily="34" charset="0"/>
                          <a:ea typeface="Aptos" pitchFamily="34" charset="-122"/>
                          <a:cs typeface="Aptos" pitchFamily="34" charset="-120"/>
                        </a:rPr>
                        <a:t>Topic</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60" b="1" dirty="0">
                          <a:solidFill>
                            <a:srgbClr val="FFFFFF"/>
                          </a:solidFill>
                          <a:latin typeface="Aptos" pitchFamily="34" charset="0"/>
                          <a:ea typeface="Aptos" pitchFamily="34" charset="-122"/>
                          <a:cs typeface="Aptos" pitchFamily="34" charset="-120"/>
                        </a:rPr>
                        <a:t>v4.1 said (10 Sep, morning)</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60" b="1" dirty="0">
                          <a:solidFill>
                            <a:srgbClr val="FFFFFF"/>
                          </a:solidFill>
                          <a:latin typeface="Aptos" pitchFamily="34" charset="0"/>
                          <a:ea typeface="Aptos" pitchFamily="34" charset="-122"/>
                          <a:cs typeface="Aptos" pitchFamily="34" charset="-120"/>
                        </a:rPr>
                        <a:t>Final (10 Sep, approved)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60" b="1" dirty="0">
                          <a:solidFill>
                            <a:srgbClr val="FFFFFF"/>
                          </a:solidFill>
                          <a:latin typeface="Aptos" pitchFamily="34" charset="0"/>
                          <a:ea typeface="Aptos" pitchFamily="34" charset="-122"/>
                          <a:cs typeface="Aptos" pitchFamily="34" charset="-120"/>
                        </a:rPr>
                        <a:t>Why</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Hold length</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60 minutes</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24 hours in production. SIT uses 7 minutes for testing.</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Wrong size, wrong address and buyer regret are caught with a full day; a day costs no wallet money because CJ is not paid yet.</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Where the hold lives</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CJ Imported tab (order CREATED, unpaid)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Same. createOrderV3 runs at once, the paying half waits the hold.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Owner wants every paid order visible in the CJ dashboard from the first minute.</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CJ Pending (paid, not started)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Open CJ dispute and refund the customer at once</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Request only. Lands in the portal "Cancellation requests" lane, ops notified, a person asks CJ or declines. No refund until CJ answers REFUND.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A refund ahead of CJ is Sals3 money at risk: if CJ rejects, the parcel ships and the customer got both the item and the refund. The portal could not even see that outcome.</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CJ Processing (packing)</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Request; refund when CJ answers</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Closed. No cancellation. Return on arrival.</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Once CJ is packing, a dispute is usually rejected or turned into a reissue; the honest message is "return it when it arrives".</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Late supply (day 7 unshipped)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Cancel now, full refund, Sals3 recovers from CJ</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Request, same rules as Pending</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Same money logic; still shown to a person before anything moves.</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Sals3-initiated cancel of a paid order</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Instant refund, dispute in the background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Dispute first, refund only on CJ REFUND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The rule "no refund ahead of CJ" has no exceptions once CJ is paid.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Safety net</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None</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If nobody decides within 12 hours, the portal asks CJ itself</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A request must never age into Processing because a person was away.</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CANCELLATION STATUS</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Default outcome by fulfilment state (final ladder)</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03</a:t>
            </a:r>
            <a:endParaRPr lang="en-US" sz="650" dirty="0"/>
          </a:p>
        </p:txBody>
      </p:sp>
      <p:sp>
        <p:nvSpPr>
          <p:cNvPr id="7" name="Shape 5"/>
          <p:cNvSpPr/>
          <p:nvPr/>
        </p:nvSpPr>
        <p:spPr>
          <a:xfrm>
            <a:off x="411480" y="1005840"/>
            <a:ext cx="2697480" cy="1600200"/>
          </a:xfrm>
          <a:prstGeom prst="roundRect">
            <a:avLst>
              <a:gd name="adj" fmla="val 3429"/>
            </a:avLst>
          </a:prstGeom>
          <a:solidFill>
            <a:srgbClr val="E3F6F0"/>
          </a:solidFill>
          <a:ln w="9525">
            <a:solidFill>
              <a:srgbClr val="0F8B6C"/>
            </a:solidFill>
            <a:prstDash val="solid"/>
          </a:ln>
        </p:spPr>
      </p:sp>
      <p:sp>
        <p:nvSpPr>
          <p:cNvPr id="8" name="Shape 6"/>
          <p:cNvSpPr/>
          <p:nvPr/>
        </p:nvSpPr>
        <p:spPr>
          <a:xfrm>
            <a:off x="576072" y="1161288"/>
            <a:ext cx="274320" cy="274320"/>
          </a:xfrm>
          <a:prstGeom prst="roundRect">
            <a:avLst>
              <a:gd name="adj" fmla="val 16667"/>
            </a:avLst>
          </a:prstGeom>
          <a:solidFill>
            <a:srgbClr val="0F8B6C"/>
          </a:solidFill>
          <a:ln w="12700">
            <a:solidFill>
              <a:srgbClr val="0F8B6C"/>
            </a:solidFill>
            <a:prstDash val="solid"/>
          </a:ln>
        </p:spPr>
      </p:sp>
      <p:sp>
        <p:nvSpPr>
          <p:cNvPr id="9" name="Text 7"/>
          <p:cNvSpPr txBox="1"/>
          <p:nvPr/>
        </p:nvSpPr>
        <p:spPr>
          <a:xfrm>
            <a:off x="576072"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01</a:t>
            </a:r>
            <a:endParaRPr lang="en-US" sz="650" dirty="0"/>
          </a:p>
        </p:txBody>
      </p:sp>
      <p:sp>
        <p:nvSpPr>
          <p:cNvPr id="10" name="Text 8"/>
          <p:cNvSpPr txBox="1"/>
          <p:nvPr/>
        </p:nvSpPr>
        <p:spPr>
          <a:xfrm>
            <a:off x="960120" y="1143000"/>
            <a:ext cx="2011680" cy="310896"/>
          </a:xfrm>
          <a:prstGeom prst="rect">
            <a:avLst/>
          </a:prstGeom>
          <a:noFill/>
          <a:ln/>
        </p:spPr>
        <p:txBody>
          <a:bodyPr wrap="square" lIns="0" tIns="0" rIns="0" bIns="0" rtlCol="0" anchor="ctr"/>
          <a:lstStyle/>
          <a:p>
            <a:pPr indent="0" marL="0">
              <a:buNone/>
            </a:pPr>
            <a:r>
              <a:rPr lang="en-US" sz="1100" b="1" dirty="0">
                <a:solidFill>
                  <a:srgbClr val="0F8B6C"/>
                </a:solidFill>
                <a:latin typeface="Aptos" pitchFamily="34" charset="0"/>
                <a:ea typeface="Aptos" pitchFamily="34" charset="-122"/>
                <a:cs typeface="Aptos" pitchFamily="34" charset="-120"/>
              </a:rPr>
              <a:t>Hold window · CJ Imported</a:t>
            </a:r>
            <a:endParaRPr lang="en-US" sz="1100" dirty="0"/>
          </a:p>
        </p:txBody>
      </p:sp>
      <p:sp>
        <p:nvSpPr>
          <p:cNvPr id="11" name="Text 9"/>
          <p:cNvSpPr txBox="1"/>
          <p:nvPr/>
        </p:nvSpPr>
        <p:spPr>
          <a:xfrm>
            <a:off x="576072" y="1508760"/>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Paid at Stripe. CJ order CREATED at once, unpaid, visible in the Imported tab. Lasts 24 hours (SIT: 7 minutes).</a:t>
            </a:r>
            <a:endParaRPr lang="en-US" sz="780" dirty="0"/>
          </a:p>
        </p:txBody>
      </p:sp>
      <p:sp>
        <p:nvSpPr>
          <p:cNvPr id="12" name="Shape 10"/>
          <p:cNvSpPr/>
          <p:nvPr/>
        </p:nvSpPr>
        <p:spPr>
          <a:xfrm>
            <a:off x="576072" y="2148840"/>
            <a:ext cx="2368296" cy="292608"/>
          </a:xfrm>
          <a:prstGeom prst="roundRect">
            <a:avLst>
              <a:gd name="adj" fmla="val 15625"/>
            </a:avLst>
          </a:prstGeom>
          <a:solidFill>
            <a:srgbClr val="FFFFFF"/>
          </a:solidFill>
          <a:ln w="9525">
            <a:solidFill>
              <a:srgbClr val="0F8B6C"/>
            </a:solidFill>
            <a:prstDash val="solid"/>
          </a:ln>
        </p:spPr>
      </p:sp>
      <p:sp>
        <p:nvSpPr>
          <p:cNvPr id="13" name="Text 11"/>
          <p:cNvSpPr txBox="1"/>
          <p:nvPr/>
        </p:nvSpPr>
        <p:spPr>
          <a:xfrm>
            <a:off x="576072" y="2148840"/>
            <a:ext cx="2368296" cy="292608"/>
          </a:xfrm>
          <a:prstGeom prst="rect">
            <a:avLst/>
          </a:prstGeom>
          <a:noFill/>
          <a:ln/>
        </p:spPr>
        <p:txBody>
          <a:bodyPr wrap="square" lIns="0" tIns="0" rIns="0" bIns="0" rtlCol="0" anchor="ctr"/>
          <a:lstStyle/>
          <a:p>
            <a:pPr algn="ctr" indent="0" marL="0">
              <a:buNone/>
            </a:pPr>
            <a:r>
              <a:rPr lang="en-US" sz="750" b="1" dirty="0">
                <a:solidFill>
                  <a:srgbClr val="0F8B6C"/>
                </a:solidFill>
                <a:latin typeface="Aptos" pitchFamily="34" charset="0"/>
                <a:ea typeface="Aptos" pitchFamily="34" charset="-122"/>
                <a:cs typeface="Aptos" pitchFamily="34" charset="-120"/>
              </a:rPr>
              <a:t>Cancel allowed · self-serve · instant refund</a:t>
            </a:r>
            <a:endParaRPr lang="en-US" sz="750" dirty="0"/>
          </a:p>
        </p:txBody>
      </p:sp>
      <p:sp>
        <p:nvSpPr>
          <p:cNvPr id="14" name="Shape 12"/>
          <p:cNvSpPr/>
          <p:nvPr/>
        </p:nvSpPr>
        <p:spPr>
          <a:xfrm>
            <a:off x="3218688" y="1005840"/>
            <a:ext cx="2697480" cy="1600200"/>
          </a:xfrm>
          <a:prstGeom prst="roundRect">
            <a:avLst>
              <a:gd name="adj" fmla="val 3429"/>
            </a:avLst>
          </a:prstGeom>
          <a:solidFill>
            <a:srgbClr val="E3F6F0"/>
          </a:solidFill>
          <a:ln w="9525">
            <a:solidFill>
              <a:srgbClr val="0F8B6C"/>
            </a:solidFill>
            <a:prstDash val="solid"/>
          </a:ln>
        </p:spPr>
      </p:sp>
      <p:sp>
        <p:nvSpPr>
          <p:cNvPr id="15" name="Shape 13"/>
          <p:cNvSpPr/>
          <p:nvPr/>
        </p:nvSpPr>
        <p:spPr>
          <a:xfrm>
            <a:off x="3383280" y="1161288"/>
            <a:ext cx="274320" cy="274320"/>
          </a:xfrm>
          <a:prstGeom prst="roundRect">
            <a:avLst>
              <a:gd name="adj" fmla="val 16667"/>
            </a:avLst>
          </a:prstGeom>
          <a:solidFill>
            <a:srgbClr val="0F8B6C"/>
          </a:solidFill>
          <a:ln w="12700">
            <a:solidFill>
              <a:srgbClr val="0F8B6C"/>
            </a:solidFill>
            <a:prstDash val="solid"/>
          </a:ln>
        </p:spPr>
      </p:sp>
      <p:sp>
        <p:nvSpPr>
          <p:cNvPr id="16" name="Text 14"/>
          <p:cNvSpPr txBox="1"/>
          <p:nvPr/>
        </p:nvSpPr>
        <p:spPr>
          <a:xfrm>
            <a:off x="3383280"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02</a:t>
            </a:r>
            <a:endParaRPr lang="en-US" sz="650" dirty="0"/>
          </a:p>
        </p:txBody>
      </p:sp>
      <p:sp>
        <p:nvSpPr>
          <p:cNvPr id="17" name="Text 15"/>
          <p:cNvSpPr txBox="1"/>
          <p:nvPr/>
        </p:nvSpPr>
        <p:spPr>
          <a:xfrm>
            <a:off x="3767328" y="1143000"/>
            <a:ext cx="2011680" cy="310896"/>
          </a:xfrm>
          <a:prstGeom prst="rect">
            <a:avLst/>
          </a:prstGeom>
          <a:noFill/>
          <a:ln/>
        </p:spPr>
        <p:txBody>
          <a:bodyPr wrap="square" lIns="0" tIns="0" rIns="0" bIns="0" rtlCol="0" anchor="ctr"/>
          <a:lstStyle/>
          <a:p>
            <a:pPr indent="0" marL="0">
              <a:buNone/>
            </a:pPr>
            <a:r>
              <a:rPr lang="en-US" sz="1100" b="1" dirty="0">
                <a:solidFill>
                  <a:srgbClr val="0F8B6C"/>
                </a:solidFill>
                <a:latin typeface="Aptos" pitchFamily="34" charset="0"/>
                <a:ea typeface="Aptos" pitchFamily="34" charset="-122"/>
                <a:cs typeface="Aptos" pitchFamily="34" charset="-120"/>
              </a:rPr>
              <a:t>CJ UNPAID (wallet short)</a:t>
            </a:r>
            <a:endParaRPr lang="en-US" sz="1100" dirty="0"/>
          </a:p>
        </p:txBody>
      </p:sp>
      <p:sp>
        <p:nvSpPr>
          <p:cNvPr id="18" name="Text 16"/>
          <p:cNvSpPr txBox="1"/>
          <p:nvPr/>
        </p:nvSpPr>
        <p:spPr>
          <a:xfrm>
            <a:off x="3383280" y="1508760"/>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Confirmed at CJ but Sals3 could not pay (AWAITING_SUPPLIER_FUNDS). No money has left Sals3.</a:t>
            </a:r>
            <a:endParaRPr lang="en-US" sz="780" dirty="0"/>
          </a:p>
        </p:txBody>
      </p:sp>
      <p:sp>
        <p:nvSpPr>
          <p:cNvPr id="19" name="Shape 17"/>
          <p:cNvSpPr/>
          <p:nvPr/>
        </p:nvSpPr>
        <p:spPr>
          <a:xfrm>
            <a:off x="3383280" y="2148840"/>
            <a:ext cx="2368296" cy="292608"/>
          </a:xfrm>
          <a:prstGeom prst="roundRect">
            <a:avLst>
              <a:gd name="adj" fmla="val 15625"/>
            </a:avLst>
          </a:prstGeom>
          <a:solidFill>
            <a:srgbClr val="FFFFFF"/>
          </a:solidFill>
          <a:ln w="9525">
            <a:solidFill>
              <a:srgbClr val="0F8B6C"/>
            </a:solidFill>
            <a:prstDash val="solid"/>
          </a:ln>
        </p:spPr>
      </p:sp>
      <p:sp>
        <p:nvSpPr>
          <p:cNvPr id="20" name="Text 18"/>
          <p:cNvSpPr txBox="1"/>
          <p:nvPr/>
        </p:nvSpPr>
        <p:spPr>
          <a:xfrm>
            <a:off x="3383280" y="2148840"/>
            <a:ext cx="2368296" cy="292608"/>
          </a:xfrm>
          <a:prstGeom prst="rect">
            <a:avLst/>
          </a:prstGeom>
          <a:noFill/>
          <a:ln/>
        </p:spPr>
        <p:txBody>
          <a:bodyPr wrap="square" lIns="0" tIns="0" rIns="0" bIns="0" rtlCol="0" anchor="ctr"/>
          <a:lstStyle/>
          <a:p>
            <a:pPr algn="ctr" indent="0" marL="0">
              <a:buNone/>
            </a:pPr>
            <a:r>
              <a:rPr lang="en-US" sz="750" b="1" dirty="0">
                <a:solidFill>
                  <a:srgbClr val="0F8B6C"/>
                </a:solidFill>
                <a:latin typeface="Aptos" pitchFamily="34" charset="0"/>
                <a:ea typeface="Aptos" pitchFamily="34" charset="-122"/>
                <a:cs typeface="Aptos" pitchFamily="34" charset="-120"/>
              </a:rPr>
              <a:t>Cancel allowed · self-serve · instant refund</a:t>
            </a:r>
            <a:endParaRPr lang="en-US" sz="750" dirty="0"/>
          </a:p>
        </p:txBody>
      </p:sp>
      <p:sp>
        <p:nvSpPr>
          <p:cNvPr id="21" name="Shape 19"/>
          <p:cNvSpPr/>
          <p:nvPr/>
        </p:nvSpPr>
        <p:spPr>
          <a:xfrm>
            <a:off x="6025896" y="1005840"/>
            <a:ext cx="2697480" cy="1600200"/>
          </a:xfrm>
          <a:prstGeom prst="roundRect">
            <a:avLst>
              <a:gd name="adj" fmla="val 3429"/>
            </a:avLst>
          </a:prstGeom>
          <a:solidFill>
            <a:srgbClr val="FFF4DF"/>
          </a:solidFill>
          <a:ln w="9525">
            <a:solidFill>
              <a:srgbClr val="B8720A"/>
            </a:solidFill>
            <a:prstDash val="solid"/>
          </a:ln>
        </p:spPr>
      </p:sp>
      <p:sp>
        <p:nvSpPr>
          <p:cNvPr id="22" name="Shape 20"/>
          <p:cNvSpPr/>
          <p:nvPr/>
        </p:nvSpPr>
        <p:spPr>
          <a:xfrm>
            <a:off x="6190488" y="1161288"/>
            <a:ext cx="274320" cy="274320"/>
          </a:xfrm>
          <a:prstGeom prst="roundRect">
            <a:avLst>
              <a:gd name="adj" fmla="val 16667"/>
            </a:avLst>
          </a:prstGeom>
          <a:solidFill>
            <a:srgbClr val="B8720A"/>
          </a:solidFill>
          <a:ln w="12700">
            <a:solidFill>
              <a:srgbClr val="B8720A"/>
            </a:solidFill>
            <a:prstDash val="solid"/>
          </a:ln>
        </p:spPr>
      </p:sp>
      <p:sp>
        <p:nvSpPr>
          <p:cNvPr id="23" name="Text 21"/>
          <p:cNvSpPr txBox="1"/>
          <p:nvPr/>
        </p:nvSpPr>
        <p:spPr>
          <a:xfrm>
            <a:off x="6190488"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03</a:t>
            </a:r>
            <a:endParaRPr lang="en-US" sz="650" dirty="0"/>
          </a:p>
        </p:txBody>
      </p:sp>
      <p:sp>
        <p:nvSpPr>
          <p:cNvPr id="24" name="Text 22"/>
          <p:cNvSpPr txBox="1"/>
          <p:nvPr/>
        </p:nvSpPr>
        <p:spPr>
          <a:xfrm>
            <a:off x="6574536" y="1143000"/>
            <a:ext cx="2011680" cy="310896"/>
          </a:xfrm>
          <a:prstGeom prst="rect">
            <a:avLst/>
          </a:prstGeom>
          <a:noFill/>
          <a:ln/>
        </p:spPr>
        <p:txBody>
          <a:bodyPr wrap="square" lIns="0" tIns="0" rIns="0" bIns="0" rtlCol="0" anchor="ctr"/>
          <a:lstStyle/>
          <a:p>
            <a:pPr indent="0" marL="0">
              <a:buNone/>
            </a:pPr>
            <a:r>
              <a:rPr lang="en-US" sz="1100" b="1" dirty="0">
                <a:solidFill>
                  <a:srgbClr val="B8720A"/>
                </a:solidFill>
                <a:latin typeface="Aptos" pitchFamily="34" charset="0"/>
                <a:ea typeface="Aptos" pitchFamily="34" charset="-122"/>
                <a:cs typeface="Aptos" pitchFamily="34" charset="-120"/>
              </a:rPr>
              <a:t>CJ paid · PENDING</a:t>
            </a:r>
            <a:endParaRPr lang="en-US" sz="1100" dirty="0"/>
          </a:p>
        </p:txBody>
      </p:sp>
      <p:sp>
        <p:nvSpPr>
          <p:cNvPr id="25" name="Text 23"/>
          <p:cNvSpPr txBox="1"/>
          <p:nvPr/>
        </p:nvSpPr>
        <p:spPr>
          <a:xfrm>
            <a:off x="6190488" y="1508760"/>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Hold over, Sals3 paid CJ, warehouse has not started. Customer may ask. Request waits for Sals3, then a CJ dispute decides.</a:t>
            </a:r>
            <a:endParaRPr lang="en-US" sz="780" dirty="0"/>
          </a:p>
        </p:txBody>
      </p:sp>
      <p:sp>
        <p:nvSpPr>
          <p:cNvPr id="26" name="Shape 24"/>
          <p:cNvSpPr/>
          <p:nvPr/>
        </p:nvSpPr>
        <p:spPr>
          <a:xfrm>
            <a:off x="6190488" y="2148840"/>
            <a:ext cx="2368296" cy="292608"/>
          </a:xfrm>
          <a:prstGeom prst="roundRect">
            <a:avLst>
              <a:gd name="adj" fmla="val 15625"/>
            </a:avLst>
          </a:prstGeom>
          <a:solidFill>
            <a:srgbClr val="FFFFFF"/>
          </a:solidFill>
          <a:ln w="9525">
            <a:solidFill>
              <a:srgbClr val="B8720A"/>
            </a:solidFill>
            <a:prstDash val="solid"/>
          </a:ln>
        </p:spPr>
      </p:sp>
      <p:sp>
        <p:nvSpPr>
          <p:cNvPr id="27" name="Text 25"/>
          <p:cNvSpPr txBox="1"/>
          <p:nvPr/>
        </p:nvSpPr>
        <p:spPr>
          <a:xfrm>
            <a:off x="6190488" y="2148840"/>
            <a:ext cx="2368296" cy="292608"/>
          </a:xfrm>
          <a:prstGeom prst="rect">
            <a:avLst/>
          </a:prstGeom>
          <a:noFill/>
          <a:ln/>
        </p:spPr>
        <p:txBody>
          <a:bodyPr wrap="square" lIns="0" tIns="0" rIns="0" bIns="0" rtlCol="0" anchor="ctr"/>
          <a:lstStyle/>
          <a:p>
            <a:pPr algn="ctr" indent="0" marL="0">
              <a:buNone/>
            </a:pPr>
            <a:r>
              <a:rPr lang="en-US" sz="750" b="1" dirty="0">
                <a:solidFill>
                  <a:srgbClr val="B8720A"/>
                </a:solidFill>
                <a:latin typeface="Aptos" pitchFamily="34" charset="0"/>
                <a:ea typeface="Aptos" pitchFamily="34" charset="-122"/>
                <a:cs typeface="Aptos" pitchFamily="34" charset="-120"/>
              </a:rPr>
              <a:t>Request only · refund on CJ REFUND</a:t>
            </a:r>
            <a:endParaRPr lang="en-US" sz="750" dirty="0"/>
          </a:p>
        </p:txBody>
      </p:sp>
      <p:sp>
        <p:nvSpPr>
          <p:cNvPr id="28" name="Shape 26"/>
          <p:cNvSpPr/>
          <p:nvPr/>
        </p:nvSpPr>
        <p:spPr>
          <a:xfrm>
            <a:off x="411480" y="2715768"/>
            <a:ext cx="2697480" cy="1600200"/>
          </a:xfrm>
          <a:prstGeom prst="roundRect">
            <a:avLst>
              <a:gd name="adj" fmla="val 3429"/>
            </a:avLst>
          </a:prstGeom>
          <a:solidFill>
            <a:srgbClr val="FDECEF"/>
          </a:solidFill>
          <a:ln w="9525">
            <a:solidFill>
              <a:srgbClr val="C8283C"/>
            </a:solidFill>
            <a:prstDash val="solid"/>
          </a:ln>
        </p:spPr>
      </p:sp>
      <p:sp>
        <p:nvSpPr>
          <p:cNvPr id="29" name="Shape 27"/>
          <p:cNvSpPr/>
          <p:nvPr/>
        </p:nvSpPr>
        <p:spPr>
          <a:xfrm>
            <a:off x="576072" y="2871216"/>
            <a:ext cx="274320" cy="274320"/>
          </a:xfrm>
          <a:prstGeom prst="roundRect">
            <a:avLst>
              <a:gd name="adj" fmla="val 16667"/>
            </a:avLst>
          </a:prstGeom>
          <a:solidFill>
            <a:srgbClr val="C8283C"/>
          </a:solidFill>
          <a:ln w="12700">
            <a:solidFill>
              <a:srgbClr val="C8283C"/>
            </a:solidFill>
            <a:prstDash val="solid"/>
          </a:ln>
        </p:spPr>
      </p:sp>
      <p:sp>
        <p:nvSpPr>
          <p:cNvPr id="30" name="Text 28"/>
          <p:cNvSpPr txBox="1"/>
          <p:nvPr/>
        </p:nvSpPr>
        <p:spPr>
          <a:xfrm>
            <a:off x="576072" y="2871216"/>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04</a:t>
            </a:r>
            <a:endParaRPr lang="en-US" sz="650" dirty="0"/>
          </a:p>
        </p:txBody>
      </p:sp>
      <p:sp>
        <p:nvSpPr>
          <p:cNvPr id="31" name="Text 29"/>
          <p:cNvSpPr txBox="1"/>
          <p:nvPr/>
        </p:nvSpPr>
        <p:spPr>
          <a:xfrm>
            <a:off x="960120" y="2852928"/>
            <a:ext cx="2011680" cy="310896"/>
          </a:xfrm>
          <a:prstGeom prst="rect">
            <a:avLst/>
          </a:prstGeom>
          <a:noFill/>
          <a:ln/>
        </p:spPr>
        <p:txBody>
          <a:bodyPr wrap="square" lIns="0" tIns="0" rIns="0" bIns="0" rtlCol="0" anchor="ctr"/>
          <a:lstStyle/>
          <a:p>
            <a:pPr indent="0" marL="0">
              <a:buNone/>
            </a:pPr>
            <a:r>
              <a:rPr lang="en-US" sz="1100" b="1" dirty="0">
                <a:solidFill>
                  <a:srgbClr val="C8283C"/>
                </a:solidFill>
                <a:latin typeface="Aptos" pitchFamily="34" charset="0"/>
                <a:ea typeface="Aptos" pitchFamily="34" charset="-122"/>
                <a:cs typeface="Aptos" pitchFamily="34" charset="-120"/>
              </a:rPr>
              <a:t>CJ paid · PROCESSING</a:t>
            </a:r>
            <a:endParaRPr lang="en-US" sz="1100" dirty="0"/>
          </a:p>
        </p:txBody>
      </p:sp>
      <p:sp>
        <p:nvSpPr>
          <p:cNvPr id="32" name="Text 30"/>
          <p:cNvSpPr txBox="1"/>
          <p:nvPr/>
        </p:nvSpPr>
        <p:spPr>
          <a:xfrm>
            <a:off x="576072" y="3218688"/>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Warehouse is packing or tracking is being generated. Nothing can stop it reliably.</a:t>
            </a:r>
            <a:endParaRPr lang="en-US" sz="780" dirty="0"/>
          </a:p>
        </p:txBody>
      </p:sp>
      <p:sp>
        <p:nvSpPr>
          <p:cNvPr id="33" name="Shape 31"/>
          <p:cNvSpPr/>
          <p:nvPr/>
        </p:nvSpPr>
        <p:spPr>
          <a:xfrm>
            <a:off x="576072" y="3858768"/>
            <a:ext cx="2368296" cy="292608"/>
          </a:xfrm>
          <a:prstGeom prst="roundRect">
            <a:avLst>
              <a:gd name="adj" fmla="val 15625"/>
            </a:avLst>
          </a:prstGeom>
          <a:solidFill>
            <a:srgbClr val="FFFFFF"/>
          </a:solidFill>
          <a:ln w="9525">
            <a:solidFill>
              <a:srgbClr val="C8283C"/>
            </a:solidFill>
            <a:prstDash val="solid"/>
          </a:ln>
        </p:spPr>
      </p:sp>
      <p:sp>
        <p:nvSpPr>
          <p:cNvPr id="34" name="Text 32"/>
          <p:cNvSpPr txBox="1"/>
          <p:nvPr/>
        </p:nvSpPr>
        <p:spPr>
          <a:xfrm>
            <a:off x="576072" y="3858768"/>
            <a:ext cx="2368296" cy="292608"/>
          </a:xfrm>
          <a:prstGeom prst="rect">
            <a:avLst/>
          </a:prstGeom>
          <a:noFill/>
          <a:ln/>
        </p:spPr>
        <p:txBody>
          <a:bodyPr wrap="square" lIns="0" tIns="0" rIns="0" bIns="0" rtlCol="0" anchor="ctr"/>
          <a:lstStyle/>
          <a:p>
            <a:pPr algn="ctr" indent="0" marL="0">
              <a:buNone/>
            </a:pPr>
            <a:r>
              <a:rPr lang="en-US" sz="750" b="1" dirty="0">
                <a:solidFill>
                  <a:srgbClr val="C8283C"/>
                </a:solidFill>
                <a:latin typeface="Aptos" pitchFamily="34" charset="0"/>
                <a:ea typeface="Aptos" pitchFamily="34" charset="-122"/>
                <a:cs typeface="Aptos" pitchFamily="34" charset="-120"/>
              </a:rPr>
              <a:t>Closed · return on arrival</a:t>
            </a:r>
            <a:endParaRPr lang="en-US" sz="750" dirty="0"/>
          </a:p>
        </p:txBody>
      </p:sp>
      <p:sp>
        <p:nvSpPr>
          <p:cNvPr id="35" name="Shape 33"/>
          <p:cNvSpPr/>
          <p:nvPr/>
        </p:nvSpPr>
        <p:spPr>
          <a:xfrm>
            <a:off x="3218688" y="2715768"/>
            <a:ext cx="2697480" cy="1600200"/>
          </a:xfrm>
          <a:prstGeom prst="roundRect">
            <a:avLst>
              <a:gd name="adj" fmla="val 3429"/>
            </a:avLst>
          </a:prstGeom>
          <a:solidFill>
            <a:srgbClr val="FDECEF"/>
          </a:solidFill>
          <a:ln w="9525">
            <a:solidFill>
              <a:srgbClr val="C8283C"/>
            </a:solidFill>
            <a:prstDash val="solid"/>
          </a:ln>
        </p:spPr>
      </p:sp>
      <p:sp>
        <p:nvSpPr>
          <p:cNvPr id="36" name="Shape 34"/>
          <p:cNvSpPr/>
          <p:nvPr/>
        </p:nvSpPr>
        <p:spPr>
          <a:xfrm>
            <a:off x="3383280" y="2871216"/>
            <a:ext cx="274320" cy="274320"/>
          </a:xfrm>
          <a:prstGeom prst="roundRect">
            <a:avLst>
              <a:gd name="adj" fmla="val 16667"/>
            </a:avLst>
          </a:prstGeom>
          <a:solidFill>
            <a:srgbClr val="C8283C"/>
          </a:solidFill>
          <a:ln w="12700">
            <a:solidFill>
              <a:srgbClr val="C8283C"/>
            </a:solidFill>
            <a:prstDash val="solid"/>
          </a:ln>
        </p:spPr>
      </p:sp>
      <p:sp>
        <p:nvSpPr>
          <p:cNvPr id="37" name="Text 35"/>
          <p:cNvSpPr txBox="1"/>
          <p:nvPr/>
        </p:nvSpPr>
        <p:spPr>
          <a:xfrm>
            <a:off x="3383280" y="2871216"/>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05</a:t>
            </a:r>
            <a:endParaRPr lang="en-US" sz="650" dirty="0"/>
          </a:p>
        </p:txBody>
      </p:sp>
      <p:sp>
        <p:nvSpPr>
          <p:cNvPr id="38" name="Text 36"/>
          <p:cNvSpPr txBox="1"/>
          <p:nvPr/>
        </p:nvSpPr>
        <p:spPr>
          <a:xfrm>
            <a:off x="3767328" y="2852928"/>
            <a:ext cx="2011680" cy="310896"/>
          </a:xfrm>
          <a:prstGeom prst="rect">
            <a:avLst/>
          </a:prstGeom>
          <a:noFill/>
          <a:ln/>
        </p:spPr>
        <p:txBody>
          <a:bodyPr wrap="square" lIns="0" tIns="0" rIns="0" bIns="0" rtlCol="0" anchor="ctr"/>
          <a:lstStyle/>
          <a:p>
            <a:pPr indent="0" marL="0">
              <a:buNone/>
            </a:pPr>
            <a:r>
              <a:rPr lang="en-US" sz="1100" b="1" dirty="0">
                <a:solidFill>
                  <a:srgbClr val="C8283C"/>
                </a:solidFill>
                <a:latin typeface="Aptos" pitchFamily="34" charset="0"/>
                <a:ea typeface="Aptos" pitchFamily="34" charset="-122"/>
                <a:cs typeface="Aptos" pitchFamily="34" charset="-120"/>
              </a:rPr>
              <a:t>SHIPPED / IN TRANSIT</a:t>
            </a:r>
            <a:endParaRPr lang="en-US" sz="1100" dirty="0"/>
          </a:p>
        </p:txBody>
      </p:sp>
      <p:sp>
        <p:nvSpPr>
          <p:cNvPr id="39" name="Text 37"/>
          <p:cNvSpPr txBox="1"/>
          <p:nvPr/>
        </p:nvSpPr>
        <p:spPr>
          <a:xfrm>
            <a:off x="3383280" y="3218688"/>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Parcel has left the warehouse.</a:t>
            </a:r>
            <a:endParaRPr lang="en-US" sz="780" dirty="0"/>
          </a:p>
        </p:txBody>
      </p:sp>
      <p:sp>
        <p:nvSpPr>
          <p:cNvPr id="40" name="Shape 38"/>
          <p:cNvSpPr/>
          <p:nvPr/>
        </p:nvSpPr>
        <p:spPr>
          <a:xfrm>
            <a:off x="3383280" y="3858768"/>
            <a:ext cx="2368296" cy="292608"/>
          </a:xfrm>
          <a:prstGeom prst="roundRect">
            <a:avLst>
              <a:gd name="adj" fmla="val 15625"/>
            </a:avLst>
          </a:prstGeom>
          <a:solidFill>
            <a:srgbClr val="FFFFFF"/>
          </a:solidFill>
          <a:ln w="9525">
            <a:solidFill>
              <a:srgbClr val="C8283C"/>
            </a:solidFill>
            <a:prstDash val="solid"/>
          </a:ln>
        </p:spPr>
      </p:sp>
      <p:sp>
        <p:nvSpPr>
          <p:cNvPr id="41" name="Text 39"/>
          <p:cNvSpPr txBox="1"/>
          <p:nvPr/>
        </p:nvSpPr>
        <p:spPr>
          <a:xfrm>
            <a:off x="3383280" y="3858768"/>
            <a:ext cx="2368296" cy="292608"/>
          </a:xfrm>
          <a:prstGeom prst="rect">
            <a:avLst/>
          </a:prstGeom>
          <a:noFill/>
          <a:ln/>
        </p:spPr>
        <p:txBody>
          <a:bodyPr wrap="square" lIns="0" tIns="0" rIns="0" bIns="0" rtlCol="0" anchor="ctr"/>
          <a:lstStyle/>
          <a:p>
            <a:pPr algn="ctr" indent="0" marL="0">
              <a:buNone/>
            </a:pPr>
            <a:r>
              <a:rPr lang="en-US" sz="750" b="1" dirty="0">
                <a:solidFill>
                  <a:srgbClr val="C8283C"/>
                </a:solidFill>
                <a:latin typeface="Aptos" pitchFamily="34" charset="0"/>
                <a:ea typeface="Aptos" pitchFamily="34" charset="-122"/>
                <a:cs typeface="Aptos" pitchFamily="34" charset="-120"/>
              </a:rPr>
              <a:t>Closed · return on arrival</a:t>
            </a:r>
            <a:endParaRPr lang="en-US" sz="750" dirty="0"/>
          </a:p>
        </p:txBody>
      </p:sp>
      <p:sp>
        <p:nvSpPr>
          <p:cNvPr id="42" name="Shape 40"/>
          <p:cNvSpPr/>
          <p:nvPr/>
        </p:nvSpPr>
        <p:spPr>
          <a:xfrm>
            <a:off x="6025896" y="2715768"/>
            <a:ext cx="2697480" cy="1600200"/>
          </a:xfrm>
          <a:prstGeom prst="roundRect">
            <a:avLst>
              <a:gd name="adj" fmla="val 3429"/>
            </a:avLst>
          </a:prstGeom>
          <a:solidFill>
            <a:srgbClr val="FDECEF"/>
          </a:solidFill>
          <a:ln w="9525">
            <a:solidFill>
              <a:srgbClr val="C8283C"/>
            </a:solidFill>
            <a:prstDash val="solid"/>
          </a:ln>
        </p:spPr>
      </p:sp>
      <p:sp>
        <p:nvSpPr>
          <p:cNvPr id="43" name="Shape 41"/>
          <p:cNvSpPr/>
          <p:nvPr/>
        </p:nvSpPr>
        <p:spPr>
          <a:xfrm>
            <a:off x="6190488" y="2871216"/>
            <a:ext cx="274320" cy="274320"/>
          </a:xfrm>
          <a:prstGeom prst="roundRect">
            <a:avLst>
              <a:gd name="adj" fmla="val 16667"/>
            </a:avLst>
          </a:prstGeom>
          <a:solidFill>
            <a:srgbClr val="C8283C"/>
          </a:solidFill>
          <a:ln w="12700">
            <a:solidFill>
              <a:srgbClr val="C8283C"/>
            </a:solidFill>
            <a:prstDash val="solid"/>
          </a:ln>
        </p:spPr>
      </p:sp>
      <p:sp>
        <p:nvSpPr>
          <p:cNvPr id="44" name="Text 42"/>
          <p:cNvSpPr txBox="1"/>
          <p:nvPr/>
        </p:nvSpPr>
        <p:spPr>
          <a:xfrm>
            <a:off x="6190488" y="2871216"/>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06</a:t>
            </a:r>
            <a:endParaRPr lang="en-US" sz="650" dirty="0"/>
          </a:p>
        </p:txBody>
      </p:sp>
      <p:sp>
        <p:nvSpPr>
          <p:cNvPr id="45" name="Text 43"/>
          <p:cNvSpPr txBox="1"/>
          <p:nvPr/>
        </p:nvSpPr>
        <p:spPr>
          <a:xfrm>
            <a:off x="6574536" y="2852928"/>
            <a:ext cx="2011680" cy="310896"/>
          </a:xfrm>
          <a:prstGeom prst="rect">
            <a:avLst/>
          </a:prstGeom>
          <a:noFill/>
          <a:ln/>
        </p:spPr>
        <p:txBody>
          <a:bodyPr wrap="square" lIns="0" tIns="0" rIns="0" bIns="0" rtlCol="0" anchor="ctr"/>
          <a:lstStyle/>
          <a:p>
            <a:pPr indent="0" marL="0">
              <a:buNone/>
            </a:pPr>
            <a:r>
              <a:rPr lang="en-US" sz="1100" b="1" dirty="0">
                <a:solidFill>
                  <a:srgbClr val="C8283C"/>
                </a:solidFill>
                <a:latin typeface="Aptos" pitchFamily="34" charset="0"/>
                <a:ea typeface="Aptos" pitchFamily="34" charset="-122"/>
                <a:cs typeface="Aptos" pitchFamily="34" charset="-120"/>
              </a:rPr>
              <a:t>DELIVERED</a:t>
            </a:r>
            <a:endParaRPr lang="en-US" sz="1100" dirty="0"/>
          </a:p>
        </p:txBody>
      </p:sp>
      <p:sp>
        <p:nvSpPr>
          <p:cNvPr id="46" name="Text 44"/>
          <p:cNvSpPr txBox="1"/>
          <p:nvPr/>
        </p:nvSpPr>
        <p:spPr>
          <a:xfrm>
            <a:off x="6190488" y="3218688"/>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Delivery recorded.</a:t>
            </a:r>
            <a:endParaRPr lang="en-US" sz="780" dirty="0"/>
          </a:p>
        </p:txBody>
      </p:sp>
      <p:sp>
        <p:nvSpPr>
          <p:cNvPr id="47" name="Shape 45"/>
          <p:cNvSpPr/>
          <p:nvPr/>
        </p:nvSpPr>
        <p:spPr>
          <a:xfrm>
            <a:off x="6190488" y="3858768"/>
            <a:ext cx="2368296" cy="292608"/>
          </a:xfrm>
          <a:prstGeom prst="roundRect">
            <a:avLst>
              <a:gd name="adj" fmla="val 15625"/>
            </a:avLst>
          </a:prstGeom>
          <a:solidFill>
            <a:srgbClr val="FFFFFF"/>
          </a:solidFill>
          <a:ln w="9525">
            <a:solidFill>
              <a:srgbClr val="C8283C"/>
            </a:solidFill>
            <a:prstDash val="solid"/>
          </a:ln>
        </p:spPr>
      </p:sp>
      <p:sp>
        <p:nvSpPr>
          <p:cNvPr id="48" name="Text 46"/>
          <p:cNvSpPr txBox="1"/>
          <p:nvPr/>
        </p:nvSpPr>
        <p:spPr>
          <a:xfrm>
            <a:off x="6190488" y="3858768"/>
            <a:ext cx="2368296" cy="292608"/>
          </a:xfrm>
          <a:prstGeom prst="rect">
            <a:avLst/>
          </a:prstGeom>
          <a:noFill/>
          <a:ln/>
        </p:spPr>
        <p:txBody>
          <a:bodyPr wrap="square" lIns="0" tIns="0" rIns="0" bIns="0" rtlCol="0" anchor="ctr"/>
          <a:lstStyle/>
          <a:p>
            <a:pPr algn="ctr" indent="0" marL="0">
              <a:buNone/>
            </a:pPr>
            <a:r>
              <a:rPr lang="en-US" sz="750" b="1" dirty="0">
                <a:solidFill>
                  <a:srgbClr val="C8283C"/>
                </a:solidFill>
                <a:latin typeface="Aptos" pitchFamily="34" charset="0"/>
                <a:ea typeface="Aptos" pitchFamily="34" charset="-122"/>
                <a:cs typeface="Aptos" pitchFamily="34" charset="-120"/>
              </a:rPr>
              <a:t>Closed · Item Problem SOP</a:t>
            </a:r>
            <a:endParaRPr lang="en-US" sz="750" dirty="0"/>
          </a:p>
        </p:txBody>
      </p:sp>
      <p:sp>
        <p:nvSpPr>
          <p:cNvPr id="49" name="Shape 47"/>
          <p:cNvSpPr/>
          <p:nvPr/>
        </p:nvSpPr>
        <p:spPr>
          <a:xfrm>
            <a:off x="411480" y="4434840"/>
            <a:ext cx="8321040" cy="329184"/>
          </a:xfrm>
          <a:prstGeom prst="roundRect">
            <a:avLst>
              <a:gd name="adj" fmla="val 16667"/>
            </a:avLst>
          </a:prstGeom>
          <a:solidFill>
            <a:srgbClr val="E3F6F0"/>
          </a:solidFill>
          <a:ln w="9525">
            <a:solidFill>
              <a:srgbClr val="0F8B6C"/>
            </a:solidFill>
            <a:prstDash val="solid"/>
          </a:ln>
        </p:spPr>
      </p:sp>
      <p:sp>
        <p:nvSpPr>
          <p:cNvPr id="50" name="Text 48"/>
          <p:cNvSpPr txBox="1"/>
          <p:nvPr/>
        </p:nvSpPr>
        <p:spPr>
          <a:xfrm>
            <a:off x="640080" y="443484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ONE RULE</a:t>
            </a:r>
            <a:endParaRPr lang="en-US" sz="650" dirty="0"/>
          </a:p>
        </p:txBody>
      </p:sp>
      <p:sp>
        <p:nvSpPr>
          <p:cNvPr id="51" name="Text 49"/>
          <p:cNvSpPr txBox="1"/>
          <p:nvPr/>
        </p:nvSpPr>
        <p:spPr>
          <a:xfrm>
            <a:off x="1600200" y="443484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Refund on the spot only while CJ has not been paid. Once CJ is paid, nobody is refunded before CJ refunds Sals3.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THE HOLD</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24 hours in CJ Imported before Sals3 pays CJ</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04</a:t>
            </a:r>
            <a:endParaRPr lang="en-US" sz="650" dirty="0"/>
          </a:p>
        </p:txBody>
      </p:sp>
      <p:sp>
        <p:nvSpPr>
          <p:cNvPr id="7" name="Shape 5"/>
          <p:cNvSpPr/>
          <p:nvPr/>
        </p:nvSpPr>
        <p:spPr>
          <a:xfrm>
            <a:off x="411480" y="1051560"/>
            <a:ext cx="4023360" cy="2331720"/>
          </a:xfrm>
          <a:prstGeom prst="roundRect">
            <a:avLst>
              <a:gd name="adj" fmla="val 2353"/>
            </a:avLst>
          </a:prstGeom>
          <a:solidFill>
            <a:srgbClr val="FFFFFF"/>
          </a:solidFill>
          <a:ln w="9525">
            <a:solidFill>
              <a:srgbClr val="D7DCE2"/>
            </a:solidFill>
            <a:prstDash val="solid"/>
          </a:ln>
        </p:spPr>
      </p:sp>
      <p:sp>
        <p:nvSpPr>
          <p:cNvPr id="8" name="Text 6"/>
          <p:cNvSpPr txBox="1"/>
          <p:nvPr/>
        </p:nvSpPr>
        <p:spPr>
          <a:xfrm>
            <a:off x="594360" y="11430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How it works (built)</a:t>
            </a:r>
            <a:endParaRPr lang="en-US" sz="1100" dirty="0"/>
          </a:p>
        </p:txBody>
      </p:sp>
      <p:sp>
        <p:nvSpPr>
          <p:cNvPr id="9" name="Text 7"/>
          <p:cNvSpPr txBox="1"/>
          <p:nvPr/>
        </p:nvSpPr>
        <p:spPr>
          <a:xfrm>
            <a:off x="594360" y="1463040"/>
            <a:ext cx="3657600" cy="182880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Payment captured → order accepted → worker runs createOrderV3 at once. The order is CREATED in CJ Imported within seconds.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The paying half (confirm → parent order → payBalance) is queued with a delay of SALS3_CANCELLATION_HOLD_MINUTES (default 1440 = 24 h; SIT 7).</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Order page: "You can cancel this order for a full refund until &lt;date, time&gt; UTC." One click, no approval.</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Cancel during the hold: CJ deleteOrder (order moves to Trash), Stripe full refund, order CANCELLED. Cost to Sals3: the Stripe fee.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Hold ends: the worker re-reads the order; if cancelled it skips paying. Proven on SIT 10 Sep (order 55EF751D1F stayed unpaid).</a:t>
            </a:r>
            <a:endParaRPr lang="en-US" sz="800" dirty="0"/>
          </a:p>
        </p:txBody>
      </p:sp>
      <p:sp>
        <p:nvSpPr>
          <p:cNvPr id="10" name="Shape 8"/>
          <p:cNvSpPr/>
          <p:nvPr/>
        </p:nvSpPr>
        <p:spPr>
          <a:xfrm>
            <a:off x="4663440" y="1051560"/>
            <a:ext cx="4069080" cy="2331720"/>
          </a:xfrm>
          <a:prstGeom prst="roundRect">
            <a:avLst>
              <a:gd name="adj" fmla="val 2353"/>
            </a:avLst>
          </a:prstGeom>
          <a:solidFill>
            <a:srgbClr val="FFFFFF"/>
          </a:solidFill>
          <a:ln w="9525">
            <a:solidFill>
              <a:srgbClr val="D7DCE2"/>
            </a:solidFill>
            <a:prstDash val="solid"/>
          </a:ln>
        </p:spPr>
      </p:sp>
      <p:sp>
        <p:nvSpPr>
          <p:cNvPr id="11" name="Text 9"/>
          <p:cNvSpPr txBox="1"/>
          <p:nvPr/>
        </p:nvSpPr>
        <p:spPr>
          <a:xfrm>
            <a:off x="4846320" y="1143000"/>
            <a:ext cx="370332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Why 24 hours</a:t>
            </a:r>
            <a:endParaRPr lang="en-US" sz="1100" dirty="0"/>
          </a:p>
        </p:txBody>
      </p:sp>
      <p:sp>
        <p:nvSpPr>
          <p:cNvPr id="12" name="Text 10"/>
          <p:cNvSpPr txBox="1"/>
          <p:nvPr/>
        </p:nvSpPr>
        <p:spPr>
          <a:xfrm>
            <a:off x="4846320" y="1463040"/>
            <a:ext cx="3703320" cy="182880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Catches the common mistakes with a full day of slack, including overnight orders.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No wallet exposure: CJ is not paid until the hold ends.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Cost: every order ships about a day later. CJ generates tracking 24–48 h after payment, so the customer sees tracking 2–3 days after ordering.</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Configurable per deployment without a code change; SIT is 7 minutes so testers reach the paying half.</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Exceptions: none. Every order gets the same hold.</a:t>
            </a:r>
            <a:endParaRPr lang="en-US" sz="800" dirty="0"/>
          </a:p>
        </p:txBody>
      </p:sp>
      <p:sp>
        <p:nvSpPr>
          <p:cNvPr id="13" name="Shape 11"/>
          <p:cNvSpPr/>
          <p:nvPr/>
        </p:nvSpPr>
        <p:spPr>
          <a:xfrm>
            <a:off x="411480" y="3520440"/>
            <a:ext cx="8321040" cy="329184"/>
          </a:xfrm>
          <a:prstGeom prst="roundRect">
            <a:avLst>
              <a:gd name="adj" fmla="val 16667"/>
            </a:avLst>
          </a:prstGeom>
          <a:solidFill>
            <a:srgbClr val="E3F6F0"/>
          </a:solidFill>
          <a:ln w="9525">
            <a:solidFill>
              <a:srgbClr val="0F8B6C"/>
            </a:solidFill>
            <a:prstDash val="solid"/>
          </a:ln>
        </p:spPr>
      </p:sp>
      <p:sp>
        <p:nvSpPr>
          <p:cNvPr id="14" name="Text 12"/>
          <p:cNvSpPr txBox="1"/>
          <p:nvPr/>
        </p:nvSpPr>
        <p:spPr>
          <a:xfrm>
            <a:off x="640080" y="352044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CUSTOMER FIRST</a:t>
            </a:r>
            <a:endParaRPr lang="en-US" sz="650" dirty="0"/>
          </a:p>
        </p:txBody>
      </p:sp>
      <p:sp>
        <p:nvSpPr>
          <p:cNvPr id="15" name="Text 13"/>
          <p:cNvSpPr txBox="1"/>
          <p:nvPr/>
        </p:nvSpPr>
        <p:spPr>
          <a:xfrm>
            <a:off x="1600200" y="352044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If Sals3 has not paid the warehouse, cancellation is a right, not a request. No reason required beyond a one-tap list.</a:t>
            </a:r>
            <a:endParaRPr lang="en-US" sz="850" dirty="0"/>
          </a:p>
        </p:txBody>
      </p:sp>
      <p:sp>
        <p:nvSpPr>
          <p:cNvPr id="16" name="Shape 14"/>
          <p:cNvSpPr/>
          <p:nvPr/>
        </p:nvSpPr>
        <p:spPr>
          <a:xfrm>
            <a:off x="411480" y="3931920"/>
            <a:ext cx="8321040" cy="329184"/>
          </a:xfrm>
          <a:prstGeom prst="roundRect">
            <a:avLst>
              <a:gd name="adj" fmla="val 16667"/>
            </a:avLst>
          </a:prstGeom>
          <a:solidFill>
            <a:srgbClr val="E6F0F8"/>
          </a:solidFill>
          <a:ln w="9525">
            <a:solidFill>
              <a:srgbClr val="0A5C8A"/>
            </a:solidFill>
            <a:prstDash val="solid"/>
          </a:ln>
        </p:spPr>
      </p:sp>
      <p:sp>
        <p:nvSpPr>
          <p:cNvPr id="17" name="Text 15"/>
          <p:cNvSpPr txBox="1"/>
          <p:nvPr/>
        </p:nvSpPr>
        <p:spPr>
          <a:xfrm>
            <a:off x="640080" y="3931920"/>
            <a:ext cx="1005840" cy="329184"/>
          </a:xfrm>
          <a:prstGeom prst="rect">
            <a:avLst/>
          </a:prstGeom>
          <a:noFill/>
          <a:ln/>
        </p:spPr>
        <p:txBody>
          <a:bodyPr wrap="square" lIns="0" tIns="0" rIns="0" bIns="0" rtlCol="0" anchor="ctr"/>
          <a:lstStyle/>
          <a:p>
            <a:pPr indent="0" marL="0">
              <a:buNone/>
            </a:pPr>
            <a:r>
              <a:rPr lang="en-US" sz="650" b="1" dirty="0">
                <a:solidFill>
                  <a:srgbClr val="0A5C8A"/>
                </a:solidFill>
                <a:latin typeface="Aptos" pitchFamily="34" charset="0"/>
                <a:ea typeface="Aptos" pitchFamily="34" charset="-122"/>
                <a:cs typeface="Aptos" pitchFamily="34" charset="-120"/>
              </a:rPr>
              <a:t>ENGINEERING</a:t>
            </a:r>
            <a:endParaRPr lang="en-US" sz="650" dirty="0"/>
          </a:p>
        </p:txBody>
      </p:sp>
      <p:sp>
        <p:nvSpPr>
          <p:cNvPr id="18" name="Text 16"/>
          <p:cNvSpPr txBox="1"/>
          <p:nvPr/>
        </p:nvSpPr>
        <p:spPr>
          <a:xfrm>
            <a:off x="1600200" y="3931920"/>
            <a:ext cx="6949440" cy="329184"/>
          </a:xfrm>
          <a:prstGeom prst="rect">
            <a:avLst/>
          </a:prstGeom>
          <a:noFill/>
          <a:ln/>
        </p:spPr>
        <p:txBody>
          <a:bodyPr wrap="square" lIns="0" tIns="0" rIns="0" bIns="0" rtlCol="0" anchor="ctr"/>
          <a:lstStyle/>
          <a:p>
            <a:pPr indent="0" marL="0">
              <a:buNone/>
            </a:pPr>
            <a:r>
              <a:rPr lang="en-US" sz="850" b="1" dirty="0">
                <a:solidFill>
                  <a:srgbClr val="0A5C8A"/>
                </a:solidFill>
                <a:latin typeface="Aptos" pitchFamily="34" charset="0"/>
                <a:ea typeface="Aptos" pitchFamily="34" charset="-122"/>
                <a:cs typeface="Aptos" pitchFamily="34" charset="-120"/>
              </a:rPr>
              <a:t>FULFILL_ORDER carries a phase: CREATE now, COMPLETE after the hold. The worker re-reads parcel state before each CJ call.</a:t>
            </a:r>
            <a:endParaRPr lang="en-US" sz="850" dirty="0"/>
          </a:p>
        </p:txBody>
      </p:sp>
      <p:sp>
        <p:nvSpPr>
          <p:cNvPr id="19" name="Shape 17"/>
          <p:cNvSpPr/>
          <p:nvPr/>
        </p:nvSpPr>
        <p:spPr>
          <a:xfrm>
            <a:off x="411480" y="4343400"/>
            <a:ext cx="8321040" cy="329184"/>
          </a:xfrm>
          <a:prstGeom prst="roundRect">
            <a:avLst>
              <a:gd name="adj" fmla="val 16667"/>
            </a:avLst>
          </a:prstGeom>
          <a:solidFill>
            <a:srgbClr val="FFF4DF"/>
          </a:solidFill>
          <a:ln w="9525">
            <a:solidFill>
              <a:srgbClr val="B8720A"/>
            </a:solidFill>
            <a:prstDash val="solid"/>
          </a:ln>
        </p:spPr>
      </p:sp>
      <p:sp>
        <p:nvSpPr>
          <p:cNvPr id="20" name="Text 18"/>
          <p:cNvSpPr txBox="1"/>
          <p:nvPr/>
        </p:nvSpPr>
        <p:spPr>
          <a:xfrm>
            <a:off x="640080" y="4343400"/>
            <a:ext cx="1005840" cy="329184"/>
          </a:xfrm>
          <a:prstGeom prst="rect">
            <a:avLst/>
          </a:prstGeom>
          <a:noFill/>
          <a:ln/>
        </p:spPr>
        <p:txBody>
          <a:bodyPr wrap="square" lIns="0" tIns="0" rIns="0" bIns="0" rtlCol="0" anchor="ctr"/>
          <a:lstStyle/>
          <a:p>
            <a:pPr indent="0" marL="0">
              <a:buNone/>
            </a:pPr>
            <a:r>
              <a:rPr lang="en-US" sz="650" b="1" dirty="0">
                <a:solidFill>
                  <a:srgbClr val="B8720A"/>
                </a:solidFill>
                <a:latin typeface="Aptos" pitchFamily="34" charset="0"/>
                <a:ea typeface="Aptos" pitchFamily="34" charset="-122"/>
                <a:cs typeface="Aptos" pitchFamily="34" charset="-120"/>
              </a:rPr>
              <a:t>NOT A VOID</a:t>
            </a:r>
            <a:endParaRPr lang="en-US" sz="650" dirty="0"/>
          </a:p>
        </p:txBody>
      </p:sp>
      <p:sp>
        <p:nvSpPr>
          <p:cNvPr id="21" name="Text 19"/>
          <p:cNvSpPr txBox="1"/>
          <p:nvPr/>
        </p:nvSpPr>
        <p:spPr>
          <a:xfrm>
            <a:off x="1600200" y="4343400"/>
            <a:ext cx="6949440" cy="329184"/>
          </a:xfrm>
          <a:prstGeom prst="rect">
            <a:avLst/>
          </a:prstGeom>
          <a:noFill/>
          <a:ln/>
        </p:spPr>
        <p:txBody>
          <a:bodyPr wrap="square" lIns="0" tIns="0" rIns="0" bIns="0" rtlCol="0" anchor="ctr"/>
          <a:lstStyle/>
          <a:p>
            <a:pPr indent="0" marL="0">
              <a:buNone/>
            </a:pPr>
            <a:r>
              <a:rPr lang="en-US" sz="850" b="1" dirty="0">
                <a:solidFill>
                  <a:srgbClr val="B8720A"/>
                </a:solidFill>
                <a:latin typeface="Aptos" pitchFamily="34" charset="0"/>
                <a:ea typeface="Aptos" pitchFamily="34" charset="-122"/>
                <a:cs typeface="Aptos" pitchFamily="34" charset="-120"/>
              </a:rPr>
              <a:t>Stripe captures at checkout, so every cancellation is a refund. Tell the customer: 3–10 banking days to appear.</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AFTER THE HOLD</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CJ Pending: request, review, then CJ decides</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05</a:t>
            </a:r>
            <a:endParaRPr lang="en-US" sz="650" dirty="0"/>
          </a:p>
        </p:txBody>
      </p:sp>
      <p:sp>
        <p:nvSpPr>
          <p:cNvPr id="7" name="Shape 5"/>
          <p:cNvSpPr/>
          <p:nvPr/>
        </p:nvSpPr>
        <p:spPr>
          <a:xfrm>
            <a:off x="411480" y="1051560"/>
            <a:ext cx="1298448" cy="731520"/>
          </a:xfrm>
          <a:prstGeom prst="roundRect">
            <a:avLst>
              <a:gd name="adj" fmla="val 7500"/>
            </a:avLst>
          </a:prstGeom>
          <a:solidFill>
            <a:srgbClr val="FFFFFF"/>
          </a:solidFill>
          <a:ln w="9525">
            <a:solidFill>
              <a:srgbClr val="D7DCE2"/>
            </a:solidFill>
            <a:prstDash val="solid"/>
          </a:ln>
        </p:spPr>
      </p:sp>
      <p:sp>
        <p:nvSpPr>
          <p:cNvPr id="8" name="Text 6"/>
          <p:cNvSpPr txBox="1"/>
          <p:nvPr/>
        </p:nvSpPr>
        <p:spPr>
          <a:xfrm>
            <a:off x="457200" y="1051560"/>
            <a:ext cx="1207008" cy="731520"/>
          </a:xfrm>
          <a:prstGeom prst="rect">
            <a:avLst/>
          </a:prstGeom>
          <a:noFill/>
          <a:ln/>
        </p:spPr>
        <p:txBody>
          <a:bodyPr wrap="square" lIns="0" tIns="0" rIns="0" bIns="0" rtlCol="0" anchor="ctr"/>
          <a:lstStyle/>
          <a:p>
            <a:pPr algn="ctr" indent="0" marL="0">
              <a:buNone/>
            </a:pPr>
            <a:r>
              <a:rPr lang="en-US" sz="700" b="1" dirty="0">
                <a:solidFill>
                  <a:srgbClr val="13224A"/>
                </a:solidFill>
                <a:latin typeface="Aptos" pitchFamily="34" charset="0"/>
                <a:ea typeface="Aptos" pitchFamily="34" charset="-122"/>
                <a:cs typeface="Aptos" pitchFamily="34" charset="-120"/>
              </a:rPr>
              <a:t>Customer</a:t>
            </a:r>
            <a:endParaRPr lang="en-US" sz="700" dirty="0"/>
          </a:p>
          <a:p>
            <a:pPr algn="ctr" indent="0" marL="0">
              <a:buNone/>
            </a:pPr>
            <a:r>
              <a:rPr lang="en-US" sz="680" dirty="0">
                <a:solidFill>
                  <a:srgbClr val="5B6472"/>
                </a:solidFill>
                <a:latin typeface="Aptos" pitchFamily="34" charset="0"/>
                <a:ea typeface="Aptos" pitchFamily="34" charset="-122"/>
                <a:cs typeface="Aptos" pitchFamily="34" charset="-120"/>
              </a:rPr>
              <a:t>Request cancellation</a:t>
            </a:r>
            <a:endParaRPr lang="en-US" sz="700" dirty="0"/>
          </a:p>
        </p:txBody>
      </p:sp>
      <p:sp>
        <p:nvSpPr>
          <p:cNvPr id="9" name="Shape 7"/>
          <p:cNvSpPr/>
          <p:nvPr/>
        </p:nvSpPr>
        <p:spPr>
          <a:xfrm>
            <a:off x="1709928" y="1417320"/>
            <a:ext cx="109728" cy="0"/>
          </a:xfrm>
          <a:prstGeom prst="line">
            <a:avLst/>
          </a:prstGeom>
          <a:noFill/>
          <a:ln w="12700">
            <a:solidFill>
              <a:srgbClr val="5B6472"/>
            </a:solidFill>
            <a:prstDash val="solid"/>
            <a:tailEnd type="triangle"/>
          </a:ln>
        </p:spPr>
      </p:sp>
      <p:sp>
        <p:nvSpPr>
          <p:cNvPr id="10" name="Shape 8"/>
          <p:cNvSpPr/>
          <p:nvPr/>
        </p:nvSpPr>
        <p:spPr>
          <a:xfrm>
            <a:off x="1819656" y="1051560"/>
            <a:ext cx="1298448" cy="731520"/>
          </a:xfrm>
          <a:prstGeom prst="roundRect">
            <a:avLst>
              <a:gd name="adj" fmla="val 7500"/>
            </a:avLst>
          </a:prstGeom>
          <a:solidFill>
            <a:srgbClr val="FFFFFF"/>
          </a:solidFill>
          <a:ln w="9525">
            <a:solidFill>
              <a:srgbClr val="D7DCE2"/>
            </a:solidFill>
            <a:prstDash val="solid"/>
          </a:ln>
        </p:spPr>
      </p:sp>
      <p:sp>
        <p:nvSpPr>
          <p:cNvPr id="11" name="Text 9"/>
          <p:cNvSpPr txBox="1"/>
          <p:nvPr/>
        </p:nvSpPr>
        <p:spPr>
          <a:xfrm>
            <a:off x="1865376" y="1051560"/>
            <a:ext cx="1207008" cy="731520"/>
          </a:xfrm>
          <a:prstGeom prst="rect">
            <a:avLst/>
          </a:prstGeom>
          <a:noFill/>
          <a:ln/>
        </p:spPr>
        <p:txBody>
          <a:bodyPr wrap="square" lIns="0" tIns="0" rIns="0" bIns="0" rtlCol="0" anchor="ctr"/>
          <a:lstStyle/>
          <a:p>
            <a:pPr algn="ctr" indent="0" marL="0">
              <a:buNone/>
            </a:pPr>
            <a:r>
              <a:rPr lang="en-US" sz="700" b="1" dirty="0">
                <a:solidFill>
                  <a:srgbClr val="13224A"/>
                </a:solidFill>
                <a:latin typeface="Aptos" pitchFamily="34" charset="0"/>
                <a:ea typeface="Aptos" pitchFamily="34" charset="-122"/>
                <a:cs typeface="Aptos" pitchFamily="34" charset="-120"/>
              </a:rPr>
              <a:t>Portal</a:t>
            </a:r>
            <a:endParaRPr lang="en-US" sz="700" dirty="0"/>
          </a:p>
          <a:p>
            <a:pPr algn="ctr" indent="0" marL="0">
              <a:buNone/>
            </a:pPr>
            <a:r>
              <a:rPr lang="en-US" sz="680" dirty="0">
                <a:solidFill>
                  <a:srgbClr val="5B6472"/>
                </a:solidFill>
                <a:latin typeface="Aptos" pitchFamily="34" charset="0"/>
                <a:ea typeface="Aptos" pitchFamily="34" charset="-122"/>
                <a:cs typeface="Aptos" pitchFamily="34" charset="-120"/>
              </a:rPr>
              <a:t>Cancellation requests lane + ops notified</a:t>
            </a:r>
            <a:endParaRPr lang="en-US" sz="700" dirty="0"/>
          </a:p>
        </p:txBody>
      </p:sp>
      <p:sp>
        <p:nvSpPr>
          <p:cNvPr id="12" name="Shape 10"/>
          <p:cNvSpPr/>
          <p:nvPr/>
        </p:nvSpPr>
        <p:spPr>
          <a:xfrm>
            <a:off x="3118104" y="1417320"/>
            <a:ext cx="109728" cy="0"/>
          </a:xfrm>
          <a:prstGeom prst="line">
            <a:avLst/>
          </a:prstGeom>
          <a:noFill/>
          <a:ln w="12700">
            <a:solidFill>
              <a:srgbClr val="5B6472"/>
            </a:solidFill>
            <a:prstDash val="solid"/>
            <a:tailEnd type="triangle"/>
          </a:ln>
        </p:spPr>
      </p:sp>
      <p:sp>
        <p:nvSpPr>
          <p:cNvPr id="13" name="Shape 11"/>
          <p:cNvSpPr/>
          <p:nvPr/>
        </p:nvSpPr>
        <p:spPr>
          <a:xfrm>
            <a:off x="3227832" y="1051560"/>
            <a:ext cx="1298448" cy="731520"/>
          </a:xfrm>
          <a:prstGeom prst="roundRect">
            <a:avLst>
              <a:gd name="adj" fmla="val 7500"/>
            </a:avLst>
          </a:prstGeom>
          <a:solidFill>
            <a:srgbClr val="FFFFFF"/>
          </a:solidFill>
          <a:ln w="9525">
            <a:solidFill>
              <a:srgbClr val="D7DCE2"/>
            </a:solidFill>
            <a:prstDash val="solid"/>
          </a:ln>
        </p:spPr>
      </p:sp>
      <p:sp>
        <p:nvSpPr>
          <p:cNvPr id="14" name="Text 12"/>
          <p:cNvSpPr txBox="1"/>
          <p:nvPr/>
        </p:nvSpPr>
        <p:spPr>
          <a:xfrm>
            <a:off x="3273552" y="1051560"/>
            <a:ext cx="1207008" cy="731520"/>
          </a:xfrm>
          <a:prstGeom prst="rect">
            <a:avLst/>
          </a:prstGeom>
          <a:noFill/>
          <a:ln/>
        </p:spPr>
        <p:txBody>
          <a:bodyPr wrap="square" lIns="0" tIns="0" rIns="0" bIns="0" rtlCol="0" anchor="ctr"/>
          <a:lstStyle/>
          <a:p>
            <a:pPr algn="ctr" indent="0" marL="0">
              <a:buNone/>
            </a:pPr>
            <a:r>
              <a:rPr lang="en-US" sz="700" b="1" dirty="0">
                <a:solidFill>
                  <a:srgbClr val="13224A"/>
                </a:solidFill>
                <a:latin typeface="Aptos" pitchFamily="34" charset="0"/>
                <a:ea typeface="Aptos" pitchFamily="34" charset="-122"/>
                <a:cs typeface="Aptos" pitchFamily="34" charset="-120"/>
              </a:rPr>
              <a:t>Sals3 staff</a:t>
            </a:r>
            <a:endParaRPr lang="en-US" sz="700" dirty="0"/>
          </a:p>
          <a:p>
            <a:pPr algn="ctr" indent="0" marL="0">
              <a:buNone/>
            </a:pPr>
            <a:r>
              <a:rPr lang="en-US" sz="680" dirty="0">
                <a:solidFill>
                  <a:srgbClr val="5B6472"/>
                </a:solidFill>
                <a:latin typeface="Aptos" pitchFamily="34" charset="0"/>
                <a:ea typeface="Aptos" pitchFamily="34" charset="-122"/>
                <a:cs typeface="Aptos" pitchFamily="34" charset="-120"/>
              </a:rPr>
              <a:t>Ask CJ to cancel · or · Decline</a:t>
            </a:r>
            <a:endParaRPr lang="en-US" sz="700" dirty="0"/>
          </a:p>
        </p:txBody>
      </p:sp>
      <p:sp>
        <p:nvSpPr>
          <p:cNvPr id="15" name="Shape 13"/>
          <p:cNvSpPr/>
          <p:nvPr/>
        </p:nvSpPr>
        <p:spPr>
          <a:xfrm>
            <a:off x="4526280" y="1417320"/>
            <a:ext cx="109728" cy="0"/>
          </a:xfrm>
          <a:prstGeom prst="line">
            <a:avLst/>
          </a:prstGeom>
          <a:noFill/>
          <a:ln w="12700">
            <a:solidFill>
              <a:srgbClr val="5B6472"/>
            </a:solidFill>
            <a:prstDash val="solid"/>
            <a:tailEnd type="triangle"/>
          </a:ln>
        </p:spPr>
      </p:sp>
      <p:sp>
        <p:nvSpPr>
          <p:cNvPr id="16" name="Shape 14"/>
          <p:cNvSpPr/>
          <p:nvPr/>
        </p:nvSpPr>
        <p:spPr>
          <a:xfrm>
            <a:off x="4636008" y="1051560"/>
            <a:ext cx="1298448" cy="731520"/>
          </a:xfrm>
          <a:prstGeom prst="roundRect">
            <a:avLst>
              <a:gd name="adj" fmla="val 7500"/>
            </a:avLst>
          </a:prstGeom>
          <a:solidFill>
            <a:srgbClr val="FFF4DF"/>
          </a:solidFill>
          <a:ln w="9525">
            <a:solidFill>
              <a:srgbClr val="B8720A"/>
            </a:solidFill>
            <a:prstDash val="solid"/>
          </a:ln>
        </p:spPr>
      </p:sp>
      <p:sp>
        <p:nvSpPr>
          <p:cNvPr id="17" name="Text 15"/>
          <p:cNvSpPr txBox="1"/>
          <p:nvPr/>
        </p:nvSpPr>
        <p:spPr>
          <a:xfrm>
            <a:off x="4681728" y="1051560"/>
            <a:ext cx="1207008" cy="731520"/>
          </a:xfrm>
          <a:prstGeom prst="rect">
            <a:avLst/>
          </a:prstGeom>
          <a:noFill/>
          <a:ln/>
        </p:spPr>
        <p:txBody>
          <a:bodyPr wrap="square" lIns="0" tIns="0" rIns="0" bIns="0" rtlCol="0" anchor="ctr"/>
          <a:lstStyle/>
          <a:p>
            <a:pPr algn="ctr" indent="0" marL="0">
              <a:buNone/>
            </a:pPr>
            <a:r>
              <a:rPr lang="en-US" sz="700" b="1" dirty="0">
                <a:solidFill>
                  <a:srgbClr val="B8720A"/>
                </a:solidFill>
                <a:latin typeface="Aptos" pitchFamily="34" charset="0"/>
                <a:ea typeface="Aptos" pitchFamily="34" charset="-122"/>
                <a:cs typeface="Aptos" pitchFamily="34" charset="-120"/>
              </a:rPr>
              <a:t>CJ</a:t>
            </a:r>
            <a:endParaRPr lang="en-US" sz="700" dirty="0"/>
          </a:p>
          <a:p>
            <a:pPr algn="ctr" indent="0" marL="0">
              <a:buNone/>
            </a:pPr>
            <a:r>
              <a:rPr lang="en-US" sz="680" dirty="0">
                <a:solidFill>
                  <a:srgbClr val="5B6472"/>
                </a:solidFill>
                <a:latin typeface="Aptos" pitchFamily="34" charset="0"/>
                <a:ea typeface="Aptos" pitchFamily="34" charset="-122"/>
                <a:cs typeface="Aptos" pitchFamily="34" charset="-120"/>
              </a:rPr>
              <a:t>Dispute: Unfulfilled Order Cancellation</a:t>
            </a:r>
            <a:endParaRPr lang="en-US" sz="700" dirty="0"/>
          </a:p>
        </p:txBody>
      </p:sp>
      <p:sp>
        <p:nvSpPr>
          <p:cNvPr id="18" name="Shape 16"/>
          <p:cNvSpPr/>
          <p:nvPr/>
        </p:nvSpPr>
        <p:spPr>
          <a:xfrm>
            <a:off x="5934456" y="1417320"/>
            <a:ext cx="109728" cy="0"/>
          </a:xfrm>
          <a:prstGeom prst="line">
            <a:avLst/>
          </a:prstGeom>
          <a:noFill/>
          <a:ln w="12700">
            <a:solidFill>
              <a:srgbClr val="5B6472"/>
            </a:solidFill>
            <a:prstDash val="solid"/>
            <a:tailEnd type="triangle"/>
          </a:ln>
        </p:spPr>
      </p:sp>
      <p:sp>
        <p:nvSpPr>
          <p:cNvPr id="19" name="Shape 17"/>
          <p:cNvSpPr/>
          <p:nvPr/>
        </p:nvSpPr>
        <p:spPr>
          <a:xfrm>
            <a:off x="6044184" y="1051560"/>
            <a:ext cx="1298448" cy="731520"/>
          </a:xfrm>
          <a:prstGeom prst="roundRect">
            <a:avLst>
              <a:gd name="adj" fmla="val 7500"/>
            </a:avLst>
          </a:prstGeom>
          <a:solidFill>
            <a:srgbClr val="FFF4DF"/>
          </a:solidFill>
          <a:ln w="9525">
            <a:solidFill>
              <a:srgbClr val="B8720A"/>
            </a:solidFill>
            <a:prstDash val="solid"/>
          </a:ln>
        </p:spPr>
      </p:sp>
      <p:sp>
        <p:nvSpPr>
          <p:cNvPr id="20" name="Text 18"/>
          <p:cNvSpPr txBox="1"/>
          <p:nvPr/>
        </p:nvSpPr>
        <p:spPr>
          <a:xfrm>
            <a:off x="6089904" y="1051560"/>
            <a:ext cx="1207008" cy="731520"/>
          </a:xfrm>
          <a:prstGeom prst="rect">
            <a:avLst/>
          </a:prstGeom>
          <a:noFill/>
          <a:ln/>
        </p:spPr>
        <p:txBody>
          <a:bodyPr wrap="square" lIns="0" tIns="0" rIns="0" bIns="0" rtlCol="0" anchor="ctr"/>
          <a:lstStyle/>
          <a:p>
            <a:pPr algn="ctr" indent="0" marL="0">
              <a:buNone/>
            </a:pPr>
            <a:r>
              <a:rPr lang="en-US" sz="700" b="1" dirty="0">
                <a:solidFill>
                  <a:srgbClr val="B8720A"/>
                </a:solidFill>
                <a:latin typeface="Aptos" pitchFamily="34" charset="0"/>
                <a:ea typeface="Aptos" pitchFamily="34" charset="-122"/>
                <a:cs typeface="Aptos" pitchFamily="34" charset="-120"/>
              </a:rPr>
              <a:t>CJ decides</a:t>
            </a:r>
            <a:endParaRPr lang="en-US" sz="700" dirty="0"/>
          </a:p>
          <a:p>
            <a:pPr algn="ctr" indent="0" marL="0">
              <a:buNone/>
            </a:pPr>
            <a:r>
              <a:rPr lang="en-US" sz="680" dirty="0">
                <a:solidFill>
                  <a:srgbClr val="5B6472"/>
                </a:solidFill>
                <a:latin typeface="Aptos" pitchFamily="34" charset="0"/>
                <a:ea typeface="Aptos" pitchFamily="34" charset="-122"/>
                <a:cs typeface="Aptos" pitchFamily="34" charset="-120"/>
              </a:rPr>
              <a:t>REFUND · REJECT · REISSUE</a:t>
            </a:r>
            <a:endParaRPr lang="en-US" sz="700" dirty="0"/>
          </a:p>
        </p:txBody>
      </p:sp>
      <p:sp>
        <p:nvSpPr>
          <p:cNvPr id="21" name="Shape 19"/>
          <p:cNvSpPr/>
          <p:nvPr/>
        </p:nvSpPr>
        <p:spPr>
          <a:xfrm>
            <a:off x="7342632" y="1417320"/>
            <a:ext cx="109728" cy="0"/>
          </a:xfrm>
          <a:prstGeom prst="line">
            <a:avLst/>
          </a:prstGeom>
          <a:noFill/>
          <a:ln w="12700">
            <a:solidFill>
              <a:srgbClr val="5B6472"/>
            </a:solidFill>
            <a:prstDash val="solid"/>
            <a:tailEnd type="triangle"/>
          </a:ln>
        </p:spPr>
      </p:sp>
      <p:sp>
        <p:nvSpPr>
          <p:cNvPr id="22" name="Shape 20"/>
          <p:cNvSpPr/>
          <p:nvPr/>
        </p:nvSpPr>
        <p:spPr>
          <a:xfrm>
            <a:off x="7452360" y="1051560"/>
            <a:ext cx="1298448" cy="731520"/>
          </a:xfrm>
          <a:prstGeom prst="roundRect">
            <a:avLst>
              <a:gd name="adj" fmla="val 7500"/>
            </a:avLst>
          </a:prstGeom>
          <a:solidFill>
            <a:srgbClr val="E3F6F0"/>
          </a:solidFill>
          <a:ln w="9525">
            <a:solidFill>
              <a:srgbClr val="0F8B6C"/>
            </a:solidFill>
            <a:prstDash val="solid"/>
          </a:ln>
        </p:spPr>
      </p:sp>
      <p:sp>
        <p:nvSpPr>
          <p:cNvPr id="23" name="Text 21"/>
          <p:cNvSpPr txBox="1"/>
          <p:nvPr/>
        </p:nvSpPr>
        <p:spPr>
          <a:xfrm>
            <a:off x="7498080" y="1051560"/>
            <a:ext cx="1207008" cy="731520"/>
          </a:xfrm>
          <a:prstGeom prst="rect">
            <a:avLst/>
          </a:prstGeom>
          <a:noFill/>
          <a:ln/>
        </p:spPr>
        <p:txBody>
          <a:bodyPr wrap="square" lIns="0" tIns="0" rIns="0" bIns="0" rtlCol="0" anchor="ctr"/>
          <a:lstStyle/>
          <a:p>
            <a:pPr algn="ctr" indent="0" marL="0">
              <a:buNone/>
            </a:pPr>
            <a:r>
              <a:rPr lang="en-US" sz="700" b="1" dirty="0">
                <a:solidFill>
                  <a:srgbClr val="0F8B6C"/>
                </a:solidFill>
                <a:latin typeface="Aptos" pitchFamily="34" charset="0"/>
                <a:ea typeface="Aptos" pitchFamily="34" charset="-122"/>
                <a:cs typeface="Aptos" pitchFamily="34" charset="-120"/>
              </a:rPr>
              <a:t>Portal</a:t>
            </a:r>
            <a:endParaRPr lang="en-US" sz="700" dirty="0"/>
          </a:p>
          <a:p>
            <a:pPr algn="ctr" indent="0" marL="0">
              <a:buNone/>
            </a:pPr>
            <a:r>
              <a:rPr lang="en-US" sz="680" dirty="0">
                <a:solidFill>
                  <a:srgbClr val="5B6472"/>
                </a:solidFill>
                <a:latin typeface="Aptos" pitchFamily="34" charset="0"/>
                <a:ea typeface="Aptos" pitchFamily="34" charset="-122"/>
                <a:cs typeface="Aptos" pitchFamily="34" charset="-120"/>
              </a:rPr>
              <a:t>Refund to card on REFUND only</a:t>
            </a:r>
            <a:endParaRPr lang="en-US" sz="700" dirty="0"/>
          </a:p>
        </p:txBody>
      </p:sp>
      <p:sp>
        <p:nvSpPr>
          <p:cNvPr id="24" name="Shape 22"/>
          <p:cNvSpPr/>
          <p:nvPr/>
        </p:nvSpPr>
        <p:spPr>
          <a:xfrm>
            <a:off x="411480" y="1965960"/>
            <a:ext cx="4023360" cy="2103120"/>
          </a:xfrm>
          <a:prstGeom prst="roundRect">
            <a:avLst>
              <a:gd name="adj" fmla="val 2609"/>
            </a:avLst>
          </a:prstGeom>
          <a:solidFill>
            <a:srgbClr val="FFFFFF"/>
          </a:solidFill>
          <a:ln w="9525">
            <a:solidFill>
              <a:srgbClr val="D7DCE2"/>
            </a:solidFill>
            <a:prstDash val="solid"/>
          </a:ln>
        </p:spPr>
      </p:sp>
      <p:sp>
        <p:nvSpPr>
          <p:cNvPr id="25" name="Text 23"/>
          <p:cNvSpPr txBox="1"/>
          <p:nvPr/>
        </p:nvSpPr>
        <p:spPr>
          <a:xfrm>
            <a:off x="594360" y="20574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Rules</a:t>
            </a:r>
            <a:endParaRPr lang="en-US" sz="1100" dirty="0"/>
          </a:p>
        </p:txBody>
      </p:sp>
      <p:sp>
        <p:nvSpPr>
          <p:cNvPr id="26" name="Text 24"/>
          <p:cNvSpPr txBox="1"/>
          <p:nvPr/>
        </p:nvSpPr>
        <p:spPr>
          <a:xfrm>
            <a:off x="594360" y="2377440"/>
            <a:ext cx="3657600" cy="160020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The request is recorded (REQUESTED), the parcel shows "Cancellation requested", nothing is refunded.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Ops are notified by email (Resend) and Slack webhook; both optional per deployment.</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Staff choose "Ask CJ to cancel" (opens the dispute now) or "Decline" with a reason the customer reads.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Safety net: after SALS3_CANCELLATION_REVIEW_HOURS (default 12) with no decision, the portal asks CJ itself.</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CJ REFUND → order CANCELLED, Stripe refund to the card. CJ REJECT or REISSUE → request DECLINED, order continues, return on arrival.</a:t>
            </a:r>
            <a:endParaRPr lang="en-US" sz="800" dirty="0"/>
          </a:p>
        </p:txBody>
      </p:sp>
      <p:sp>
        <p:nvSpPr>
          <p:cNvPr id="27" name="Shape 25"/>
          <p:cNvSpPr/>
          <p:nvPr/>
        </p:nvSpPr>
        <p:spPr>
          <a:xfrm>
            <a:off x="4663440" y="1965960"/>
            <a:ext cx="4069080" cy="2103120"/>
          </a:xfrm>
          <a:prstGeom prst="roundRect">
            <a:avLst>
              <a:gd name="adj" fmla="val 2609"/>
            </a:avLst>
          </a:prstGeom>
          <a:solidFill>
            <a:srgbClr val="FFFFFF"/>
          </a:solidFill>
          <a:ln w="9525">
            <a:solidFill>
              <a:srgbClr val="D7DCE2"/>
            </a:solidFill>
            <a:prstDash val="solid"/>
          </a:ln>
        </p:spPr>
      </p:sp>
      <p:sp>
        <p:nvSpPr>
          <p:cNvPr id="28" name="Text 26"/>
          <p:cNvSpPr txBox="1"/>
          <p:nvPr/>
        </p:nvSpPr>
        <p:spPr>
          <a:xfrm>
            <a:off x="4846320" y="2057400"/>
            <a:ext cx="370332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What the customer reads</a:t>
            </a:r>
            <a:endParaRPr lang="en-US" sz="1100" dirty="0"/>
          </a:p>
        </p:txBody>
      </p:sp>
      <p:sp>
        <p:nvSpPr>
          <p:cNvPr id="29" name="Text 27"/>
          <p:cNvSpPr txBox="1"/>
          <p:nvPr/>
        </p:nvSpPr>
        <p:spPr>
          <a:xfrm>
            <a:off x="4846320" y="2377440"/>
            <a:ext cx="3703320" cy="1600200"/>
          </a:xfrm>
          <a:prstGeom prst="rect">
            <a:avLst/>
          </a:prstGeom>
          <a:noFill/>
          <a:ln/>
        </p:spPr>
        <p:txBody>
          <a:bodyPr wrap="square" lIns="0" tIns="0" rIns="0" bIns="0" rtlCol="0" anchor="t"/>
          <a:lstStyle/>
          <a:p>
            <a:pPr marL="127000" indent="-127000">
              <a:spcAft>
                <a:spcPts val="400"/>
              </a:spcAft>
              <a:buSzPct val="100000"/>
              <a:buChar char="•"/>
            </a:pPr>
            <a:r>
              <a:rPr lang="en-US" sz="760" dirty="0">
                <a:solidFill>
                  <a:srgbClr val="1E2A44"/>
                </a:solidFill>
                <a:latin typeface="Aptos" pitchFamily="34" charset="0"/>
                <a:ea typeface="Aptos" pitchFamily="34" charset="-122"/>
                <a:cs typeface="Aptos" pitchFamily="34" charset="-120"/>
              </a:rPr>
              <a:t>On the order page while Pending: "Your order is with the warehouse but has not started. You can ask us to cancel; we confirm within 24 hours, and nothing is refunded until the warehouse confirms it stopped."</a:t>
            </a:r>
            <a:endParaRPr lang="en-US" sz="760" dirty="0"/>
          </a:p>
          <a:p>
            <a:pPr marL="127000" indent="-127000">
              <a:spcAft>
                <a:spcPts val="400"/>
              </a:spcAft>
              <a:buSzPct val="100000"/>
              <a:buChar char="•"/>
            </a:pPr>
            <a:r>
              <a:rPr lang="en-US" sz="760" dirty="0">
                <a:solidFill>
                  <a:srgbClr val="1E2A44"/>
                </a:solidFill>
                <a:latin typeface="Aptos" pitchFamily="34" charset="0"/>
                <a:ea typeface="Aptos" pitchFamily="34" charset="-122"/>
                <a:cs typeface="Aptos" pitchFamily="34" charset="-120"/>
              </a:rPr>
              <a:t>After asking: "Cancellation requested. We will confirm within 24 hours; the refund follows once the warehouse confirms it has not started."</a:t>
            </a:r>
            <a:endParaRPr lang="en-US" sz="760" dirty="0"/>
          </a:p>
          <a:p>
            <a:pPr marL="127000" indent="-127000">
              <a:spcAft>
                <a:spcPts val="400"/>
              </a:spcAft>
              <a:buSzPct val="100000"/>
              <a:buChar char="•"/>
            </a:pPr>
            <a:r>
              <a:rPr lang="en-US" sz="760" dirty="0">
                <a:solidFill>
                  <a:srgbClr val="1E2A44"/>
                </a:solidFill>
                <a:latin typeface="Aptos" pitchFamily="34" charset="0"/>
                <a:ea typeface="Aptos" pitchFamily="34" charset="-122"/>
                <a:cs typeface="Aptos" pitchFamily="34" charset="-120"/>
              </a:rPr>
              <a:t>If declined or CJ rejects: "We could not cancel this order: the warehouse had already started on it. It will arrive as scheduled, and you can return it once it does."</a:t>
            </a:r>
            <a:endParaRPr lang="en-US" sz="760" dirty="0"/>
          </a:p>
        </p:txBody>
      </p:sp>
      <p:sp>
        <p:nvSpPr>
          <p:cNvPr id="30" name="Shape 28"/>
          <p:cNvSpPr/>
          <p:nvPr/>
        </p:nvSpPr>
        <p:spPr>
          <a:xfrm>
            <a:off x="411480" y="4206240"/>
            <a:ext cx="8321040" cy="329184"/>
          </a:xfrm>
          <a:prstGeom prst="roundRect">
            <a:avLst>
              <a:gd name="adj" fmla="val 16667"/>
            </a:avLst>
          </a:prstGeom>
          <a:solidFill>
            <a:srgbClr val="FFF4DF"/>
          </a:solidFill>
          <a:ln w="9525">
            <a:solidFill>
              <a:srgbClr val="B8720A"/>
            </a:solidFill>
            <a:prstDash val="solid"/>
          </a:ln>
        </p:spPr>
      </p:sp>
      <p:sp>
        <p:nvSpPr>
          <p:cNvPr id="31" name="Text 29"/>
          <p:cNvSpPr txBox="1"/>
          <p:nvPr/>
        </p:nvSpPr>
        <p:spPr>
          <a:xfrm>
            <a:off x="640080" y="4206240"/>
            <a:ext cx="1005840" cy="329184"/>
          </a:xfrm>
          <a:prstGeom prst="rect">
            <a:avLst/>
          </a:prstGeom>
          <a:noFill/>
          <a:ln/>
        </p:spPr>
        <p:txBody>
          <a:bodyPr wrap="square" lIns="0" tIns="0" rIns="0" bIns="0" rtlCol="0" anchor="ctr"/>
          <a:lstStyle/>
          <a:p>
            <a:pPr indent="0" marL="0">
              <a:buNone/>
            </a:pPr>
            <a:r>
              <a:rPr lang="en-US" sz="650" b="1" dirty="0">
                <a:solidFill>
                  <a:srgbClr val="B8720A"/>
                </a:solidFill>
                <a:latin typeface="Aptos" pitchFamily="34" charset="0"/>
                <a:ea typeface="Aptos" pitchFamily="34" charset="-122"/>
                <a:cs typeface="Aptos" pitchFamily="34" charset="-120"/>
              </a:rPr>
              <a:t>WHY NOT REFUND FIRST</a:t>
            </a:r>
            <a:endParaRPr lang="en-US" sz="650" dirty="0"/>
          </a:p>
        </p:txBody>
      </p:sp>
      <p:sp>
        <p:nvSpPr>
          <p:cNvPr id="32" name="Text 30"/>
          <p:cNvSpPr txBox="1"/>
          <p:nvPr/>
        </p:nvSpPr>
        <p:spPr>
          <a:xfrm>
            <a:off x="1600200" y="4206240"/>
            <a:ext cx="6949440" cy="329184"/>
          </a:xfrm>
          <a:prstGeom prst="rect">
            <a:avLst/>
          </a:prstGeom>
          <a:noFill/>
          <a:ln/>
        </p:spPr>
        <p:txBody>
          <a:bodyPr wrap="square" lIns="0" tIns="0" rIns="0" bIns="0" rtlCol="0" anchor="ctr"/>
          <a:lstStyle/>
          <a:p>
            <a:pPr indent="0" marL="0">
              <a:buNone/>
            </a:pPr>
            <a:r>
              <a:rPr lang="en-US" sz="850" b="1" dirty="0">
                <a:solidFill>
                  <a:srgbClr val="B8720A"/>
                </a:solidFill>
                <a:latin typeface="Aptos" pitchFamily="34" charset="0"/>
                <a:ea typeface="Aptos" pitchFamily="34" charset="-122"/>
                <a:cs typeface="Aptos" pitchFamily="34" charset="-120"/>
              </a:rPr>
              <a:t>Sals3 history is 5 of 5 approvals, but a single rejection after a refund means the customer keeps the item and the money, and the portal would not have noticed. The final rule removes that hole.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DECISION RULES</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Default action by state</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06</a:t>
            </a:r>
            <a:endParaRPr lang="en-US" sz="6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600200"/>
                <a:gridCol w="2834640"/>
                <a:gridCol w="1554480"/>
                <a:gridCol w="2331720"/>
              </a:tblGrid>
              <a:tr h="365760">
                <a:tc>
                  <a:txBody>
                    <a:bodyPr/>
                    <a:lstStyle/>
                    <a:p>
                      <a:pPr indent="0" marL="0">
                        <a:buNone/>
                      </a:pPr>
                      <a:r>
                        <a:rPr lang="en-US" sz="680" b="1" dirty="0">
                          <a:solidFill>
                            <a:srgbClr val="FFFFFF"/>
                          </a:solidFill>
                          <a:latin typeface="Aptos" pitchFamily="34" charset="0"/>
                          <a:ea typeface="Aptos" pitchFamily="34" charset="-122"/>
                          <a:cs typeface="Aptos" pitchFamily="34" charset="-120"/>
                        </a:rPr>
                        <a:t>State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Action</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Who decides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Customer message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365760">
                <a:tc>
                  <a:txBody>
                    <a:bodyPr/>
                    <a:lstStyle/>
                    <a:p>
                      <a:pPr indent="0" marL="0">
                        <a:buNone/>
                      </a:pPr>
                      <a:r>
                        <a:rPr lang="en-US" sz="680" dirty="0">
                          <a:solidFill>
                            <a:srgbClr val="1E2A44"/>
                          </a:solidFill>
                          <a:latin typeface="Aptos" pitchFamily="34" charset="0"/>
                          <a:ea typeface="Aptos" pitchFamily="34" charset="-122"/>
                          <a:cs typeface="Aptos" pitchFamily="34" charset="-120"/>
                        </a:rPr>
                        <a:t>Hold window (CJ Imported, unpaid)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deleteOrder at CJ → CANCELLED → Stripe refund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"Cancelled. The refund has been sent to the card that paid."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65760">
                <a:tc>
                  <a:txBody>
                    <a:bodyPr/>
                    <a:lstStyle/>
                    <a:p>
                      <a:pPr indent="0" marL="0">
                        <a:buNone/>
                      </a:pPr>
                      <a:r>
                        <a:rPr lang="en-US" sz="680" dirty="0">
                          <a:solidFill>
                            <a:srgbClr val="1E2A44"/>
                          </a:solidFill>
                          <a:latin typeface="Aptos" pitchFamily="34" charset="0"/>
                          <a:ea typeface="Aptos" pitchFamily="34" charset="-122"/>
                          <a:cs typeface="Aptos" pitchFamily="34" charset="-120"/>
                        </a:rPr>
                        <a:t>CJ UNPAID (AWAITING_SUPPLIER_FUNDS)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CANCELLED → Stripe refund; support tidies the CJ order in the dashboard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support within 1 business day</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Same as above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65760">
                <a:tc>
                  <a:txBody>
                    <a:bodyPr/>
                    <a:lstStyle/>
                    <a:p>
                      <a:pPr indent="0" marL="0">
                        <a:buNone/>
                      </a:pPr>
                      <a:r>
                        <a:rPr lang="en-US" sz="680" dirty="0">
                          <a:solidFill>
                            <a:srgbClr val="1E2A44"/>
                          </a:solidFill>
                          <a:latin typeface="Aptos" pitchFamily="34" charset="0"/>
                          <a:ea typeface="Aptos" pitchFamily="34" charset="-122"/>
                          <a:cs typeface="Aptos" pitchFamily="34" charset="-120"/>
                        </a:rPr>
                        <a:t>CJ paid, PENDING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REQUESTED → Cancellation requests lane → staff Ask CJ / Decline → CJ dispute → refund on REFUND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Staff; portal auto-asks CJ after 12 h</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"Cancellation requested. We will confirm within 24 hours…"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65760">
                <a:tc>
                  <a:txBody>
                    <a:bodyPr/>
                    <a:lstStyle/>
                    <a:p>
                      <a:pPr indent="0" marL="0">
                        <a:buNone/>
                      </a:pPr>
                      <a:r>
                        <a:rPr lang="en-US" sz="680" dirty="0">
                          <a:solidFill>
                            <a:srgbClr val="1E2A44"/>
                          </a:solidFill>
                          <a:latin typeface="Aptos" pitchFamily="34" charset="0"/>
                          <a:ea typeface="Aptos" pitchFamily="34" charset="-122"/>
                          <a:cs typeface="Aptos" pitchFamily="34" charset="-120"/>
                        </a:rPr>
                        <a:t>CJ paid, PROCESSING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Refuse (processing)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refusal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"This order is already being packed and can no longer be cancelled. You can return it once it arrives."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65760">
                <a:tc>
                  <a:txBody>
                    <a:bodyPr/>
                    <a:lstStyle/>
                    <a:p>
                      <a:pPr indent="0" marL="0">
                        <a:buNone/>
                      </a:pPr>
                      <a:r>
                        <a:rPr lang="en-US" sz="680" dirty="0">
                          <a:solidFill>
                            <a:srgbClr val="1E2A44"/>
                          </a:solidFill>
                          <a:latin typeface="Aptos" pitchFamily="34" charset="0"/>
                          <a:ea typeface="Aptos" pitchFamily="34" charset="-122"/>
                          <a:cs typeface="Aptos" pitchFamily="34" charset="-120"/>
                        </a:rPr>
                        <a:t>Not shipped after 7 days (late supply)</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Same as PENDING: request, review, CJ decides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Staff; auto after 12 h</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"Your order is running late. You can keep waiting, or ask us to cancel…"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65760">
                <a:tc>
                  <a:txBody>
                    <a:bodyPr/>
                    <a:lstStyle/>
                    <a:p>
                      <a:pPr indent="0" marL="0">
                        <a:buNone/>
                      </a:pPr>
                      <a:r>
                        <a:rPr lang="en-US" sz="680" dirty="0">
                          <a:solidFill>
                            <a:srgbClr val="1E2A44"/>
                          </a:solidFill>
                          <a:latin typeface="Aptos" pitchFamily="34" charset="0"/>
                          <a:ea typeface="Aptos" pitchFamily="34" charset="-122"/>
                          <a:cs typeface="Aptos" pitchFamily="34" charset="-120"/>
                        </a:rPr>
                        <a:t>SHIPPED / IN TRANSIT</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Refuse; return on arrival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refusal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"Already shipped. You can return it once it arrives."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65760">
                <a:tc>
                  <a:txBody>
                    <a:bodyPr/>
                    <a:lstStyle/>
                    <a:p>
                      <a:pPr indent="0" marL="0">
                        <a:buNone/>
                      </a:pPr>
                      <a:r>
                        <a:rPr lang="en-US" sz="680" dirty="0">
                          <a:solidFill>
                            <a:srgbClr val="1E2A44"/>
                          </a:solidFill>
                          <a:latin typeface="Aptos" pitchFamily="34" charset="0"/>
                          <a:ea typeface="Aptos" pitchFamily="34" charset="-122"/>
                          <a:cs typeface="Aptos" pitchFamily="34" charset="-120"/>
                        </a:rPr>
                        <a:t>DELIVERED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Refuse; Item Problem SOP</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refusal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"Delivered. Report a problem with the item instead."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65760">
                <a:tc>
                  <a:txBody>
                    <a:bodyPr/>
                    <a:lstStyle/>
                    <a:p>
                      <a:pPr indent="0" marL="0">
                        <a:buNone/>
                      </a:pPr>
                      <a:r>
                        <a:rPr lang="en-US" sz="680" dirty="0">
                          <a:solidFill>
                            <a:srgbClr val="1E2A44"/>
                          </a:solidFill>
                          <a:latin typeface="Aptos" pitchFamily="34" charset="0"/>
                          <a:ea typeface="Aptos" pitchFamily="34" charset="-122"/>
                          <a:cs typeface="Aptos" pitchFamily="34" charset="-120"/>
                        </a:rPr>
                        <a:t>Already CANCELLED / REQUESTED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No duplicate; show the existing record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Existing refund or request line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462272"/>
            <a:ext cx="8321040" cy="310896"/>
          </a:xfrm>
          <a:prstGeom prst="roundRect">
            <a:avLst>
              <a:gd name="adj" fmla="val 17647"/>
            </a:avLst>
          </a:prstGeom>
          <a:solidFill>
            <a:srgbClr val="FFF4DF"/>
          </a:solidFill>
          <a:ln w="9525">
            <a:solidFill>
              <a:srgbClr val="B8720A"/>
            </a:solidFill>
            <a:prstDash val="solid"/>
          </a:ln>
        </p:spPr>
      </p:sp>
      <p:sp>
        <p:nvSpPr>
          <p:cNvPr id="9" name="Text 6"/>
          <p:cNvSpPr txBox="1"/>
          <p:nvPr/>
        </p:nvSpPr>
        <p:spPr>
          <a:xfrm>
            <a:off x="640080" y="4462272"/>
            <a:ext cx="1005840" cy="310896"/>
          </a:xfrm>
          <a:prstGeom prst="rect">
            <a:avLst/>
          </a:prstGeom>
          <a:noFill/>
          <a:ln/>
        </p:spPr>
        <p:txBody>
          <a:bodyPr wrap="square" lIns="0" tIns="0" rIns="0" bIns="0" rtlCol="0" anchor="ctr"/>
          <a:lstStyle/>
          <a:p>
            <a:pPr indent="0" marL="0">
              <a:buNone/>
            </a:pPr>
            <a:r>
              <a:rPr lang="en-US" sz="650" b="1" dirty="0">
                <a:solidFill>
                  <a:srgbClr val="B8720A"/>
                </a:solidFill>
                <a:latin typeface="Aptos" pitchFamily="34" charset="0"/>
                <a:ea typeface="Aptos" pitchFamily="34" charset="-122"/>
                <a:cs typeface="Aptos" pitchFamily="34" charset="-120"/>
              </a:rPr>
              <a:t>NEXT SOP</a:t>
            </a:r>
            <a:endParaRPr lang="en-US" sz="650" dirty="0"/>
          </a:p>
        </p:txBody>
      </p:sp>
      <p:sp>
        <p:nvSpPr>
          <p:cNvPr id="10" name="Text 7"/>
          <p:cNvSpPr txBox="1"/>
          <p:nvPr/>
        </p:nvSpPr>
        <p:spPr>
          <a:xfrm>
            <a:off x="1600200" y="4462272"/>
            <a:ext cx="6949440" cy="310896"/>
          </a:xfrm>
          <a:prstGeom prst="rect">
            <a:avLst/>
          </a:prstGeom>
          <a:noFill/>
          <a:ln/>
        </p:spPr>
        <p:txBody>
          <a:bodyPr wrap="square" lIns="0" tIns="0" rIns="0" bIns="0" rtlCol="0" anchor="ctr"/>
          <a:lstStyle/>
          <a:p>
            <a:pPr indent="0" marL="0">
              <a:buNone/>
            </a:pPr>
            <a:r>
              <a:rPr lang="en-US" sz="850" b="1" dirty="0">
                <a:solidFill>
                  <a:srgbClr val="B8720A"/>
                </a:solidFill>
                <a:latin typeface="Aptos" pitchFamily="34" charset="0"/>
                <a:ea typeface="Aptos" pitchFamily="34" charset="-122"/>
                <a:cs typeface="Aptos" pitchFamily="34" charset="-120"/>
              </a:rPr>
              <a:t>After a refusal, hand over to Delivery, Return, Item Problem, Payment, Fraud or Legal SOP. Never leave the customer at "no".</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SALS3-INITIATED</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When Sals3 cancels the order, not the customer</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07</a:t>
            </a:r>
            <a:endParaRPr lang="en-US" sz="6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2011680"/>
                <a:gridCol w="2286000"/>
                <a:gridCol w="2194560"/>
                <a:gridCol w="1828800"/>
              </a:tblGrid>
              <a:tr h="411480">
                <a:tc>
                  <a:txBody>
                    <a:bodyPr/>
                    <a:lstStyle/>
                    <a:p>
                      <a:pPr indent="0" marL="0">
                        <a:buNone/>
                      </a:pPr>
                      <a:r>
                        <a:rPr lang="en-US" sz="700" b="1" dirty="0">
                          <a:solidFill>
                            <a:srgbClr val="FFFFFF"/>
                          </a:solidFill>
                          <a:latin typeface="Aptos" pitchFamily="34" charset="0"/>
                          <a:ea typeface="Aptos" pitchFamily="34" charset="-122"/>
                          <a:cs typeface="Aptos" pitchFamily="34" charset="-120"/>
                        </a:rPr>
                        <a:t>Trigger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Rule before CJ is paid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Rule after CJ is paid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Customer message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FULFILLMENT_FAILED (worker exhausted retries)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 full refund at once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Dispute first; refund on CJ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"We could not process your order." Refund line when it lands.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Variant out of stock at CJ after payment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 refund; offer a substitute only at the same price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Dispute first (CJ usually refunds stock-outs); refund on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"The item sold out."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Price or listing error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 refund. Never ask the customer for the difference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Dispute first; refund on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Apology + refund notice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Address unserviceable / CJ freight unavailable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Ask for a corrected address once (48 h); no reply → cancel +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Dispute first; refund on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"We need a corrected address to ship."</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Fraud or payment risk</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per Fraud SOP; refund unless a chargeback is open (ADR-005)</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Dispute first; refund per Fraud SOP</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Per Fraud SOP</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Wallet short &gt; 2 business days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Escalate to owner to top up; do not auto-cancel</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n/a</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None unless it becomes late supply</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114800"/>
            <a:ext cx="8321040" cy="329184"/>
          </a:xfrm>
          <a:prstGeom prst="roundRect">
            <a:avLst>
              <a:gd name="adj" fmla="val 16667"/>
            </a:avLst>
          </a:prstGeom>
          <a:solidFill>
            <a:srgbClr val="E6F0F8"/>
          </a:solidFill>
          <a:ln w="9525">
            <a:solidFill>
              <a:srgbClr val="0A5C8A"/>
            </a:solidFill>
            <a:prstDash val="solid"/>
          </a:ln>
        </p:spPr>
      </p:sp>
      <p:sp>
        <p:nvSpPr>
          <p:cNvPr id="9" name="Text 6"/>
          <p:cNvSpPr txBox="1"/>
          <p:nvPr/>
        </p:nvSpPr>
        <p:spPr>
          <a:xfrm>
            <a:off x="640080" y="4114800"/>
            <a:ext cx="1005840" cy="329184"/>
          </a:xfrm>
          <a:prstGeom prst="rect">
            <a:avLst/>
          </a:prstGeom>
          <a:noFill/>
          <a:ln/>
        </p:spPr>
        <p:txBody>
          <a:bodyPr wrap="square" lIns="0" tIns="0" rIns="0" bIns="0" rtlCol="0" anchor="ctr"/>
          <a:lstStyle/>
          <a:p>
            <a:pPr indent="0" marL="0">
              <a:buNone/>
            </a:pPr>
            <a:r>
              <a:rPr lang="en-US" sz="650" b="1" dirty="0">
                <a:solidFill>
                  <a:srgbClr val="0A5C8A"/>
                </a:solidFill>
                <a:latin typeface="Aptos" pitchFamily="34" charset="0"/>
                <a:ea typeface="Aptos" pitchFamily="34" charset="-122"/>
                <a:cs typeface="Aptos" pitchFamily="34" charset="-120"/>
              </a:rPr>
              <a:t>RECORD IT</a:t>
            </a:r>
            <a:endParaRPr lang="en-US" sz="650" dirty="0"/>
          </a:p>
        </p:txBody>
      </p:sp>
      <p:sp>
        <p:nvSpPr>
          <p:cNvPr id="10" name="Text 7"/>
          <p:cNvSpPr txBox="1"/>
          <p:nvPr/>
        </p:nvSpPr>
        <p:spPr>
          <a:xfrm>
            <a:off x="1600200" y="4114800"/>
            <a:ext cx="6949440" cy="329184"/>
          </a:xfrm>
          <a:prstGeom prst="rect">
            <a:avLst/>
          </a:prstGeom>
          <a:noFill/>
          <a:ln/>
        </p:spPr>
        <p:txBody>
          <a:bodyPr wrap="square" lIns="0" tIns="0" rIns="0" bIns="0" rtlCol="0" anchor="ctr"/>
          <a:lstStyle/>
          <a:p>
            <a:pPr indent="0" marL="0">
              <a:buNone/>
            </a:pPr>
            <a:r>
              <a:rPr lang="en-US" sz="850" b="1" dirty="0">
                <a:solidFill>
                  <a:srgbClr val="0A5C8A"/>
                </a:solidFill>
                <a:latin typeface="Aptos" pitchFamily="34" charset="0"/>
                <a:ea typeface="Aptos" pitchFamily="34" charset="-122"/>
                <a:cs typeface="Aptos" pitchFamily="34" charset="-120"/>
              </a:rPr>
              <a:t>Every Sals3-initiated cancel is an order_cancellations row with requested_by = SALS3, born "review allowed" (the person is the review). It counts as cancelled on the Customers profile but is not held against the customer.</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CUSTOMER JOURNEY</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What the customer sees at each state</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08</a:t>
            </a:r>
            <a:endParaRPr lang="en-US" sz="6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554480"/>
                <a:gridCol w="2743200"/>
                <a:gridCol w="1280160"/>
                <a:gridCol w="2743200"/>
              </a:tblGrid>
              <a:tr h="329184">
                <a:tc>
                  <a:txBody>
                    <a:bodyPr/>
                    <a:lstStyle/>
                    <a:p>
                      <a:pPr indent="0" marL="0">
                        <a:buNone/>
                      </a:pPr>
                      <a:r>
                        <a:rPr lang="en-US" sz="700" b="1" dirty="0">
                          <a:solidFill>
                            <a:srgbClr val="FFFFFF"/>
                          </a:solidFill>
                          <a:latin typeface="Aptos" pitchFamily="34" charset="0"/>
                          <a:ea typeface="Aptos" pitchFamily="34" charset="-122"/>
                          <a:cs typeface="Aptos" pitchFamily="34" charset="-120"/>
                        </a:rPr>
                        <a:t>State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Order page shows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Button</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After the click</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329184">
                <a:tc>
                  <a:txBody>
                    <a:bodyPr/>
                    <a:lstStyle/>
                    <a:p>
                      <a:pPr indent="0" marL="0">
                        <a:buNone/>
                      </a:pPr>
                      <a:r>
                        <a:rPr lang="en-US" sz="700" dirty="0">
                          <a:solidFill>
                            <a:srgbClr val="1E2A44"/>
                          </a:solidFill>
                          <a:latin typeface="Aptos" pitchFamily="34" charset="0"/>
                          <a:ea typeface="Aptos" pitchFamily="34" charset="-122"/>
                          <a:cs typeface="Aptos" pitchFamily="34" charset="-120"/>
                        </a:rPr>
                        <a:t>Hold window (24 h)</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"You can cancel for a full refund until &lt;time&gt; UTC"</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order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"Cancelled. The refund has been sent to the card that paid."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700" dirty="0">
                          <a:solidFill>
                            <a:srgbClr val="1E2A44"/>
                          </a:solidFill>
                          <a:latin typeface="Aptos" pitchFamily="34" charset="0"/>
                          <a:ea typeface="Aptos" pitchFamily="34" charset="-122"/>
                          <a:cs typeface="Aptos" pitchFamily="34" charset="-120"/>
                        </a:rPr>
                        <a:t>CJ UNPAID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Same sentence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order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Same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700" dirty="0">
                          <a:solidFill>
                            <a:srgbClr val="1E2A44"/>
                          </a:solidFill>
                          <a:latin typeface="Aptos" pitchFamily="34" charset="0"/>
                          <a:ea typeface="Aptos" pitchFamily="34" charset="-122"/>
                          <a:cs typeface="Aptos" pitchFamily="34" charset="-120"/>
                        </a:rPr>
                        <a:t>CJ paid, PENDING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"Your order is with the warehouse but has not started. You can ask us to cancel…"</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Request cancellation</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"Cancellation requested. We will confirm within 24 hours…" · status Cancellation requested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700" dirty="0">
                          <a:solidFill>
                            <a:srgbClr val="1E2A44"/>
                          </a:solidFill>
                          <a:latin typeface="Aptos" pitchFamily="34" charset="0"/>
                          <a:ea typeface="Aptos" pitchFamily="34" charset="-122"/>
                          <a:cs typeface="Aptos" pitchFamily="34" charset="-120"/>
                        </a:rPr>
                        <a:t>CJ paid, PROCESSING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"Being prepared"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(none)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Refusal sentence if attempted; return on arrival</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700" dirty="0">
                          <a:solidFill>
                            <a:srgbClr val="1E2A44"/>
                          </a:solidFill>
                          <a:latin typeface="Aptos" pitchFamily="34" charset="0"/>
                          <a:ea typeface="Aptos" pitchFamily="34" charset="-122"/>
                          <a:cs typeface="Aptos" pitchFamily="34" charset="-120"/>
                        </a:rPr>
                        <a:t>Late (day 7+, unshipped)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"Your order is running late…"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Request cancellation</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Same as PENDING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700" dirty="0">
                          <a:solidFill>
                            <a:srgbClr val="1E2A44"/>
                          </a:solidFill>
                          <a:latin typeface="Aptos" pitchFamily="34" charset="0"/>
                          <a:ea typeface="Aptos" pitchFamily="34" charset="-122"/>
                          <a:cs typeface="Aptos" pitchFamily="34" charset="-120"/>
                        </a:rPr>
                        <a:t>Declined / CJ rejected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"We could not cancel this order: the warehouse had already started…"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(none)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Order continues; return flow after delivery</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700" dirty="0">
                          <a:solidFill>
                            <a:srgbClr val="1E2A44"/>
                          </a:solidFill>
                          <a:latin typeface="Aptos" pitchFamily="34" charset="0"/>
                          <a:ea typeface="Aptos" pitchFamily="34" charset="-122"/>
                          <a:cs typeface="Aptos" pitchFamily="34" charset="-120"/>
                        </a:rPr>
                        <a:t>SHIPPED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"Shipped" + tracking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(none)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Return on arrival</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"Refunded" · Stripe refund reference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Refund status line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411480" y="4023360"/>
            <a:ext cx="8321040" cy="685800"/>
          </a:xfrm>
          <a:prstGeom prst="rect">
            <a:avLst/>
          </a:prstGeom>
          <a:noFill/>
          <a:ln/>
        </p:spPr>
        <p:txBody>
          <a:bodyPr wrap="square" lIns="0" tIns="0" rIns="0" bIns="0" rtlCol="0" anchor="t"/>
          <a:lstStyle/>
          <a:p>
            <a:pPr marL="127000" indent="-127000">
              <a:spcAft>
                <a:spcPts val="400"/>
              </a:spcAft>
              <a:buSzPct val="100000"/>
              <a:buChar char="•"/>
            </a:pPr>
            <a:r>
              <a:rPr lang="en-US" sz="780" dirty="0">
                <a:solidFill>
                  <a:srgbClr val="1E2A44"/>
                </a:solidFill>
                <a:latin typeface="Aptos" pitchFamily="34" charset="0"/>
                <a:ea typeface="Aptos" pitchFamily="34" charset="-122"/>
                <a:cs typeface="Aptos" pitchFamily="34" charset="-120"/>
              </a:rPr>
              <a:t>Checkout and receipt promise: "Changed your mind? You can cancel for a full refund within 24 hours of paying. After that you can still ask us to cancel while the warehouse has not started, and the refund follows the warehouse's answer. Once packing starts, the order can only be returned after it arrives."</a:t>
            </a:r>
            <a:endParaRPr lang="en-US" sz="780" dirty="0"/>
          </a:p>
          <a:p>
            <a:pPr marL="127000" indent="-127000">
              <a:spcAft>
                <a:spcPts val="400"/>
              </a:spcAft>
              <a:buSzPct val="100000"/>
              <a:buChar char="•"/>
            </a:pPr>
            <a:r>
              <a:rPr lang="en-US" sz="780" dirty="0">
                <a:solidFill>
                  <a:srgbClr val="1E2A44"/>
                </a:solidFill>
                <a:latin typeface="Aptos" pitchFamily="34" charset="0"/>
                <a:ea typeface="Aptos" pitchFamily="34" charset="-122"/>
                <a:cs typeface="Aptos" pitchFamily="34" charset="-120"/>
              </a:rPr>
              <a:t>One-tap reasons (changed mind, wrong item, found cheaper, delivery too slow, other) feed the record. Whole-order cancellation only.</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PORTAL</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What staff see and do</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09</a:t>
            </a:r>
            <a:endParaRPr lang="en-US" sz="650" dirty="0"/>
          </a:p>
        </p:txBody>
      </p:sp>
      <p:sp>
        <p:nvSpPr>
          <p:cNvPr id="7" name="Shape 5"/>
          <p:cNvSpPr/>
          <p:nvPr/>
        </p:nvSpPr>
        <p:spPr>
          <a:xfrm>
            <a:off x="411480" y="1051560"/>
            <a:ext cx="4023360" cy="2468880"/>
          </a:xfrm>
          <a:prstGeom prst="roundRect">
            <a:avLst>
              <a:gd name="adj" fmla="val 2222"/>
            </a:avLst>
          </a:prstGeom>
          <a:solidFill>
            <a:srgbClr val="FFFFFF"/>
          </a:solidFill>
          <a:ln w="9525">
            <a:solidFill>
              <a:srgbClr val="D7DCE2"/>
            </a:solidFill>
            <a:prstDash val="solid"/>
          </a:ln>
        </p:spPr>
      </p:sp>
      <p:sp>
        <p:nvSpPr>
          <p:cNvPr id="8" name="Text 6"/>
          <p:cNvSpPr txBox="1"/>
          <p:nvPr/>
        </p:nvSpPr>
        <p:spPr>
          <a:xfrm>
            <a:off x="594360" y="11430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Orders → Cancellation requests lane</a:t>
            </a:r>
            <a:endParaRPr lang="en-US" sz="1100" dirty="0"/>
          </a:p>
        </p:txBody>
      </p:sp>
      <p:sp>
        <p:nvSpPr>
          <p:cNvPr id="9" name="Text 7"/>
          <p:cNvSpPr txBox="1"/>
          <p:nvPr/>
        </p:nvSpPr>
        <p:spPr>
          <a:xfrm>
            <a:off x="594360" y="1463040"/>
            <a:ext cx="3657600" cy="196596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Every parcel whose customer asked to cancel (CANCEL_REQUESTED) sits in one accented lane with a count and a banner on every other lane.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Open the parcel → Cancellation panel → the request card: amount, reason, stage, the customer's note, "nothing has been refunded".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Buttons: Ask CJ to cancel · Decline (reason required, the customer reads it).</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History list shows every request: Awaiting Sals3 review → Waiting for supplier → Cancelled / Declined, with CJ dispute id and Stripe refund id.</a:t>
            </a:r>
            <a:endParaRPr lang="en-US" sz="800" dirty="0"/>
          </a:p>
        </p:txBody>
      </p:sp>
      <p:sp>
        <p:nvSpPr>
          <p:cNvPr id="10" name="Shape 8"/>
          <p:cNvSpPr/>
          <p:nvPr/>
        </p:nvSpPr>
        <p:spPr>
          <a:xfrm>
            <a:off x="4663440" y="1051560"/>
            <a:ext cx="4069080" cy="2468880"/>
          </a:xfrm>
          <a:prstGeom prst="roundRect">
            <a:avLst>
              <a:gd name="adj" fmla="val 2222"/>
            </a:avLst>
          </a:prstGeom>
          <a:solidFill>
            <a:srgbClr val="FFFFFF"/>
          </a:solidFill>
          <a:ln w="9525">
            <a:solidFill>
              <a:srgbClr val="D7DCE2"/>
            </a:solidFill>
            <a:prstDash val="solid"/>
          </a:ln>
        </p:spPr>
      </p:sp>
      <p:sp>
        <p:nvSpPr>
          <p:cNvPr id="11" name="Text 9"/>
          <p:cNvSpPr txBox="1"/>
          <p:nvPr/>
        </p:nvSpPr>
        <p:spPr>
          <a:xfrm>
            <a:off x="4846320" y="1143000"/>
            <a:ext cx="370332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Behind the buttons</a:t>
            </a:r>
            <a:endParaRPr lang="en-US" sz="1100" dirty="0"/>
          </a:p>
        </p:txBody>
      </p:sp>
      <p:sp>
        <p:nvSpPr>
          <p:cNvPr id="12" name="Text 10"/>
          <p:cNvSpPr txBox="1"/>
          <p:nvPr/>
        </p:nvSpPr>
        <p:spPr>
          <a:xfrm>
            <a:off x="4846320" y="1463040"/>
            <a:ext cx="3703320" cy="196596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Ask CJ: review_allowed_at set, dispute opened at once (disputeProducts → disputeConfirmInfo → create), then the settle run reads finallyDeal every 30 minutes.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Decline: request DECLINED, parcels back to the status sync, nothing refunded.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Nobody acted in 12 hours (SALS3_CANCELLATION_REVIEW_HOURS): the settle run sets review_allowed_at itself and asks CJ.</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Notifications: SALS3_OPS_NOTIFY_EMAIL (Resend) and SALS3_OPS_SLACK_WEBHOOK_URL, both optional.</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Customers → profile → Refunds tab lists every cancellation with its refund state.</a:t>
            </a:r>
            <a:endParaRPr lang="en-US" sz="800" dirty="0"/>
          </a:p>
        </p:txBody>
      </p:sp>
      <p:sp>
        <p:nvSpPr>
          <p:cNvPr id="13" name="Shape 11"/>
          <p:cNvSpPr/>
          <p:nvPr/>
        </p:nvSpPr>
        <p:spPr>
          <a:xfrm>
            <a:off x="411480" y="3657600"/>
            <a:ext cx="8321040" cy="329184"/>
          </a:xfrm>
          <a:prstGeom prst="roundRect">
            <a:avLst>
              <a:gd name="adj" fmla="val 16667"/>
            </a:avLst>
          </a:prstGeom>
          <a:solidFill>
            <a:srgbClr val="FFF4DF"/>
          </a:solidFill>
          <a:ln w="9525">
            <a:solidFill>
              <a:srgbClr val="B8720A"/>
            </a:solidFill>
            <a:prstDash val="solid"/>
          </a:ln>
        </p:spPr>
      </p:sp>
      <p:sp>
        <p:nvSpPr>
          <p:cNvPr id="14" name="Text 12"/>
          <p:cNvSpPr txBox="1"/>
          <p:nvPr/>
        </p:nvSpPr>
        <p:spPr>
          <a:xfrm>
            <a:off x="640080" y="3657600"/>
            <a:ext cx="1005840" cy="329184"/>
          </a:xfrm>
          <a:prstGeom prst="rect">
            <a:avLst/>
          </a:prstGeom>
          <a:noFill/>
          <a:ln/>
        </p:spPr>
        <p:txBody>
          <a:bodyPr wrap="square" lIns="0" tIns="0" rIns="0" bIns="0" rtlCol="0" anchor="ctr"/>
          <a:lstStyle/>
          <a:p>
            <a:pPr indent="0" marL="0">
              <a:buNone/>
            </a:pPr>
            <a:r>
              <a:rPr lang="en-US" sz="650" b="1" dirty="0">
                <a:solidFill>
                  <a:srgbClr val="B8720A"/>
                </a:solidFill>
                <a:latin typeface="Aptos" pitchFamily="34" charset="0"/>
                <a:ea typeface="Aptos" pitchFamily="34" charset="-122"/>
                <a:cs typeface="Aptos" pitchFamily="34" charset="-120"/>
              </a:rPr>
              <a:t>SLA</a:t>
            </a:r>
            <a:endParaRPr lang="en-US" sz="650" dirty="0"/>
          </a:p>
        </p:txBody>
      </p:sp>
      <p:sp>
        <p:nvSpPr>
          <p:cNvPr id="15" name="Text 13"/>
          <p:cNvSpPr txBox="1"/>
          <p:nvPr/>
        </p:nvSpPr>
        <p:spPr>
          <a:xfrm>
            <a:off x="1600200" y="3657600"/>
            <a:ext cx="6949440" cy="329184"/>
          </a:xfrm>
          <a:prstGeom prst="rect">
            <a:avLst/>
          </a:prstGeom>
          <a:noFill/>
          <a:ln/>
        </p:spPr>
        <p:txBody>
          <a:bodyPr wrap="square" lIns="0" tIns="0" rIns="0" bIns="0" rtlCol="0" anchor="ctr"/>
          <a:lstStyle/>
          <a:p>
            <a:pPr indent="0" marL="0">
              <a:buNone/>
            </a:pPr>
            <a:r>
              <a:rPr lang="en-US" sz="850" b="1" dirty="0">
                <a:solidFill>
                  <a:srgbClr val="B8720A"/>
                </a:solidFill>
                <a:latin typeface="Aptos" pitchFamily="34" charset="0"/>
                <a:ea typeface="Aptos" pitchFamily="34" charset="-122"/>
                <a:cs typeface="Aptos" pitchFamily="34" charset="-120"/>
              </a:rPr>
              <a:t>Decide within 12 hours. The safety net asks CJ for you after that; a late decision to Decline is then no longer possible.</a:t>
            </a:r>
            <a:endParaRPr lang="en-US" sz="850" dirty="0"/>
          </a:p>
        </p:txBody>
      </p:sp>
      <p:sp>
        <p:nvSpPr>
          <p:cNvPr id="16" name="Shape 14"/>
          <p:cNvSpPr/>
          <p:nvPr/>
        </p:nvSpPr>
        <p:spPr>
          <a:xfrm>
            <a:off x="411480" y="4069080"/>
            <a:ext cx="8321040" cy="329184"/>
          </a:xfrm>
          <a:prstGeom prst="roundRect">
            <a:avLst>
              <a:gd name="adj" fmla="val 16667"/>
            </a:avLst>
          </a:prstGeom>
          <a:solidFill>
            <a:srgbClr val="FDECEF"/>
          </a:solidFill>
          <a:ln w="9525">
            <a:solidFill>
              <a:srgbClr val="C8283C"/>
            </a:solidFill>
            <a:prstDash val="solid"/>
          </a:ln>
        </p:spPr>
      </p:sp>
      <p:sp>
        <p:nvSpPr>
          <p:cNvPr id="17" name="Text 15"/>
          <p:cNvSpPr txBox="1"/>
          <p:nvPr/>
        </p:nvSpPr>
        <p:spPr>
          <a:xfrm>
            <a:off x="640080" y="4069080"/>
            <a:ext cx="1005840" cy="329184"/>
          </a:xfrm>
          <a:prstGeom prst="rect">
            <a:avLst/>
          </a:prstGeom>
          <a:noFill/>
          <a:ln/>
        </p:spPr>
        <p:txBody>
          <a:bodyPr wrap="square" lIns="0" tIns="0" rIns="0" bIns="0" rtlCol="0" anchor="ctr"/>
          <a:lstStyle/>
          <a:p>
            <a:pPr indent="0" marL="0">
              <a:buNone/>
            </a:pPr>
            <a:r>
              <a:rPr lang="en-US" sz="650" b="1" dirty="0">
                <a:solidFill>
                  <a:srgbClr val="C8283C"/>
                </a:solidFill>
                <a:latin typeface="Aptos" pitchFamily="34" charset="0"/>
                <a:ea typeface="Aptos" pitchFamily="34" charset="-122"/>
                <a:cs typeface="Aptos" pitchFamily="34" charset="-120"/>
              </a:rPr>
              <a:t>NEVER</a:t>
            </a:r>
            <a:endParaRPr lang="en-US" sz="650" dirty="0"/>
          </a:p>
        </p:txBody>
      </p:sp>
      <p:sp>
        <p:nvSpPr>
          <p:cNvPr id="18" name="Text 16"/>
          <p:cNvSpPr txBox="1"/>
          <p:nvPr/>
        </p:nvSpPr>
        <p:spPr>
          <a:xfrm>
            <a:off x="1600200" y="4069080"/>
            <a:ext cx="6949440" cy="329184"/>
          </a:xfrm>
          <a:prstGeom prst="rect">
            <a:avLst/>
          </a:prstGeom>
          <a:noFill/>
          <a:ln/>
        </p:spPr>
        <p:txBody>
          <a:bodyPr wrap="square" lIns="0" tIns="0" rIns="0" bIns="0" rtlCol="0" anchor="ctr"/>
          <a:lstStyle/>
          <a:p>
            <a:pPr indent="0" marL="0">
              <a:buNone/>
            </a:pPr>
            <a:r>
              <a:rPr lang="en-US" sz="850" b="1" dirty="0">
                <a:solidFill>
                  <a:srgbClr val="C8283C"/>
                </a:solidFill>
                <a:latin typeface="Aptos" pitchFamily="34" charset="0"/>
                <a:ea typeface="Aptos" pitchFamily="34" charset="-122"/>
                <a:cs typeface="Aptos" pitchFamily="34" charset="-120"/>
              </a:rPr>
              <a:t>Refund from Stripe by hand while a dispute is open. The portal refunds on CJ REFUND; a hand refund breaks the record and risks paying twice.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MONEY</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Refund mechanics</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10</a:t>
            </a:r>
            <a:endParaRPr lang="en-US" sz="650" dirty="0"/>
          </a:p>
        </p:txBody>
      </p:sp>
      <p:sp>
        <p:nvSpPr>
          <p:cNvPr id="7" name="Shape 5"/>
          <p:cNvSpPr/>
          <p:nvPr/>
        </p:nvSpPr>
        <p:spPr>
          <a:xfrm>
            <a:off x="411480" y="1051560"/>
            <a:ext cx="4023360" cy="2606040"/>
          </a:xfrm>
          <a:prstGeom prst="roundRect">
            <a:avLst>
              <a:gd name="adj" fmla="val 2105"/>
            </a:avLst>
          </a:prstGeom>
          <a:solidFill>
            <a:srgbClr val="FFFFFF"/>
          </a:solidFill>
          <a:ln w="9525">
            <a:solidFill>
              <a:srgbClr val="D7DCE2"/>
            </a:solidFill>
            <a:prstDash val="solid"/>
          </a:ln>
        </p:spPr>
      </p:sp>
      <p:sp>
        <p:nvSpPr>
          <p:cNvPr id="8" name="Text 6"/>
          <p:cNvSpPr txBox="1"/>
          <p:nvPr/>
        </p:nvSpPr>
        <p:spPr>
          <a:xfrm>
            <a:off x="594360" y="11430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Customer side (Stripe)</a:t>
            </a:r>
            <a:endParaRPr lang="en-US" sz="1100" dirty="0"/>
          </a:p>
        </p:txBody>
      </p:sp>
      <p:sp>
        <p:nvSpPr>
          <p:cNvPr id="9" name="Text 7"/>
          <p:cNvSpPr txBox="1"/>
          <p:nvPr/>
        </p:nvSpPr>
        <p:spPr>
          <a:xfrm>
            <a:off x="594360" y="1463040"/>
            <a:ext cx="3657600" cy="210312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Full refund of the captured amount: items + shipping. No restocking fee for a cancellation.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Refund to the original payment method only, from the portal over Stripe's REST API, idempotent on the cancellation id.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Stripe refund id stored on the record and shown to the customer. payment_status → REFUNDED.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Partial refunds do not exist in this SOP. If part of an order shipped, it is a Return.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If a chargeback is already open (DISPUTED), do not refund; follow ADR-005.</a:t>
            </a:r>
            <a:endParaRPr lang="en-US" sz="800" dirty="0"/>
          </a:p>
        </p:txBody>
      </p:sp>
      <p:sp>
        <p:nvSpPr>
          <p:cNvPr id="10" name="Shape 8"/>
          <p:cNvSpPr/>
          <p:nvPr/>
        </p:nvSpPr>
        <p:spPr>
          <a:xfrm>
            <a:off x="4663440" y="1051560"/>
            <a:ext cx="4069080" cy="2606040"/>
          </a:xfrm>
          <a:prstGeom prst="roundRect">
            <a:avLst>
              <a:gd name="adj" fmla="val 2105"/>
            </a:avLst>
          </a:prstGeom>
          <a:solidFill>
            <a:srgbClr val="FFFFFF"/>
          </a:solidFill>
          <a:ln w="9525">
            <a:solidFill>
              <a:srgbClr val="D7DCE2"/>
            </a:solidFill>
            <a:prstDash val="solid"/>
          </a:ln>
        </p:spPr>
      </p:sp>
      <p:sp>
        <p:nvSpPr>
          <p:cNvPr id="11" name="Text 9"/>
          <p:cNvSpPr txBox="1"/>
          <p:nvPr/>
        </p:nvSpPr>
        <p:spPr>
          <a:xfrm>
            <a:off x="4846320" y="1143000"/>
            <a:ext cx="370332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Sals3 side (CJ wallet)</a:t>
            </a:r>
            <a:endParaRPr lang="en-US" sz="1100" dirty="0"/>
          </a:p>
        </p:txBody>
      </p:sp>
      <p:sp>
        <p:nvSpPr>
          <p:cNvPr id="12" name="Text 10"/>
          <p:cNvSpPr txBox="1"/>
          <p:nvPr/>
        </p:nvSpPr>
        <p:spPr>
          <a:xfrm>
            <a:off x="4846320" y="1463040"/>
            <a:ext cx="3703320" cy="210312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Hold window / UNPAID: nothing to recover. Zero cost beyond Stripe fees.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Paid PENDING cancelled via dispute: CJ credits the wallet (refundType 1) in 1–3 days, product + shipping; the record keeps disputeId and the CJ refund amount.</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No refund to the customer before that credit is decided. Sals3 never carries a rejected dispute.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Stripe fees are not recoverable. Accept this as the cost of the hold; measure it monthly.</a:t>
            </a:r>
            <a:endParaRPr lang="en-US" sz="800" dirty="0"/>
          </a:p>
        </p:txBody>
      </p:sp>
      <p:sp>
        <p:nvSpPr>
          <p:cNvPr id="13" name="Shape 11"/>
          <p:cNvSpPr/>
          <p:nvPr/>
        </p:nvSpPr>
        <p:spPr>
          <a:xfrm>
            <a:off x="411480" y="3794760"/>
            <a:ext cx="8321040" cy="329184"/>
          </a:xfrm>
          <a:prstGeom prst="roundRect">
            <a:avLst>
              <a:gd name="adj" fmla="val 16667"/>
            </a:avLst>
          </a:prstGeom>
          <a:solidFill>
            <a:srgbClr val="E3F6F0"/>
          </a:solidFill>
          <a:ln w="9525">
            <a:solidFill>
              <a:srgbClr val="0F8B6C"/>
            </a:solidFill>
            <a:prstDash val="solid"/>
          </a:ln>
        </p:spPr>
      </p:sp>
      <p:sp>
        <p:nvSpPr>
          <p:cNvPr id="14" name="Text 12"/>
          <p:cNvSpPr txBox="1"/>
          <p:nvPr/>
        </p:nvSpPr>
        <p:spPr>
          <a:xfrm>
            <a:off x="640080" y="379476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ONE RULE</a:t>
            </a:r>
            <a:endParaRPr lang="en-US" sz="650" dirty="0"/>
          </a:p>
        </p:txBody>
      </p:sp>
      <p:sp>
        <p:nvSpPr>
          <p:cNvPr id="15" name="Text 13"/>
          <p:cNvSpPr txBox="1"/>
          <p:nvPr/>
        </p:nvSpPr>
        <p:spPr>
          <a:xfrm>
            <a:off x="1600200" y="379476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Refund on the spot only while CJ has not been paid. After that, the refund follows CJ's REFUND, always.</a:t>
            </a:r>
            <a:endParaRPr lang="en-US" sz="850" dirty="0"/>
          </a:p>
        </p:txBody>
      </p:sp>
      <p:sp>
        <p:nvSpPr>
          <p:cNvPr id="16" name="Shape 14"/>
          <p:cNvSpPr/>
          <p:nvPr/>
        </p:nvSpPr>
        <p:spPr>
          <a:xfrm>
            <a:off x="411480" y="4206240"/>
            <a:ext cx="8321040" cy="329184"/>
          </a:xfrm>
          <a:prstGeom prst="roundRect">
            <a:avLst>
              <a:gd name="adj" fmla="val 16667"/>
            </a:avLst>
          </a:prstGeom>
          <a:solidFill>
            <a:srgbClr val="E3F6F0"/>
          </a:solidFill>
          <a:ln w="9525">
            <a:solidFill>
              <a:srgbClr val="0F8B6C"/>
            </a:solidFill>
            <a:prstDash val="solid"/>
          </a:ln>
        </p:spPr>
      </p:sp>
      <p:sp>
        <p:nvSpPr>
          <p:cNvPr id="17" name="Text 15"/>
          <p:cNvSpPr txBox="1"/>
          <p:nvPr/>
        </p:nvSpPr>
        <p:spPr>
          <a:xfrm>
            <a:off x="640080" y="420624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CONFIRMED 10 SEP</a:t>
            </a:r>
            <a:endParaRPr lang="en-US" sz="650" dirty="0"/>
          </a:p>
        </p:txBody>
      </p:sp>
      <p:sp>
        <p:nvSpPr>
          <p:cNvPr id="18" name="Text 16"/>
          <p:cNvSpPr txBox="1"/>
          <p:nvPr/>
        </p:nvSpPr>
        <p:spPr>
          <a:xfrm>
            <a:off x="1600200" y="420624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Dispute create works on this account, sandbox included (SH2609092134331295100). CJ refunds product + shipping on Unfulfilled Order Cancellation (5 of 5 to date).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DATA MODEL</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What gets recorded</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11</a:t>
            </a:r>
            <a:endParaRPr lang="en-US" sz="6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828800"/>
                <a:gridCol w="3931920"/>
                <a:gridCol w="2560320"/>
              </a:tblGrid>
              <a:tr h="502920">
                <a:tc>
                  <a:txBody>
                    <a:bodyPr/>
                    <a:lstStyle/>
                    <a:p>
                      <a:pPr indent="0" marL="0">
                        <a:buNone/>
                      </a:pPr>
                      <a:r>
                        <a:rPr lang="en-US" sz="680" b="1" dirty="0">
                          <a:solidFill>
                            <a:srgbClr val="FFFFFF"/>
                          </a:solidFill>
                          <a:latin typeface="Aptos" pitchFamily="34" charset="0"/>
                          <a:ea typeface="Aptos" pitchFamily="34" charset="-122"/>
                          <a:cs typeface="Aptos" pitchFamily="34" charset="-120"/>
                        </a:rPr>
                        <a:t>Object</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Fields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Notes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502920">
                <a:tc>
                  <a:txBody>
                    <a:bodyPr/>
                    <a:lstStyle/>
                    <a:p>
                      <a:pPr indent="0" marL="0">
                        <a:buNone/>
                      </a:pPr>
                      <a:r>
                        <a:rPr lang="en-US" sz="680" dirty="0">
                          <a:solidFill>
                            <a:srgbClr val="1E2A44"/>
                          </a:solidFill>
                          <a:latin typeface="Aptos" pitchFamily="34" charset="0"/>
                          <a:ea typeface="Aptos" pitchFamily="34" charset="-122"/>
                          <a:cs typeface="Aptos" pitchFamily="34" charset="-120"/>
                        </a:rPr>
                        <a:t>order_cancellations (drizzle 0039 + 0040)</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id · order_id · requested_by (BUYER | SALS3) · reason_code · stage_at_request · status (REQUESTED | APPROVED | DECLINED | CONVERTED_TO_RETURN) · refund_status (NOT_DUE | PENDING | ISSUED | FAILED) · refund_amount_minor · stripe refs · cj_order_id · cj_dispute_id · cj_dispute_outcome · cj_refund_amount_minor · decided_by/at · note · review_allowed_at · review_decided_by/at</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One row per request; one open request per order (partial unique index). review_allowed_at null = waiting for a person.</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502920">
                <a:tc>
                  <a:txBody>
                    <a:bodyPr/>
                    <a:lstStyle/>
                    <a:p>
                      <a:pPr indent="0" marL="0">
                        <a:buNone/>
                      </a:pPr>
                      <a:r>
                        <a:rPr lang="en-US" sz="680" dirty="0">
                          <a:solidFill>
                            <a:srgbClr val="1E2A44"/>
                          </a:solidFill>
                          <a:latin typeface="Aptos" pitchFamily="34" charset="0"/>
                          <a:ea typeface="Aptos" pitchFamily="34" charset="-122"/>
                          <a:cs typeface="Aptos" pitchFamily="34" charset="-120"/>
                        </a:rPr>
                        <a:t>fulfillment_groups.parcel_state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CANCEL_REQUESTED · CANCELLED (+ FULFILLING on decline)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The lane and the Customers module both read this column.</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502920">
                <a:tc>
                  <a:txBody>
                    <a:bodyPr/>
                    <a:lstStyle/>
                    <a:p>
                      <a:pPr indent="0" marL="0">
                        <a:buNone/>
                      </a:pPr>
                      <a:r>
                        <a:rPr lang="en-US" sz="680" dirty="0">
                          <a:solidFill>
                            <a:srgbClr val="1E2A44"/>
                          </a:solidFill>
                          <a:latin typeface="Aptos" pitchFamily="34" charset="0"/>
                          <a:ea typeface="Aptos" pitchFamily="34" charset="-122"/>
                          <a:cs typeface="Aptos" pitchFamily="34" charset="-120"/>
                        </a:rPr>
                        <a:t>sals3_orders.payment_status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 REFUNDED when Stripe confirms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Buyer page reads "Refunded".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502920">
                <a:tc>
                  <a:txBody>
                    <a:bodyPr/>
                    <a:lstStyle/>
                    <a:p>
                      <a:pPr indent="0" marL="0">
                        <a:buNone/>
                      </a:pPr>
                      <a:r>
                        <a:rPr lang="en-US" sz="680" dirty="0">
                          <a:solidFill>
                            <a:srgbClr val="1E2A44"/>
                          </a:solidFill>
                          <a:latin typeface="Aptos" pitchFamily="34" charset="0"/>
                          <a:ea typeface="Aptos" pitchFamily="34" charset="-122"/>
                          <a:cs typeface="Aptos" pitchFamily="34" charset="-120"/>
                        </a:rPr>
                        <a:t>Settle run</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GET /api/cron/cancellations-settle (:15, :45) · POST /api/internal/cancellations/settle by hand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Review gate → dispute → finallyDeal → refund; retries PENDING refunds.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502920">
                <a:tc>
                  <a:txBody>
                    <a:bodyPr/>
                    <a:lstStyle/>
                    <a:p>
                      <a:pPr indent="0" marL="0">
                        <a:buNone/>
                      </a:pPr>
                      <a:r>
                        <a:rPr lang="en-US" sz="680" dirty="0">
                          <a:solidFill>
                            <a:srgbClr val="1E2A44"/>
                          </a:solidFill>
                          <a:latin typeface="Aptos" pitchFamily="34" charset="0"/>
                          <a:ea typeface="Aptos" pitchFamily="34" charset="-122"/>
                          <a:cs typeface="Aptos" pitchFamily="34" charset="-120"/>
                        </a:rPr>
                        <a:t>Audit</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who decided, when, CJ reference, Stripe refund id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No deletes, ever.</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206240"/>
            <a:ext cx="8321040" cy="329184"/>
          </a:xfrm>
          <a:prstGeom prst="roundRect">
            <a:avLst>
              <a:gd name="adj" fmla="val 16667"/>
            </a:avLst>
          </a:prstGeom>
          <a:solidFill>
            <a:srgbClr val="E6F0F8"/>
          </a:solidFill>
          <a:ln w="9525">
            <a:solidFill>
              <a:srgbClr val="0A5C8A"/>
            </a:solidFill>
            <a:prstDash val="solid"/>
          </a:ln>
        </p:spPr>
      </p:sp>
      <p:sp>
        <p:nvSpPr>
          <p:cNvPr id="9" name="Text 6"/>
          <p:cNvSpPr txBox="1"/>
          <p:nvPr/>
        </p:nvSpPr>
        <p:spPr>
          <a:xfrm>
            <a:off x="640080" y="4206240"/>
            <a:ext cx="1005840" cy="329184"/>
          </a:xfrm>
          <a:prstGeom prst="rect">
            <a:avLst/>
          </a:prstGeom>
          <a:noFill/>
          <a:ln/>
        </p:spPr>
        <p:txBody>
          <a:bodyPr wrap="square" lIns="0" tIns="0" rIns="0" bIns="0" rtlCol="0" anchor="ctr"/>
          <a:lstStyle/>
          <a:p>
            <a:pPr indent="0" marL="0">
              <a:buNone/>
            </a:pPr>
            <a:r>
              <a:rPr lang="en-US" sz="650" b="1" dirty="0">
                <a:solidFill>
                  <a:srgbClr val="0A5C8A"/>
                </a:solidFill>
                <a:latin typeface="Aptos" pitchFamily="34" charset="0"/>
                <a:ea typeface="Aptos" pitchFamily="34" charset="-122"/>
                <a:cs typeface="Aptos" pitchFamily="34" charset="-120"/>
              </a:rPr>
              <a:t>DEPLOYED</a:t>
            </a:r>
            <a:endParaRPr lang="en-US" sz="650" dirty="0"/>
          </a:p>
        </p:txBody>
      </p:sp>
      <p:sp>
        <p:nvSpPr>
          <p:cNvPr id="10" name="Text 7"/>
          <p:cNvSpPr txBox="1"/>
          <p:nvPr/>
        </p:nvSpPr>
        <p:spPr>
          <a:xfrm>
            <a:off x="1600200" y="4206240"/>
            <a:ext cx="6949440" cy="329184"/>
          </a:xfrm>
          <a:prstGeom prst="rect">
            <a:avLst/>
          </a:prstGeom>
          <a:noFill/>
          <a:ln/>
        </p:spPr>
        <p:txBody>
          <a:bodyPr wrap="square" lIns="0" tIns="0" rIns="0" bIns="0" rtlCol="0" anchor="ctr"/>
          <a:lstStyle/>
          <a:p>
            <a:pPr indent="0" marL="0">
              <a:buNone/>
            </a:pPr>
            <a:r>
              <a:rPr lang="en-US" sz="850" b="1" dirty="0">
                <a:solidFill>
                  <a:srgbClr val="0A5C8A"/>
                </a:solidFill>
                <a:latin typeface="Aptos" pitchFamily="34" charset="0"/>
                <a:ea typeface="Aptos" pitchFamily="34" charset="-122"/>
                <a:cs typeface="Aptos" pitchFamily="34" charset="-120"/>
              </a:rPr>
              <a:t>SIT only on 10 Sep 2026 (portal + sals3.com + sals3.com.fj + sals3.com.au). Promotion to UAT and main is a separate owner decision under ADR-019.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GUARDRAILS</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Abuse, edge cases and what support may not do</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12</a:t>
            </a:r>
            <a:endParaRPr lang="en-US" sz="650" dirty="0"/>
          </a:p>
        </p:txBody>
      </p:sp>
      <p:sp>
        <p:nvSpPr>
          <p:cNvPr id="7" name="Shape 5"/>
          <p:cNvSpPr/>
          <p:nvPr/>
        </p:nvSpPr>
        <p:spPr>
          <a:xfrm>
            <a:off x="411480" y="1005840"/>
            <a:ext cx="2697480" cy="1737360"/>
          </a:xfrm>
          <a:prstGeom prst="roundRect">
            <a:avLst>
              <a:gd name="adj" fmla="val 3158"/>
            </a:avLst>
          </a:prstGeom>
          <a:solidFill>
            <a:srgbClr val="FFF4DF"/>
          </a:solidFill>
          <a:ln w="9525">
            <a:solidFill>
              <a:srgbClr val="B8720A"/>
            </a:solidFill>
            <a:prstDash val="solid"/>
          </a:ln>
        </p:spPr>
      </p:sp>
      <p:sp>
        <p:nvSpPr>
          <p:cNvPr id="8" name="Shape 6"/>
          <p:cNvSpPr/>
          <p:nvPr/>
        </p:nvSpPr>
        <p:spPr>
          <a:xfrm>
            <a:off x="576072" y="1161288"/>
            <a:ext cx="274320" cy="274320"/>
          </a:xfrm>
          <a:prstGeom prst="roundRect">
            <a:avLst>
              <a:gd name="adj" fmla="val 16667"/>
            </a:avLst>
          </a:prstGeom>
          <a:solidFill>
            <a:srgbClr val="B8720A"/>
          </a:solidFill>
          <a:ln w="12700">
            <a:solidFill>
              <a:srgbClr val="B8720A"/>
            </a:solidFill>
            <a:prstDash val="solid"/>
          </a:ln>
        </p:spPr>
      </p:sp>
      <p:sp>
        <p:nvSpPr>
          <p:cNvPr id="9" name="Text 7"/>
          <p:cNvSpPr txBox="1"/>
          <p:nvPr/>
        </p:nvSpPr>
        <p:spPr>
          <a:xfrm>
            <a:off x="576072"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A</a:t>
            </a:r>
            <a:endParaRPr lang="en-US" sz="650" dirty="0"/>
          </a:p>
        </p:txBody>
      </p:sp>
      <p:sp>
        <p:nvSpPr>
          <p:cNvPr id="10" name="Text 8"/>
          <p:cNvSpPr txBox="1"/>
          <p:nvPr/>
        </p:nvSpPr>
        <p:spPr>
          <a:xfrm>
            <a:off x="960120" y="1143000"/>
            <a:ext cx="2011680" cy="310896"/>
          </a:xfrm>
          <a:prstGeom prst="rect">
            <a:avLst/>
          </a:prstGeom>
          <a:noFill/>
          <a:ln/>
        </p:spPr>
        <p:txBody>
          <a:bodyPr wrap="square" lIns="0" tIns="0" rIns="0" bIns="0" rtlCol="0" anchor="ctr"/>
          <a:lstStyle/>
          <a:p>
            <a:pPr indent="0" marL="0">
              <a:buNone/>
            </a:pPr>
            <a:r>
              <a:rPr lang="en-US" sz="1100" b="1" dirty="0">
                <a:solidFill>
                  <a:srgbClr val="B8720A"/>
                </a:solidFill>
                <a:latin typeface="Aptos" pitchFamily="34" charset="0"/>
                <a:ea typeface="Aptos" pitchFamily="34" charset="-122"/>
                <a:cs typeface="Aptos" pitchFamily="34" charset="-120"/>
              </a:rPr>
              <a:t>Repeat cancellers</a:t>
            </a:r>
            <a:endParaRPr lang="en-US" sz="1100" dirty="0"/>
          </a:p>
        </p:txBody>
      </p:sp>
      <p:sp>
        <p:nvSpPr>
          <p:cNvPr id="11" name="Text 9"/>
          <p:cNvSpPr txBox="1"/>
          <p:nvPr/>
        </p:nvSpPr>
        <p:spPr>
          <a:xfrm>
            <a:off x="576072" y="1508760"/>
            <a:ext cx="2368296" cy="68580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Customers profile shows % cancelled and count. WATCH at 3 in 30 days, RESTRICTED at 5. Restricted buyers keep the hold-window right; support sees the flag on the request.</a:t>
            </a:r>
            <a:endParaRPr lang="en-US" sz="780" dirty="0"/>
          </a:p>
        </p:txBody>
      </p:sp>
      <p:sp>
        <p:nvSpPr>
          <p:cNvPr id="12" name="Shape 10"/>
          <p:cNvSpPr/>
          <p:nvPr/>
        </p:nvSpPr>
        <p:spPr>
          <a:xfrm>
            <a:off x="576072" y="2286000"/>
            <a:ext cx="2368296" cy="292608"/>
          </a:xfrm>
          <a:prstGeom prst="roundRect">
            <a:avLst>
              <a:gd name="adj" fmla="val 15625"/>
            </a:avLst>
          </a:prstGeom>
          <a:solidFill>
            <a:srgbClr val="FFFFFF"/>
          </a:solidFill>
          <a:ln w="9525">
            <a:solidFill>
              <a:srgbClr val="B8720A"/>
            </a:solidFill>
            <a:prstDash val="solid"/>
          </a:ln>
        </p:spPr>
      </p:sp>
      <p:sp>
        <p:nvSpPr>
          <p:cNvPr id="13" name="Text 11"/>
          <p:cNvSpPr txBox="1"/>
          <p:nvPr/>
        </p:nvSpPr>
        <p:spPr>
          <a:xfrm>
            <a:off x="576072" y="2286000"/>
            <a:ext cx="2368296" cy="292608"/>
          </a:xfrm>
          <a:prstGeom prst="rect">
            <a:avLst/>
          </a:prstGeom>
          <a:noFill/>
          <a:ln/>
        </p:spPr>
        <p:txBody>
          <a:bodyPr wrap="square" lIns="0" tIns="0" rIns="0" bIns="0" rtlCol="0" anchor="ctr"/>
          <a:lstStyle/>
          <a:p>
            <a:pPr algn="ctr" indent="0" marL="0">
              <a:buNone/>
            </a:pPr>
            <a:r>
              <a:rPr lang="en-US" sz="750" b="1" dirty="0">
                <a:solidFill>
                  <a:srgbClr val="B8720A"/>
                </a:solidFill>
                <a:latin typeface="Aptos" pitchFamily="34" charset="0"/>
                <a:ea typeface="Aptos" pitchFamily="34" charset="-122"/>
                <a:cs typeface="Aptos" pitchFamily="34" charset="-120"/>
              </a:rPr>
              <a:t>Flag, never punish silently</a:t>
            </a:r>
            <a:endParaRPr lang="en-US" sz="750" dirty="0"/>
          </a:p>
        </p:txBody>
      </p:sp>
      <p:sp>
        <p:nvSpPr>
          <p:cNvPr id="14" name="Shape 12"/>
          <p:cNvSpPr/>
          <p:nvPr/>
        </p:nvSpPr>
        <p:spPr>
          <a:xfrm>
            <a:off x="3218688" y="1005840"/>
            <a:ext cx="2697480" cy="1737360"/>
          </a:xfrm>
          <a:prstGeom prst="roundRect">
            <a:avLst>
              <a:gd name="adj" fmla="val 3158"/>
            </a:avLst>
          </a:prstGeom>
          <a:solidFill>
            <a:srgbClr val="E6F0F8"/>
          </a:solidFill>
          <a:ln w="9525">
            <a:solidFill>
              <a:srgbClr val="0A5C8A"/>
            </a:solidFill>
            <a:prstDash val="solid"/>
          </a:ln>
        </p:spPr>
      </p:sp>
      <p:sp>
        <p:nvSpPr>
          <p:cNvPr id="15" name="Shape 13"/>
          <p:cNvSpPr/>
          <p:nvPr/>
        </p:nvSpPr>
        <p:spPr>
          <a:xfrm>
            <a:off x="3383280" y="1161288"/>
            <a:ext cx="274320" cy="274320"/>
          </a:xfrm>
          <a:prstGeom prst="roundRect">
            <a:avLst>
              <a:gd name="adj" fmla="val 16667"/>
            </a:avLst>
          </a:prstGeom>
          <a:solidFill>
            <a:srgbClr val="0A5C8A"/>
          </a:solidFill>
          <a:ln w="12700">
            <a:solidFill>
              <a:srgbClr val="0A5C8A"/>
            </a:solidFill>
            <a:prstDash val="solid"/>
          </a:ln>
        </p:spPr>
      </p:sp>
      <p:sp>
        <p:nvSpPr>
          <p:cNvPr id="16" name="Text 14"/>
          <p:cNvSpPr txBox="1"/>
          <p:nvPr/>
        </p:nvSpPr>
        <p:spPr>
          <a:xfrm>
            <a:off x="3383280"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B</a:t>
            </a:r>
            <a:endParaRPr lang="en-US" sz="650" dirty="0"/>
          </a:p>
        </p:txBody>
      </p:sp>
      <p:sp>
        <p:nvSpPr>
          <p:cNvPr id="17" name="Text 15"/>
          <p:cNvSpPr txBox="1"/>
          <p:nvPr/>
        </p:nvSpPr>
        <p:spPr>
          <a:xfrm>
            <a:off x="3767328" y="1143000"/>
            <a:ext cx="2011680" cy="310896"/>
          </a:xfrm>
          <a:prstGeom prst="rect">
            <a:avLst/>
          </a:prstGeom>
          <a:noFill/>
          <a:ln/>
        </p:spPr>
        <p:txBody>
          <a:bodyPr wrap="square" lIns="0" tIns="0" rIns="0" bIns="0" rtlCol="0" anchor="ctr"/>
          <a:lstStyle/>
          <a:p>
            <a:pPr indent="0" marL="0">
              <a:buNone/>
            </a:pPr>
            <a:r>
              <a:rPr lang="en-US" sz="1100" b="1" dirty="0">
                <a:solidFill>
                  <a:srgbClr val="0A5C8A"/>
                </a:solidFill>
                <a:latin typeface="Aptos" pitchFamily="34" charset="0"/>
                <a:ea typeface="Aptos" pitchFamily="34" charset="-122"/>
                <a:cs typeface="Aptos" pitchFamily="34" charset="-120"/>
              </a:rPr>
              <a:t>Race with the worker</a:t>
            </a:r>
            <a:endParaRPr lang="en-US" sz="1100" dirty="0"/>
          </a:p>
        </p:txBody>
      </p:sp>
      <p:sp>
        <p:nvSpPr>
          <p:cNvPr id="18" name="Text 16"/>
          <p:cNvSpPr txBox="1"/>
          <p:nvPr/>
        </p:nvSpPr>
        <p:spPr>
          <a:xfrm>
            <a:off x="3383280" y="1508760"/>
            <a:ext cx="2368296" cy="68580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Customer cancels as the hold expires. The cancel action locks the order row and re-reads state; the paying half re-reads the parcel before paying CJ. Proven on SIT.</a:t>
            </a:r>
            <a:endParaRPr lang="en-US" sz="780" dirty="0"/>
          </a:p>
        </p:txBody>
      </p:sp>
      <p:sp>
        <p:nvSpPr>
          <p:cNvPr id="19" name="Shape 17"/>
          <p:cNvSpPr/>
          <p:nvPr/>
        </p:nvSpPr>
        <p:spPr>
          <a:xfrm>
            <a:off x="3383280" y="2286000"/>
            <a:ext cx="2368296" cy="292608"/>
          </a:xfrm>
          <a:prstGeom prst="roundRect">
            <a:avLst>
              <a:gd name="adj" fmla="val 15625"/>
            </a:avLst>
          </a:prstGeom>
          <a:solidFill>
            <a:srgbClr val="FFFFFF"/>
          </a:solidFill>
          <a:ln w="9525">
            <a:solidFill>
              <a:srgbClr val="0A5C8A"/>
            </a:solidFill>
            <a:prstDash val="solid"/>
          </a:ln>
        </p:spPr>
      </p:sp>
      <p:sp>
        <p:nvSpPr>
          <p:cNvPr id="20" name="Text 18"/>
          <p:cNvSpPr txBox="1"/>
          <p:nvPr/>
        </p:nvSpPr>
        <p:spPr>
          <a:xfrm>
            <a:off x="3383280" y="2286000"/>
            <a:ext cx="2368296" cy="292608"/>
          </a:xfrm>
          <a:prstGeom prst="rect">
            <a:avLst/>
          </a:prstGeom>
          <a:noFill/>
          <a:ln/>
        </p:spPr>
        <p:txBody>
          <a:bodyPr wrap="square" lIns="0" tIns="0" rIns="0" bIns="0" rtlCol="0" anchor="ctr"/>
          <a:lstStyle/>
          <a:p>
            <a:pPr algn="ctr" indent="0" marL="0">
              <a:buNone/>
            </a:pPr>
            <a:r>
              <a:rPr lang="en-US" sz="750" b="1" dirty="0">
                <a:solidFill>
                  <a:srgbClr val="0A5C8A"/>
                </a:solidFill>
                <a:latin typeface="Aptos" pitchFamily="34" charset="0"/>
                <a:ea typeface="Aptos" pitchFamily="34" charset="-122"/>
                <a:cs typeface="Aptos" pitchFamily="34" charset="-120"/>
              </a:rPr>
              <a:t>No double refund, no orphan paid order</a:t>
            </a:r>
            <a:endParaRPr lang="en-US" sz="750" dirty="0"/>
          </a:p>
        </p:txBody>
      </p:sp>
      <p:sp>
        <p:nvSpPr>
          <p:cNvPr id="21" name="Shape 19"/>
          <p:cNvSpPr/>
          <p:nvPr/>
        </p:nvSpPr>
        <p:spPr>
          <a:xfrm>
            <a:off x="6025896" y="1005840"/>
            <a:ext cx="2697480" cy="1737360"/>
          </a:xfrm>
          <a:prstGeom prst="roundRect">
            <a:avLst>
              <a:gd name="adj" fmla="val 3158"/>
            </a:avLst>
          </a:prstGeom>
          <a:solidFill>
            <a:srgbClr val="E6F0F8"/>
          </a:solidFill>
          <a:ln w="9525">
            <a:solidFill>
              <a:srgbClr val="0A5C8A"/>
            </a:solidFill>
            <a:prstDash val="solid"/>
          </a:ln>
        </p:spPr>
      </p:sp>
      <p:sp>
        <p:nvSpPr>
          <p:cNvPr id="22" name="Shape 20"/>
          <p:cNvSpPr/>
          <p:nvPr/>
        </p:nvSpPr>
        <p:spPr>
          <a:xfrm>
            <a:off x="6190488" y="1161288"/>
            <a:ext cx="274320" cy="274320"/>
          </a:xfrm>
          <a:prstGeom prst="roundRect">
            <a:avLst>
              <a:gd name="adj" fmla="val 16667"/>
            </a:avLst>
          </a:prstGeom>
          <a:solidFill>
            <a:srgbClr val="0A5C8A"/>
          </a:solidFill>
          <a:ln w="12700">
            <a:solidFill>
              <a:srgbClr val="0A5C8A"/>
            </a:solidFill>
            <a:prstDash val="solid"/>
          </a:ln>
        </p:spPr>
      </p:sp>
      <p:sp>
        <p:nvSpPr>
          <p:cNvPr id="23" name="Text 21"/>
          <p:cNvSpPr txBox="1"/>
          <p:nvPr/>
        </p:nvSpPr>
        <p:spPr>
          <a:xfrm>
            <a:off x="6190488"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C</a:t>
            </a:r>
            <a:endParaRPr lang="en-US" sz="650" dirty="0"/>
          </a:p>
        </p:txBody>
      </p:sp>
      <p:sp>
        <p:nvSpPr>
          <p:cNvPr id="24" name="Text 22"/>
          <p:cNvSpPr txBox="1"/>
          <p:nvPr/>
        </p:nvSpPr>
        <p:spPr>
          <a:xfrm>
            <a:off x="6574536" y="1143000"/>
            <a:ext cx="2011680" cy="310896"/>
          </a:xfrm>
          <a:prstGeom prst="rect">
            <a:avLst/>
          </a:prstGeom>
          <a:noFill/>
          <a:ln/>
        </p:spPr>
        <p:txBody>
          <a:bodyPr wrap="square" lIns="0" tIns="0" rIns="0" bIns="0" rtlCol="0" anchor="ctr"/>
          <a:lstStyle/>
          <a:p>
            <a:pPr indent="0" marL="0">
              <a:buNone/>
            </a:pPr>
            <a:r>
              <a:rPr lang="en-US" sz="1100" b="1" dirty="0">
                <a:solidFill>
                  <a:srgbClr val="0A5C8A"/>
                </a:solidFill>
                <a:latin typeface="Aptos" pitchFamily="34" charset="0"/>
                <a:ea typeface="Aptos" pitchFamily="34" charset="-122"/>
                <a:cs typeface="Aptos" pitchFamily="34" charset="-120"/>
              </a:rPr>
              <a:t>CJ ships after approving</a:t>
            </a:r>
            <a:endParaRPr lang="en-US" sz="1100" dirty="0"/>
          </a:p>
        </p:txBody>
      </p:sp>
      <p:sp>
        <p:nvSpPr>
          <p:cNvPr id="25" name="Text 23"/>
          <p:cNvSpPr txBox="1"/>
          <p:nvPr/>
        </p:nvSpPr>
        <p:spPr>
          <a:xfrm>
            <a:off x="6190488" y="1508760"/>
            <a:ext cx="2368296" cy="68580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CJ answered REFUND but the parcel still ships. The customer keeps the refund; the parcel becomes a return on arrival at Sals3's cost.</a:t>
            </a:r>
            <a:endParaRPr lang="en-US" sz="780" dirty="0"/>
          </a:p>
        </p:txBody>
      </p:sp>
      <p:sp>
        <p:nvSpPr>
          <p:cNvPr id="26" name="Shape 24"/>
          <p:cNvSpPr/>
          <p:nvPr/>
        </p:nvSpPr>
        <p:spPr>
          <a:xfrm>
            <a:off x="6190488" y="2286000"/>
            <a:ext cx="2368296" cy="292608"/>
          </a:xfrm>
          <a:prstGeom prst="roundRect">
            <a:avLst>
              <a:gd name="adj" fmla="val 15625"/>
            </a:avLst>
          </a:prstGeom>
          <a:solidFill>
            <a:srgbClr val="FFFFFF"/>
          </a:solidFill>
          <a:ln w="9525">
            <a:solidFill>
              <a:srgbClr val="0A5C8A"/>
            </a:solidFill>
            <a:prstDash val="solid"/>
          </a:ln>
        </p:spPr>
      </p:sp>
      <p:sp>
        <p:nvSpPr>
          <p:cNvPr id="27" name="Text 25"/>
          <p:cNvSpPr txBox="1"/>
          <p:nvPr/>
        </p:nvSpPr>
        <p:spPr>
          <a:xfrm>
            <a:off x="6190488" y="2286000"/>
            <a:ext cx="2368296" cy="292608"/>
          </a:xfrm>
          <a:prstGeom prst="rect">
            <a:avLst/>
          </a:prstGeom>
          <a:noFill/>
          <a:ln/>
        </p:spPr>
        <p:txBody>
          <a:bodyPr wrap="square" lIns="0" tIns="0" rIns="0" bIns="0" rtlCol="0" anchor="ctr"/>
          <a:lstStyle/>
          <a:p>
            <a:pPr algn="ctr" indent="0" marL="0">
              <a:buNone/>
            </a:pPr>
            <a:r>
              <a:rPr lang="en-US" sz="750" b="1" dirty="0">
                <a:solidFill>
                  <a:srgbClr val="0A5C8A"/>
                </a:solidFill>
                <a:latin typeface="Aptos" pitchFamily="34" charset="0"/>
                <a:ea typeface="Aptos" pitchFamily="34" charset="-122"/>
                <a:cs typeface="Aptos" pitchFamily="34" charset="-120"/>
              </a:rPr>
              <a:t>Customer is never charged twice</a:t>
            </a:r>
            <a:endParaRPr lang="en-US" sz="750" dirty="0"/>
          </a:p>
        </p:txBody>
      </p:sp>
      <p:sp>
        <p:nvSpPr>
          <p:cNvPr id="28" name="Text 26"/>
          <p:cNvSpPr txBox="1"/>
          <p:nvPr/>
        </p:nvSpPr>
        <p:spPr>
          <a:xfrm>
            <a:off x="484632" y="2926080"/>
            <a:ext cx="3657600" cy="274320"/>
          </a:xfrm>
          <a:prstGeom prst="rect">
            <a:avLst/>
          </a:prstGeom>
          <a:noFill/>
          <a:ln/>
        </p:spPr>
        <p:txBody>
          <a:bodyPr wrap="square" lIns="0" tIns="0" rIns="0" bIns="0" rtlCol="0" anchor="ctr"/>
          <a:lstStyle/>
          <a:p>
            <a:pPr indent="0" marL="0">
              <a:buNone/>
            </a:pPr>
            <a:r>
              <a:rPr lang="en-US" sz="1100" b="1" dirty="0">
                <a:solidFill>
                  <a:srgbClr val="C8283C"/>
                </a:solidFill>
                <a:latin typeface="Aptos" pitchFamily="34" charset="0"/>
                <a:ea typeface="Aptos" pitchFamily="34" charset="-122"/>
                <a:cs typeface="Aptos" pitchFamily="34" charset="-120"/>
              </a:rPr>
              <a:t>Support may not</a:t>
            </a:r>
            <a:endParaRPr lang="en-US" sz="1100" dirty="0"/>
          </a:p>
        </p:txBody>
      </p:sp>
      <p:sp>
        <p:nvSpPr>
          <p:cNvPr id="29" name="Text 27"/>
          <p:cNvSpPr txBox="1"/>
          <p:nvPr/>
        </p:nvSpPr>
        <p:spPr>
          <a:xfrm>
            <a:off x="484632" y="3200400"/>
            <a:ext cx="3931920" cy="128016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Decline a cancel while CJ has not been paid, for any reason.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Refund a paid order before CJ answers REFUND.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Issue store credit instead of a card refund.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Change or delete an order_cancellations row.</a:t>
            </a:r>
            <a:endParaRPr lang="en-US" sz="800" dirty="0"/>
          </a:p>
        </p:txBody>
      </p:sp>
      <p:sp>
        <p:nvSpPr>
          <p:cNvPr id="30" name="Text 28"/>
          <p:cNvSpPr txBox="1"/>
          <p:nvPr/>
        </p:nvSpPr>
        <p:spPr>
          <a:xfrm>
            <a:off x="4663440" y="2926080"/>
            <a:ext cx="3657600" cy="274320"/>
          </a:xfrm>
          <a:prstGeom prst="rect">
            <a:avLst/>
          </a:prstGeom>
          <a:noFill/>
          <a:ln/>
        </p:spPr>
        <p:txBody>
          <a:bodyPr wrap="square" lIns="0" tIns="0" rIns="0" bIns="0" rtlCol="0" anchor="ctr"/>
          <a:lstStyle/>
          <a:p>
            <a:pPr indent="0" marL="0">
              <a:buNone/>
            </a:pPr>
            <a:r>
              <a:rPr lang="en-US" sz="1100" b="1" dirty="0">
                <a:solidFill>
                  <a:srgbClr val="0F8B6C"/>
                </a:solidFill>
                <a:latin typeface="Aptos" pitchFamily="34" charset="0"/>
                <a:ea typeface="Aptos" pitchFamily="34" charset="-122"/>
                <a:cs typeface="Aptos" pitchFamily="34" charset="-120"/>
              </a:rPr>
              <a:t>Support must</a:t>
            </a:r>
            <a:endParaRPr lang="en-US" sz="1100" dirty="0"/>
          </a:p>
        </p:txBody>
      </p:sp>
      <p:sp>
        <p:nvSpPr>
          <p:cNvPr id="31" name="Text 29"/>
          <p:cNvSpPr txBox="1"/>
          <p:nvPr/>
        </p:nvSpPr>
        <p:spPr>
          <a:xfrm>
            <a:off x="4663440" y="3200400"/>
            <a:ext cx="3931920" cy="128016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Decide every request in the lane within 12 hours: Ask CJ, or Decline with a reason.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Read the Customers profile before a discretionary decline.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Check the CJ wallet credit landed within 3 business days of a REFUND.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Hand a declined customer to the Return path, never to "no".</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DECISIONS</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Closed on 10 Sep 2026</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13</a:t>
            </a:r>
            <a:endParaRPr lang="en-US" sz="6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274320"/>
                <a:gridCol w="1737360"/>
                <a:gridCol w="2651760"/>
                <a:gridCol w="3657600"/>
              </a:tblGrid>
              <a:tr h="384048">
                <a:tc>
                  <a:txBody>
                    <a:bodyPr/>
                    <a:lstStyle/>
                    <a:p>
                      <a:pPr indent="0" marL="0">
                        <a:buNone/>
                      </a:pPr>
                      <a:r>
                        <a:rPr lang="en-US" sz="680" b="1" dirty="0">
                          <a:solidFill>
                            <a:srgbClr val="FFFFFF"/>
                          </a:solidFill>
                          <a:latin typeface="Aptos" pitchFamily="34" charset="0"/>
                          <a:ea typeface="Aptos" pitchFamily="34" charset="-122"/>
                          <a:cs typeface="Aptos" pitchFamily="34" charset="-120"/>
                        </a:rPr>
                        <a:t>#</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Decision</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Final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Evidence / reason</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384048">
                <a:tc>
                  <a:txBody>
                    <a:bodyPr/>
                    <a:lstStyle/>
                    <a:p>
                      <a:pPr indent="0" marL="0">
                        <a:buNone/>
                      </a:pPr>
                      <a:r>
                        <a:rPr lang="en-US" sz="680" dirty="0">
                          <a:solidFill>
                            <a:srgbClr val="1E2A44"/>
                          </a:solidFill>
                          <a:latin typeface="Aptos" pitchFamily="34" charset="0"/>
                          <a:ea typeface="Aptos" pitchFamily="34" charset="-122"/>
                          <a:cs typeface="Aptos" pitchFamily="34" charset="-120"/>
                        </a:rPr>
                        <a:t>1</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Hold window length</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24 hours (SIT 7 minutes)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Owner decision. A full day of slack with zero wallet exposure; delivery moves by a day.</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680" dirty="0">
                          <a:solidFill>
                            <a:srgbClr val="1E2A44"/>
                          </a:solidFill>
                          <a:latin typeface="Aptos" pitchFamily="34" charset="0"/>
                          <a:ea typeface="Aptos" pitchFamily="34" charset="-122"/>
                          <a:cs typeface="Aptos" pitchFamily="34" charset="-120"/>
                        </a:rPr>
                        <a:t>2</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Stripe capture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Capture at checkout; every cancel is a refund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Stripe keeps its fee on refunds; auth-and-capture deferred until hold-window refunds cost more than ~AUD 50 a month.</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680" dirty="0">
                          <a:solidFill>
                            <a:srgbClr val="1E2A44"/>
                          </a:solidFill>
                          <a:latin typeface="Aptos" pitchFamily="34" charset="0"/>
                          <a:ea typeface="Aptos" pitchFamily="34" charset="-122"/>
                          <a:cs typeface="Aptos" pitchFamily="34" charset="-120"/>
                        </a:rPr>
                        <a:t>3</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Paid, CJ Pending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Request → Sals3 review → CJ dispute → refund on REFUND only</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First SIT disputes showed the portal could not see a rejection after an instant refund. Money follows CJ now.</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680" dirty="0">
                          <a:solidFill>
                            <a:srgbClr val="1E2A44"/>
                          </a:solidFill>
                          <a:latin typeface="Aptos" pitchFamily="34" charset="0"/>
                          <a:ea typeface="Aptos" pitchFamily="34" charset="-122"/>
                          <a:cs typeface="Aptos" pitchFamily="34" charset="-120"/>
                        </a:rPr>
                        <a:t>4</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Paid, CJ Processing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Closed. Return on arrival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Owner: "pag nagpa-pack na, wala nang way to cancel".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680" dirty="0">
                          <a:solidFill>
                            <a:srgbClr val="1E2A44"/>
                          </a:solidFill>
                          <a:latin typeface="Aptos" pitchFamily="34" charset="0"/>
                          <a:ea typeface="Aptos" pitchFamily="34" charset="-122"/>
                          <a:cs typeface="Aptos" pitchFamily="34" charset="-120"/>
                        </a:rPr>
                        <a:t>5</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Who approves a request</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 person in the Cancellation requests lane; the portal asks CJ itself after 12 hours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Low volume today; the safety net stops a request ageing into Processing.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680" dirty="0">
                          <a:solidFill>
                            <a:srgbClr val="1E2A44"/>
                          </a:solidFill>
                          <a:latin typeface="Aptos" pitchFamily="34" charset="0"/>
                          <a:ea typeface="Aptos" pitchFamily="34" charset="-122"/>
                          <a:cs typeface="Aptos" pitchFamily="34" charset="-120"/>
                        </a:rPr>
                        <a:t>6</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Sals3-initiated cancel of a paid order</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Dispute first, refund on REFUND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No exception to the money rule once CJ is paid.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680" dirty="0">
                          <a:solidFill>
                            <a:srgbClr val="1E2A44"/>
                          </a:solidFill>
                          <a:latin typeface="Aptos" pitchFamily="34" charset="0"/>
                          <a:ea typeface="Aptos" pitchFamily="34" charset="-122"/>
                          <a:cs typeface="Aptos" pitchFamily="34" charset="-120"/>
                        </a:rPr>
                        <a:t>7</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Late supply</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Day 7 unshipped: request, same rules as Pending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Kept at 7 (owner did not change it). Revisit against CJ timeliness data.</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680" dirty="0">
                          <a:solidFill>
                            <a:srgbClr val="1E2A44"/>
                          </a:solidFill>
                          <a:latin typeface="Aptos" pitchFamily="34" charset="0"/>
                          <a:ea typeface="Aptos" pitchFamily="34" charset="-122"/>
                          <a:cs typeface="Aptos" pitchFamily="34" charset="-120"/>
                        </a:rPr>
                        <a:t>8</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Abuse thresholds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WATCH 3 / RESTRICTED 5 cancels in 30 days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Placeholders; the Customers list already shows % cancelled.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434840"/>
            <a:ext cx="8321040" cy="274320"/>
          </a:xfrm>
          <a:prstGeom prst="roundRect">
            <a:avLst>
              <a:gd name="adj" fmla="val 20000"/>
            </a:avLst>
          </a:prstGeom>
          <a:solidFill>
            <a:srgbClr val="E3F6F0"/>
          </a:solidFill>
          <a:ln w="9525">
            <a:solidFill>
              <a:srgbClr val="0F8B6C"/>
            </a:solidFill>
            <a:prstDash val="solid"/>
          </a:ln>
        </p:spPr>
      </p:sp>
      <p:sp>
        <p:nvSpPr>
          <p:cNvPr id="9" name="Text 6"/>
          <p:cNvSpPr txBox="1"/>
          <p:nvPr/>
        </p:nvSpPr>
        <p:spPr>
          <a:xfrm>
            <a:off x="640080" y="4434840"/>
            <a:ext cx="1005840" cy="274320"/>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STATUS</a:t>
            </a:r>
            <a:endParaRPr lang="en-US" sz="650" dirty="0"/>
          </a:p>
        </p:txBody>
      </p:sp>
      <p:sp>
        <p:nvSpPr>
          <p:cNvPr id="10" name="Text 7"/>
          <p:cNvSpPr txBox="1"/>
          <p:nvPr/>
        </p:nvSpPr>
        <p:spPr>
          <a:xfrm>
            <a:off x="1600200" y="4434840"/>
            <a:ext cx="6949440" cy="274320"/>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All eight are built and merged to develop (SIT) on 10 Sep 2026. This slide is the acceptance criteria for UAT.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SUMMARY</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Final rules in one slide</a:t>
            </a:r>
            <a:endParaRPr lang="en-US" sz="2000" dirty="0"/>
          </a:p>
        </p:txBody>
      </p:sp>
      <p:sp>
        <p:nvSpPr>
          <p:cNvPr id="5" name="Text 3"/>
          <p:cNvSpPr txBox="1"/>
          <p:nvPr/>
        </p:nvSpPr>
        <p:spPr>
          <a:xfrm>
            <a:off x="484632" y="4846320"/>
            <a:ext cx="59436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Order Cancellation SOP v5 — final rules approved 10 Sep 2026 (owner). Internal; not legal advice.</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14</a:t>
            </a:r>
            <a:endParaRPr lang="en-US" sz="650" dirty="0"/>
          </a:p>
        </p:txBody>
      </p:sp>
      <p:sp>
        <p:nvSpPr>
          <p:cNvPr id="7" name="Shape 5"/>
          <p:cNvSpPr/>
          <p:nvPr/>
        </p:nvSpPr>
        <p:spPr>
          <a:xfrm>
            <a:off x="411480" y="1051560"/>
            <a:ext cx="4069080" cy="932688"/>
          </a:xfrm>
          <a:prstGeom prst="roundRect">
            <a:avLst>
              <a:gd name="adj" fmla="val 5882"/>
            </a:avLst>
          </a:prstGeom>
          <a:solidFill>
            <a:srgbClr val="E3F6F0"/>
          </a:solidFill>
          <a:ln w="9525">
            <a:solidFill>
              <a:srgbClr val="0F8B6C"/>
            </a:solidFill>
            <a:prstDash val="solid"/>
          </a:ln>
        </p:spPr>
      </p:sp>
      <p:sp>
        <p:nvSpPr>
          <p:cNvPr id="8" name="Text 6"/>
          <p:cNvSpPr txBox="1"/>
          <p:nvPr/>
        </p:nvSpPr>
        <p:spPr>
          <a:xfrm>
            <a:off x="594360" y="1143000"/>
            <a:ext cx="3749040" cy="274320"/>
          </a:xfrm>
          <a:prstGeom prst="rect">
            <a:avLst/>
          </a:prstGeom>
          <a:noFill/>
          <a:ln/>
        </p:spPr>
        <p:txBody>
          <a:bodyPr wrap="square" lIns="0" tIns="0" rIns="0" bIns="0" rtlCol="0" anchor="ctr"/>
          <a:lstStyle/>
          <a:p>
            <a:pPr indent="0" marL="0">
              <a:buNone/>
            </a:pPr>
            <a:r>
              <a:rPr lang="en-US" sz="1050" b="1" dirty="0">
                <a:solidFill>
                  <a:srgbClr val="0F8B6C"/>
                </a:solidFill>
                <a:latin typeface="Aptos" pitchFamily="34" charset="0"/>
                <a:ea typeface="Aptos" pitchFamily="34" charset="-122"/>
                <a:cs typeface="Aptos" pitchFamily="34" charset="-120"/>
              </a:rPr>
              <a:t>24-hour hold, in CJ Imported</a:t>
            </a:r>
            <a:endParaRPr lang="en-US" sz="1050" dirty="0"/>
          </a:p>
        </p:txBody>
      </p:sp>
      <p:sp>
        <p:nvSpPr>
          <p:cNvPr id="9" name="Text 7"/>
          <p:cNvSpPr txBox="1"/>
          <p:nvPr/>
        </p:nvSpPr>
        <p:spPr>
          <a:xfrm>
            <a:off x="594360" y="143560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Every paid order is CREATED at CJ at once and paid 24 hours later. Cancel is a right during the hold: instant refund.</a:t>
            </a:r>
            <a:endParaRPr lang="en-US" sz="800" dirty="0"/>
          </a:p>
        </p:txBody>
      </p:sp>
      <p:sp>
        <p:nvSpPr>
          <p:cNvPr id="10" name="Shape 8"/>
          <p:cNvSpPr/>
          <p:nvPr/>
        </p:nvSpPr>
        <p:spPr>
          <a:xfrm>
            <a:off x="4663440" y="1051560"/>
            <a:ext cx="4069080" cy="932688"/>
          </a:xfrm>
          <a:prstGeom prst="roundRect">
            <a:avLst>
              <a:gd name="adj" fmla="val 5882"/>
            </a:avLst>
          </a:prstGeom>
          <a:solidFill>
            <a:srgbClr val="FFF4DF"/>
          </a:solidFill>
          <a:ln w="9525">
            <a:solidFill>
              <a:srgbClr val="B8720A"/>
            </a:solidFill>
            <a:prstDash val="solid"/>
          </a:ln>
        </p:spPr>
      </p:sp>
      <p:sp>
        <p:nvSpPr>
          <p:cNvPr id="11" name="Text 9"/>
          <p:cNvSpPr txBox="1"/>
          <p:nvPr/>
        </p:nvSpPr>
        <p:spPr>
          <a:xfrm>
            <a:off x="4846320" y="1143000"/>
            <a:ext cx="3749040" cy="274320"/>
          </a:xfrm>
          <a:prstGeom prst="rect">
            <a:avLst/>
          </a:prstGeom>
          <a:noFill/>
          <a:ln/>
        </p:spPr>
        <p:txBody>
          <a:bodyPr wrap="square" lIns="0" tIns="0" rIns="0" bIns="0" rtlCol="0" anchor="ctr"/>
          <a:lstStyle/>
          <a:p>
            <a:pPr indent="0" marL="0">
              <a:buNone/>
            </a:pPr>
            <a:r>
              <a:rPr lang="en-US" sz="1050" b="1" dirty="0">
                <a:solidFill>
                  <a:srgbClr val="B8720A"/>
                </a:solidFill>
                <a:latin typeface="Aptos" pitchFamily="34" charset="0"/>
                <a:ea typeface="Aptos" pitchFamily="34" charset="-122"/>
                <a:cs typeface="Aptos" pitchFamily="34" charset="-120"/>
              </a:rPr>
              <a:t>Then request only</a:t>
            </a:r>
            <a:endParaRPr lang="en-US" sz="1050" dirty="0"/>
          </a:p>
        </p:txBody>
      </p:sp>
      <p:sp>
        <p:nvSpPr>
          <p:cNvPr id="12" name="Text 10"/>
          <p:cNvSpPr txBox="1"/>
          <p:nvPr/>
        </p:nvSpPr>
        <p:spPr>
          <a:xfrm>
            <a:off x="4846320" y="143560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CJ Pending or late supply: the customer asks, Sals3 reviews in the portal lane, CJ decides. No refund before CJ REFUND.</a:t>
            </a:r>
            <a:endParaRPr lang="en-US" sz="800" dirty="0"/>
          </a:p>
        </p:txBody>
      </p:sp>
      <p:sp>
        <p:nvSpPr>
          <p:cNvPr id="13" name="Shape 11"/>
          <p:cNvSpPr/>
          <p:nvPr/>
        </p:nvSpPr>
        <p:spPr>
          <a:xfrm>
            <a:off x="411480" y="2103120"/>
            <a:ext cx="4069080" cy="932688"/>
          </a:xfrm>
          <a:prstGeom prst="roundRect">
            <a:avLst>
              <a:gd name="adj" fmla="val 5882"/>
            </a:avLst>
          </a:prstGeom>
          <a:solidFill>
            <a:srgbClr val="FDECEF"/>
          </a:solidFill>
          <a:ln w="9525">
            <a:solidFill>
              <a:srgbClr val="C8283C"/>
            </a:solidFill>
            <a:prstDash val="solid"/>
          </a:ln>
        </p:spPr>
      </p:sp>
      <p:sp>
        <p:nvSpPr>
          <p:cNvPr id="14" name="Text 12"/>
          <p:cNvSpPr txBox="1"/>
          <p:nvPr/>
        </p:nvSpPr>
        <p:spPr>
          <a:xfrm>
            <a:off x="594360" y="2194560"/>
            <a:ext cx="3749040" cy="274320"/>
          </a:xfrm>
          <a:prstGeom prst="rect">
            <a:avLst/>
          </a:prstGeom>
          <a:noFill/>
          <a:ln/>
        </p:spPr>
        <p:txBody>
          <a:bodyPr wrap="square" lIns="0" tIns="0" rIns="0" bIns="0" rtlCol="0" anchor="ctr"/>
          <a:lstStyle/>
          <a:p>
            <a:pPr indent="0" marL="0">
              <a:buNone/>
            </a:pPr>
            <a:r>
              <a:rPr lang="en-US" sz="1050" b="1" dirty="0">
                <a:solidFill>
                  <a:srgbClr val="C8283C"/>
                </a:solidFill>
                <a:latin typeface="Aptos" pitchFamily="34" charset="0"/>
                <a:ea typeface="Aptos" pitchFamily="34" charset="-122"/>
                <a:cs typeface="Aptos" pitchFamily="34" charset="-120"/>
              </a:rPr>
              <a:t>Packing started = closed</a:t>
            </a:r>
            <a:endParaRPr lang="en-US" sz="1050" dirty="0"/>
          </a:p>
        </p:txBody>
      </p:sp>
      <p:sp>
        <p:nvSpPr>
          <p:cNvPr id="15" name="Text 13"/>
          <p:cNvSpPr txBox="1"/>
          <p:nvPr/>
        </p:nvSpPr>
        <p:spPr>
          <a:xfrm>
            <a:off x="594360" y="248716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CJ Processing, Shipped, Delivered: no cancellation. Return on arrival or Item Problem SOP.</a:t>
            </a:r>
            <a:endParaRPr lang="en-US" sz="800" dirty="0"/>
          </a:p>
        </p:txBody>
      </p:sp>
      <p:sp>
        <p:nvSpPr>
          <p:cNvPr id="16" name="Shape 14"/>
          <p:cNvSpPr/>
          <p:nvPr/>
        </p:nvSpPr>
        <p:spPr>
          <a:xfrm>
            <a:off x="4663440" y="2103120"/>
            <a:ext cx="4069080" cy="932688"/>
          </a:xfrm>
          <a:prstGeom prst="roundRect">
            <a:avLst>
              <a:gd name="adj" fmla="val 5882"/>
            </a:avLst>
          </a:prstGeom>
          <a:solidFill>
            <a:srgbClr val="E6F0F8"/>
          </a:solidFill>
          <a:ln w="9525">
            <a:solidFill>
              <a:srgbClr val="0A5C8A"/>
            </a:solidFill>
            <a:prstDash val="solid"/>
          </a:ln>
        </p:spPr>
      </p:sp>
      <p:sp>
        <p:nvSpPr>
          <p:cNvPr id="17" name="Text 15"/>
          <p:cNvSpPr txBox="1"/>
          <p:nvPr/>
        </p:nvSpPr>
        <p:spPr>
          <a:xfrm>
            <a:off x="4846320" y="2194560"/>
            <a:ext cx="3749040" cy="274320"/>
          </a:xfrm>
          <a:prstGeom prst="rect">
            <a:avLst/>
          </a:prstGeom>
          <a:noFill/>
          <a:ln/>
        </p:spPr>
        <p:txBody>
          <a:bodyPr wrap="square" lIns="0" tIns="0" rIns="0" bIns="0" rtlCol="0" anchor="ctr"/>
          <a:lstStyle/>
          <a:p>
            <a:pPr indent="0" marL="0">
              <a:buNone/>
            </a:pPr>
            <a:r>
              <a:rPr lang="en-US" sz="1050" b="1" dirty="0">
                <a:solidFill>
                  <a:srgbClr val="0A5C8A"/>
                </a:solidFill>
                <a:latin typeface="Aptos" pitchFamily="34" charset="0"/>
                <a:ea typeface="Aptos" pitchFamily="34" charset="-122"/>
                <a:cs typeface="Aptos" pitchFamily="34" charset="-120"/>
              </a:rPr>
              <a:t>Sals3-initiated cancels</a:t>
            </a:r>
            <a:endParaRPr lang="en-US" sz="1050" dirty="0"/>
          </a:p>
        </p:txBody>
      </p:sp>
      <p:sp>
        <p:nvSpPr>
          <p:cNvPr id="18" name="Text 16"/>
          <p:cNvSpPr txBox="1"/>
          <p:nvPr/>
        </p:nvSpPr>
        <p:spPr>
          <a:xfrm>
            <a:off x="4846320" y="248716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Before CJ is paid: refund at once. After: dispute first, refund on REFUND. Recorded, never blamed on the customer.</a:t>
            </a:r>
            <a:endParaRPr lang="en-US" sz="800" dirty="0"/>
          </a:p>
        </p:txBody>
      </p:sp>
      <p:sp>
        <p:nvSpPr>
          <p:cNvPr id="19" name="Shape 17"/>
          <p:cNvSpPr/>
          <p:nvPr/>
        </p:nvSpPr>
        <p:spPr>
          <a:xfrm>
            <a:off x="411480" y="3154680"/>
            <a:ext cx="4069080" cy="932688"/>
          </a:xfrm>
          <a:prstGeom prst="roundRect">
            <a:avLst>
              <a:gd name="adj" fmla="val 5882"/>
            </a:avLst>
          </a:prstGeom>
          <a:solidFill>
            <a:srgbClr val="E6F0F8"/>
          </a:solidFill>
          <a:ln w="9525">
            <a:solidFill>
              <a:srgbClr val="0A5C8A"/>
            </a:solidFill>
            <a:prstDash val="solid"/>
          </a:ln>
        </p:spPr>
      </p:sp>
      <p:sp>
        <p:nvSpPr>
          <p:cNvPr id="20" name="Text 18"/>
          <p:cNvSpPr txBox="1"/>
          <p:nvPr/>
        </p:nvSpPr>
        <p:spPr>
          <a:xfrm>
            <a:off x="594360" y="3246120"/>
            <a:ext cx="3749040" cy="274320"/>
          </a:xfrm>
          <a:prstGeom prst="rect">
            <a:avLst/>
          </a:prstGeom>
          <a:noFill/>
          <a:ln/>
        </p:spPr>
        <p:txBody>
          <a:bodyPr wrap="square" lIns="0" tIns="0" rIns="0" bIns="0" rtlCol="0" anchor="ctr"/>
          <a:lstStyle/>
          <a:p>
            <a:pPr indent="0" marL="0">
              <a:buNone/>
            </a:pPr>
            <a:r>
              <a:rPr lang="en-US" sz="1050" b="1" dirty="0">
                <a:solidFill>
                  <a:srgbClr val="0A5C8A"/>
                </a:solidFill>
                <a:latin typeface="Aptos" pitchFamily="34" charset="0"/>
                <a:ea typeface="Aptos" pitchFamily="34" charset="-122"/>
                <a:cs typeface="Aptos" pitchFamily="34" charset="-120"/>
              </a:rPr>
              <a:t>Always a refund, never a void</a:t>
            </a:r>
            <a:endParaRPr lang="en-US" sz="1050" dirty="0"/>
          </a:p>
        </p:txBody>
      </p:sp>
      <p:sp>
        <p:nvSpPr>
          <p:cNvPr id="21" name="Text 19"/>
          <p:cNvSpPr txBox="1"/>
          <p:nvPr/>
        </p:nvSpPr>
        <p:spPr>
          <a:xfrm>
            <a:off x="594360" y="353872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Stripe captures at checkout. Refund to the original card, 3–10 banking days, idempotent on the record.</a:t>
            </a:r>
            <a:endParaRPr lang="en-US" sz="800" dirty="0"/>
          </a:p>
        </p:txBody>
      </p:sp>
      <p:sp>
        <p:nvSpPr>
          <p:cNvPr id="22" name="Shape 20"/>
          <p:cNvSpPr/>
          <p:nvPr/>
        </p:nvSpPr>
        <p:spPr>
          <a:xfrm>
            <a:off x="4663440" y="3154680"/>
            <a:ext cx="4069080" cy="932688"/>
          </a:xfrm>
          <a:prstGeom prst="roundRect">
            <a:avLst>
              <a:gd name="adj" fmla="val 5882"/>
            </a:avLst>
          </a:prstGeom>
          <a:solidFill>
            <a:srgbClr val="E3F6F0"/>
          </a:solidFill>
          <a:ln w="9525">
            <a:solidFill>
              <a:srgbClr val="0F8B6C"/>
            </a:solidFill>
            <a:prstDash val="solid"/>
          </a:ln>
        </p:spPr>
      </p:sp>
      <p:sp>
        <p:nvSpPr>
          <p:cNvPr id="23" name="Text 21"/>
          <p:cNvSpPr txBox="1"/>
          <p:nvPr/>
        </p:nvSpPr>
        <p:spPr>
          <a:xfrm>
            <a:off x="4846320" y="3246120"/>
            <a:ext cx="3749040" cy="274320"/>
          </a:xfrm>
          <a:prstGeom prst="rect">
            <a:avLst/>
          </a:prstGeom>
          <a:noFill/>
          <a:ln/>
        </p:spPr>
        <p:txBody>
          <a:bodyPr wrap="square" lIns="0" tIns="0" rIns="0" bIns="0" rtlCol="0" anchor="ctr"/>
          <a:lstStyle/>
          <a:p>
            <a:pPr indent="0" marL="0">
              <a:buNone/>
            </a:pPr>
            <a:r>
              <a:rPr lang="en-US" sz="1050" b="1" dirty="0">
                <a:solidFill>
                  <a:srgbClr val="0F8B6C"/>
                </a:solidFill>
                <a:latin typeface="Aptos" pitchFamily="34" charset="0"/>
                <a:ea typeface="Aptos" pitchFamily="34" charset="-122"/>
                <a:cs typeface="Aptos" pitchFamily="34" charset="-120"/>
              </a:rPr>
              <a:t>Recorded and visible</a:t>
            </a:r>
            <a:endParaRPr lang="en-US" sz="1050" dirty="0"/>
          </a:p>
        </p:txBody>
      </p:sp>
      <p:sp>
        <p:nvSpPr>
          <p:cNvPr id="24" name="Text 22"/>
          <p:cNvSpPr txBox="1"/>
          <p:nvPr/>
        </p:nvSpPr>
        <p:spPr>
          <a:xfrm>
            <a:off x="4846320" y="353872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order_cancellations + the Cancellation requests lane; Refunds tab on the customer profile; % cancelled on the Customers list.</a:t>
            </a:r>
            <a:endParaRPr lang="en-US" sz="800" dirty="0"/>
          </a:p>
        </p:txBody>
      </p:sp>
      <p:sp>
        <p:nvSpPr>
          <p:cNvPr id="25" name="Text 23"/>
          <p:cNvSpPr txBox="1"/>
          <p:nvPr/>
        </p:nvSpPr>
        <p:spPr>
          <a:xfrm>
            <a:off x="411480" y="4297680"/>
            <a:ext cx="8321040" cy="274320"/>
          </a:xfrm>
          <a:prstGeom prst="rect">
            <a:avLst/>
          </a:prstGeom>
          <a:noFill/>
          <a:ln/>
        </p:spPr>
        <p:txBody>
          <a:bodyPr wrap="square" lIns="0" tIns="0" rIns="0" bIns="0" rtlCol="0" anchor="ctr"/>
          <a:lstStyle/>
          <a:p>
            <a:pPr algn="ctr" indent="0" marL="0">
              <a:buNone/>
            </a:pPr>
            <a:r>
              <a:rPr lang="en-US" sz="750" dirty="0">
                <a:solidFill>
                  <a:srgbClr val="5B6472"/>
                </a:solidFill>
                <a:latin typeface="Aptos" pitchFamily="34" charset="0"/>
                <a:ea typeface="Aptos" pitchFamily="34" charset="-122"/>
                <a:cs typeface="Aptos" pitchFamily="34" charset="-120"/>
              </a:rPr>
              <a:t>Customer: My Orders → Order → Cancel order / Request cancellation   ·   Staff: Orders → Cancellation requests → parcel → Ask CJ to cancel / Decline   ·   Customers → profile → Refunds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Sals3 Order Cancellation SOP v5 (v4.2 rules)</dc:title>
  <dc:subject>PptxGenJS Presentation</dc:subject>
  <dc:creator>PptxGenJS</dc:creator>
  <cp:lastModifiedBy>PptxGenJS</cp:lastModifiedBy>
  <cp:revision>1</cp:revision>
  <dcterms:created xsi:type="dcterms:W3CDTF">2026-09-09T23:40:43Z</dcterms:created>
  <dcterms:modified xsi:type="dcterms:W3CDTF">2026-09-09T23:40:43Z</dcterms:modified>
</cp:coreProperties>
</file>