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640080" y="685800"/>
            <a:ext cx="457200" cy="457200"/>
          </a:xfrm>
          <a:prstGeom prst="rect">
            <a:avLst/>
          </a:prstGeom>
          <a:noFill/>
          <a:ln/>
        </p:spPr>
        <p:txBody>
          <a:bodyPr wrap="square" lIns="0" tIns="0" rIns="0" bIns="0" rtlCol="0" anchor="ctr"/>
          <a:lstStyle/>
          <a:p>
            <a:pPr indent="0" marL="0">
              <a:buNone/>
            </a:pPr>
            <a:r>
              <a:rPr lang="en-US" sz="3000" b="1" dirty="0">
                <a:solidFill>
                  <a:srgbClr val="0F8B6C"/>
                </a:solidFill>
                <a:latin typeface="Aptos Display" pitchFamily="34" charset="0"/>
                <a:ea typeface="Aptos Display" pitchFamily="34" charset="-122"/>
                <a:cs typeface="Aptos Display" pitchFamily="34" charset="-120"/>
              </a:rPr>
              <a:t>S</a:t>
            </a:r>
            <a:endParaRPr lang="en-US" sz="3000" dirty="0"/>
          </a:p>
        </p:txBody>
      </p:sp>
      <p:sp>
        <p:nvSpPr>
          <p:cNvPr id="3" name="Text 1"/>
          <p:cNvSpPr txBox="1"/>
          <p:nvPr/>
        </p:nvSpPr>
        <p:spPr>
          <a:xfrm>
            <a:off x="484632" y="1554480"/>
            <a:ext cx="54864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SALS3 · CUSTOMER OPERATIONS</a:t>
            </a:r>
            <a:endParaRPr lang="en-US" sz="700" dirty="0"/>
          </a:p>
        </p:txBody>
      </p:sp>
      <p:sp>
        <p:nvSpPr>
          <p:cNvPr id="4" name="Text 2"/>
          <p:cNvSpPr txBox="1"/>
          <p:nvPr/>
        </p:nvSpPr>
        <p:spPr>
          <a:xfrm>
            <a:off x="484632" y="1783080"/>
            <a:ext cx="7315200" cy="1097280"/>
          </a:xfrm>
          <a:prstGeom prst="rect">
            <a:avLst/>
          </a:prstGeom>
          <a:noFill/>
          <a:ln/>
        </p:spPr>
        <p:txBody>
          <a:bodyPr wrap="square" lIns="0" tIns="0" rIns="0" bIns="0" rtlCol="0" anchor="ctr"/>
          <a:lstStyle/>
          <a:p>
            <a:pPr indent="0" marL="0">
              <a:buNone/>
            </a:pPr>
            <a:r>
              <a:rPr lang="en-US" sz="3200" b="1" dirty="0">
                <a:solidFill>
                  <a:srgbClr val="13224A"/>
                </a:solidFill>
                <a:latin typeface="Aptos Display" pitchFamily="34" charset="0"/>
                <a:ea typeface="Aptos Display" pitchFamily="34" charset="-122"/>
                <a:cs typeface="Aptos Display" pitchFamily="34" charset="-120"/>
              </a:rPr>
              <a:t>Cancellation</a:t>
            </a:r>
            <a:endParaRPr lang="en-US" sz="3200" dirty="0"/>
          </a:p>
          <a:p>
            <a:pPr indent="0" marL="0">
              <a:buNone/>
            </a:pPr>
            <a:r>
              <a:rPr lang="en-US" sz="3200" b="1" dirty="0">
                <a:solidFill>
                  <a:srgbClr val="13224A"/>
                </a:solidFill>
                <a:latin typeface="Aptos Display" pitchFamily="34" charset="0"/>
                <a:ea typeface="Aptos Display" pitchFamily="34" charset="-122"/>
                <a:cs typeface="Aptos Display" pitchFamily="34" charset="-120"/>
              </a:rPr>
              <a:t>Order Cancellation SOP</a:t>
            </a:r>
            <a:endParaRPr lang="en-US" sz="3200" dirty="0"/>
          </a:p>
        </p:txBody>
      </p:sp>
      <p:sp>
        <p:nvSpPr>
          <p:cNvPr id="5" name="Text 3"/>
          <p:cNvSpPr txBox="1"/>
          <p:nvPr/>
        </p:nvSpPr>
        <p:spPr>
          <a:xfrm>
            <a:off x="484632" y="2926080"/>
            <a:ext cx="7772400" cy="274320"/>
          </a:xfrm>
          <a:prstGeom prst="rect">
            <a:avLst/>
          </a:prstGeom>
          <a:noFill/>
          <a:ln/>
        </p:spPr>
        <p:txBody>
          <a:bodyPr wrap="square" lIns="0" tIns="0" rIns="0" bIns="0" rtlCol="0" anchor="ctr"/>
          <a:lstStyle/>
          <a:p>
            <a:pPr indent="0" marL="0">
              <a:buNone/>
            </a:pPr>
            <a:r>
              <a:rPr lang="en-US" sz="1100" dirty="0">
                <a:solidFill>
                  <a:srgbClr val="5B6472"/>
                </a:solidFill>
                <a:latin typeface="Aptos" pitchFamily="34" charset="0"/>
                <a:ea typeface="Aptos" pitchFamily="34" charset="-122"/>
                <a:cs typeface="Aptos" pitchFamily="34" charset="-120"/>
              </a:rPr>
              <a:t>Phase 1 internal SOP  ·  CJ-only fulfilment  ·  Stripe refunds  ·  v4 supersedes v3 (03 Sep 2026)</a:t>
            </a:r>
            <a:endParaRPr lang="en-US" sz="1100" dirty="0"/>
          </a:p>
        </p:txBody>
      </p:sp>
      <p:sp>
        <p:nvSpPr>
          <p:cNvPr id="6" name="Shape 4"/>
          <p:cNvSpPr/>
          <p:nvPr/>
        </p:nvSpPr>
        <p:spPr>
          <a:xfrm>
            <a:off x="411480" y="3429000"/>
            <a:ext cx="1931670" cy="237744"/>
          </a:xfrm>
          <a:prstGeom prst="roundRect">
            <a:avLst>
              <a:gd name="adj" fmla="val 23077"/>
            </a:avLst>
          </a:prstGeom>
          <a:solidFill>
            <a:srgbClr val="E3F6F0"/>
          </a:solidFill>
          <a:ln w="9525">
            <a:solidFill>
              <a:srgbClr val="0F8B6C"/>
            </a:solidFill>
            <a:prstDash val="solid"/>
          </a:ln>
        </p:spPr>
      </p:sp>
      <p:sp>
        <p:nvSpPr>
          <p:cNvPr id="7" name="Text 5"/>
          <p:cNvSpPr txBox="1"/>
          <p:nvPr/>
        </p:nvSpPr>
        <p:spPr>
          <a:xfrm>
            <a:off x="411480" y="3429000"/>
            <a:ext cx="1931670" cy="237744"/>
          </a:xfrm>
          <a:prstGeom prst="rect">
            <a:avLst/>
          </a:prstGeom>
          <a:noFill/>
          <a:ln/>
        </p:spPr>
        <p:txBody>
          <a:bodyPr wrap="square" lIns="0" tIns="0" rIns="0" bIns="0" rtlCol="0" anchor="ctr"/>
          <a:lstStyle/>
          <a:p>
            <a:pPr algn="ctr" indent="0" marL="0">
              <a:buNone/>
            </a:pPr>
            <a:r>
              <a:rPr lang="en-US" sz="650" b="1" dirty="0">
                <a:solidFill>
                  <a:srgbClr val="0F8B6C"/>
                </a:solidFill>
                <a:latin typeface="Aptos" pitchFamily="34" charset="0"/>
                <a:ea typeface="Aptos" pitchFamily="34" charset="-122"/>
                <a:cs typeface="Aptos" pitchFamily="34" charset="-120"/>
              </a:rPr>
              <a:t>Sals3 hold window first</a:t>
            </a:r>
            <a:endParaRPr lang="en-US" sz="650" dirty="0"/>
          </a:p>
        </p:txBody>
      </p:sp>
      <p:sp>
        <p:nvSpPr>
          <p:cNvPr id="8" name="Shape 6"/>
          <p:cNvSpPr/>
          <p:nvPr/>
        </p:nvSpPr>
        <p:spPr>
          <a:xfrm>
            <a:off x="2480310" y="3429000"/>
            <a:ext cx="1931670" cy="237744"/>
          </a:xfrm>
          <a:prstGeom prst="roundRect">
            <a:avLst>
              <a:gd name="adj" fmla="val 23077"/>
            </a:avLst>
          </a:prstGeom>
          <a:solidFill>
            <a:srgbClr val="E3F6F0"/>
          </a:solidFill>
          <a:ln w="9525">
            <a:solidFill>
              <a:srgbClr val="0F8B6C"/>
            </a:solidFill>
            <a:prstDash val="solid"/>
          </a:ln>
        </p:spPr>
      </p:sp>
      <p:sp>
        <p:nvSpPr>
          <p:cNvPr id="9" name="Text 7"/>
          <p:cNvSpPr txBox="1"/>
          <p:nvPr/>
        </p:nvSpPr>
        <p:spPr>
          <a:xfrm>
            <a:off x="2480310" y="3429000"/>
            <a:ext cx="1931670" cy="237744"/>
          </a:xfrm>
          <a:prstGeom prst="rect">
            <a:avLst/>
          </a:prstGeom>
          <a:noFill/>
          <a:ln/>
        </p:spPr>
        <p:txBody>
          <a:bodyPr wrap="square" lIns="0" tIns="0" rIns="0" bIns="0" rtlCol="0" anchor="ctr"/>
          <a:lstStyle/>
          <a:p>
            <a:pPr algn="ctr" indent="0" marL="0">
              <a:buNone/>
            </a:pPr>
            <a:r>
              <a:rPr lang="en-US" sz="650" b="1" dirty="0">
                <a:solidFill>
                  <a:srgbClr val="0F8B6C"/>
                </a:solidFill>
                <a:latin typeface="Aptos" pitchFamily="34" charset="0"/>
                <a:ea typeface="Aptos" pitchFamily="34" charset="-122"/>
                <a:cs typeface="Aptos" pitchFamily="34" charset="-120"/>
              </a:rPr>
              <a:t>Then CJ dispute, automated</a:t>
            </a:r>
            <a:endParaRPr lang="en-US" sz="650" dirty="0"/>
          </a:p>
        </p:txBody>
      </p:sp>
      <p:sp>
        <p:nvSpPr>
          <p:cNvPr id="10" name="Shape 8"/>
          <p:cNvSpPr/>
          <p:nvPr/>
        </p:nvSpPr>
        <p:spPr>
          <a:xfrm>
            <a:off x="4549140" y="3429000"/>
            <a:ext cx="1931670" cy="237744"/>
          </a:xfrm>
          <a:prstGeom prst="roundRect">
            <a:avLst>
              <a:gd name="adj" fmla="val 23077"/>
            </a:avLst>
          </a:prstGeom>
          <a:solidFill>
            <a:srgbClr val="E3F6F0"/>
          </a:solidFill>
          <a:ln w="9525">
            <a:solidFill>
              <a:srgbClr val="0F8B6C"/>
            </a:solidFill>
            <a:prstDash val="solid"/>
          </a:ln>
        </p:spPr>
      </p:sp>
      <p:sp>
        <p:nvSpPr>
          <p:cNvPr id="11" name="Text 9"/>
          <p:cNvSpPr txBox="1"/>
          <p:nvPr/>
        </p:nvSpPr>
        <p:spPr>
          <a:xfrm>
            <a:off x="4549140" y="3429000"/>
            <a:ext cx="1931670" cy="237744"/>
          </a:xfrm>
          <a:prstGeom prst="rect">
            <a:avLst/>
          </a:prstGeom>
          <a:noFill/>
          <a:ln/>
        </p:spPr>
        <p:txBody>
          <a:bodyPr wrap="square" lIns="0" tIns="0" rIns="0" bIns="0" rtlCol="0" anchor="ctr"/>
          <a:lstStyle/>
          <a:p>
            <a:pPr algn="ctr" indent="0" marL="0">
              <a:buNone/>
            </a:pPr>
            <a:r>
              <a:rPr lang="en-US" sz="650" b="1" dirty="0">
                <a:solidFill>
                  <a:srgbClr val="0F8B6C"/>
                </a:solidFill>
                <a:latin typeface="Aptos" pitchFamily="34" charset="0"/>
                <a:ea typeface="Aptos" pitchFamily="34" charset="-122"/>
                <a:cs typeface="Aptos" pitchFamily="34" charset="-120"/>
              </a:rPr>
              <a:t>Late supply = full refund</a:t>
            </a:r>
            <a:endParaRPr lang="en-US" sz="650" dirty="0"/>
          </a:p>
        </p:txBody>
      </p:sp>
      <p:sp>
        <p:nvSpPr>
          <p:cNvPr id="12" name="Shape 10"/>
          <p:cNvSpPr/>
          <p:nvPr/>
        </p:nvSpPr>
        <p:spPr>
          <a:xfrm>
            <a:off x="6617970" y="3429000"/>
            <a:ext cx="1931670" cy="237744"/>
          </a:xfrm>
          <a:prstGeom prst="roundRect">
            <a:avLst>
              <a:gd name="adj" fmla="val 23077"/>
            </a:avLst>
          </a:prstGeom>
          <a:solidFill>
            <a:srgbClr val="E3F6F0"/>
          </a:solidFill>
          <a:ln w="9525">
            <a:solidFill>
              <a:srgbClr val="0F8B6C"/>
            </a:solidFill>
            <a:prstDash val="solid"/>
          </a:ln>
        </p:spPr>
      </p:sp>
      <p:sp>
        <p:nvSpPr>
          <p:cNvPr id="13" name="Text 11"/>
          <p:cNvSpPr txBox="1"/>
          <p:nvPr/>
        </p:nvSpPr>
        <p:spPr>
          <a:xfrm>
            <a:off x="6617970" y="3429000"/>
            <a:ext cx="1931670" cy="237744"/>
          </a:xfrm>
          <a:prstGeom prst="rect">
            <a:avLst/>
          </a:prstGeom>
          <a:noFill/>
          <a:ln/>
        </p:spPr>
        <p:txBody>
          <a:bodyPr wrap="square" lIns="0" tIns="0" rIns="0" bIns="0" rtlCol="0" anchor="ctr"/>
          <a:lstStyle/>
          <a:p>
            <a:pPr algn="ctr" indent="0" marL="0">
              <a:buNone/>
            </a:pPr>
            <a:r>
              <a:rPr lang="en-US" sz="650" b="1" dirty="0">
                <a:solidFill>
                  <a:srgbClr val="0F8B6C"/>
                </a:solidFill>
                <a:latin typeface="Aptos" pitchFamily="34" charset="0"/>
                <a:ea typeface="Aptos" pitchFamily="34" charset="-122"/>
                <a:cs typeface="Aptos" pitchFamily="34" charset="-120"/>
              </a:rPr>
              <a:t>Sals3-initiated cancels</a:t>
            </a:r>
            <a:endParaRPr lang="en-US" sz="650" dirty="0"/>
          </a:p>
        </p:txBody>
      </p:sp>
      <p:sp>
        <p:nvSpPr>
          <p:cNvPr id="14" name="Text 12"/>
          <p:cNvSpPr txBox="1"/>
          <p:nvPr/>
        </p:nvSpPr>
        <p:spPr>
          <a:xfrm>
            <a:off x="484632" y="4754880"/>
            <a:ext cx="2743200" cy="182880"/>
          </a:xfrm>
          <a:prstGeom prst="rect">
            <a:avLst/>
          </a:prstGeom>
          <a:noFill/>
          <a:ln/>
        </p:spPr>
        <p:txBody>
          <a:bodyPr wrap="square" lIns="0" tIns="0" rIns="0" bIns="0" rtlCol="0" anchor="ctr"/>
          <a:lstStyle/>
          <a:p>
            <a:pPr indent="0" marL="0">
              <a:buNone/>
            </a:pPr>
            <a:r>
              <a:rPr lang="en-US" sz="700" dirty="0">
                <a:solidFill>
                  <a:srgbClr val="5B6472"/>
                </a:solidFill>
                <a:latin typeface="Aptos" pitchFamily="34" charset="0"/>
                <a:ea typeface="Aptos" pitchFamily="34" charset="-122"/>
                <a:cs typeface="Aptos" pitchFamily="34" charset="-120"/>
              </a:rPr>
              <a:t>Draft 10 Sep 2026  ·  v4.1  ·  CJ policy verified 10 Sep 2026</a:t>
            </a:r>
            <a:endParaRPr lang="en-US" sz="700" dirty="0"/>
          </a:p>
        </p:txBody>
      </p:sp>
      <p:sp>
        <p:nvSpPr>
          <p:cNvPr id="15" name="Text 13"/>
          <p:cNvSpPr txBox="1"/>
          <p:nvPr/>
        </p:nvSpPr>
        <p:spPr>
          <a:xfrm>
            <a:off x="5029200" y="4754880"/>
            <a:ext cx="3657600" cy="182880"/>
          </a:xfrm>
          <a:prstGeom prst="rect">
            <a:avLst/>
          </a:prstGeom>
          <a:noFill/>
          <a:ln/>
        </p:spPr>
        <p:txBody>
          <a:bodyPr wrap="square" lIns="0" tIns="0" rIns="0" bIns="0" rtlCol="0" anchor="ctr"/>
          <a:lstStyle/>
          <a:p>
            <a:pPr algn="r" indent="0" marL="0">
              <a:buNone/>
            </a:pPr>
            <a:r>
              <a:rPr lang="en-US" sz="700" dirty="0">
                <a:solidFill>
                  <a:srgbClr val="5B6472"/>
                </a:solidFill>
                <a:latin typeface="Aptos" pitchFamily="34" charset="0"/>
                <a:ea typeface="Aptos" pitchFamily="34" charset="-122"/>
                <a:cs typeface="Aptos" pitchFamily="34" charset="-120"/>
              </a:rPr>
              <a:t>Customer entry point:  My Orders → Order → Request Cancellation</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CHANGE LOG</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What v4 changes from v3, and why</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02</a:t>
            </a:r>
            <a:endParaRPr lang="en-US" sz="6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8321040" cy="914400"/>
        </p:xfrm>
        <a:graphic>
          <a:graphicData uri="http://schemas.openxmlformats.org/drawingml/2006/table">
            <a:tbl>
              <a:tblPr/>
              <a:tblGrid>
                <a:gridCol w="1234440"/>
                <a:gridCol w="1874520"/>
                <a:gridCol w="2788920"/>
                <a:gridCol w="2423160"/>
              </a:tblGrid>
              <a:tr h="384048">
                <a:tc>
                  <a:txBody>
                    <a:bodyPr/>
                    <a:lstStyle/>
                    <a:p>
                      <a:pPr indent="0" marL="0">
                        <a:buNone/>
                      </a:pPr>
                      <a:r>
                        <a:rPr lang="en-US" sz="700" b="1" dirty="0">
                          <a:solidFill>
                            <a:srgbClr val="FFFFFF"/>
                          </a:solidFill>
                          <a:latin typeface="Aptos" pitchFamily="34" charset="0"/>
                          <a:ea typeface="Aptos" pitchFamily="34" charset="-122"/>
                          <a:cs typeface="Aptos" pitchFamily="34" charset="-120"/>
                        </a:rPr>
                        <a:t>Topic</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v3 said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v4 says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Why</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r>
              <a:tr h="384048">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window</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Only while CJ is CREATED / IN_CART</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A Sals3 hold window (default 60 min) before the order is sent to CJ, then CJ status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Code sends the order to CJ within seconds of payment. v3 gave the customer no real window.</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84048">
                <a:tc>
                  <a:txBody>
                    <a:bodyPr/>
                    <a:lstStyle/>
                    <a:p>
                      <a:pPr indent="0" marL="0">
                        <a:buNone/>
                      </a:pPr>
                      <a:r>
                        <a:rPr lang="en-US" sz="700" dirty="0">
                          <a:solidFill>
                            <a:srgbClr val="1E2A44"/>
                          </a:solidFill>
                          <a:latin typeface="Aptos" pitchFamily="34" charset="0"/>
                          <a:ea typeface="Aptos" pitchFamily="34" charset="-122"/>
                          <a:cs typeface="Aptos" pitchFamily="34" charset="-120"/>
                        </a:rPr>
                        <a:t>CJ UNPAID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Not cancellable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Cancellable. Only reached via AWAITING_SUPPLIER_FUNDS; CJ dashboard Cancel, inventory lock lapses after 24 h anyway</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No money has left Sals3; declining here makes the customer pay for our wallet state.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84048">
                <a:tc>
                  <a:txBody>
                    <a:bodyPr/>
                    <a:lstStyle/>
                    <a:p>
                      <a:pPr indent="0" marL="0">
                        <a:buNone/>
                      </a:pPr>
                      <a:r>
                        <a:rPr lang="en-US" sz="700" dirty="0">
                          <a:solidFill>
                            <a:srgbClr val="1E2A44"/>
                          </a:solidFill>
                          <a:latin typeface="Aptos" pitchFamily="34" charset="0"/>
                          <a:ea typeface="Aptos" pitchFamily="34" charset="-122"/>
                          <a:cs typeface="Aptos" pitchFamily="34" charset="-120"/>
                        </a:rPr>
                        <a:t>CJ paid, not shipped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Decline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Sals3 opens a CJ dispute (reason: Unfulfilled Order Cancellation) by API, automatically. Refund the customer at once when CJ is at PENDING; after CJ confirms when PROCESSING</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CJ policy: full refund before warehouse processing. Sals3 history: 5 of 5 such disputes refunded at 100% incl. shipping.</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84048">
                <a:tc>
                  <a:txBody>
                    <a:bodyPr/>
                    <a:lstStyle/>
                    <a:p>
                      <a:pPr indent="0" marL="0">
                        <a:buNone/>
                      </a:pPr>
                      <a:r>
                        <a:rPr lang="en-US" sz="700" dirty="0">
                          <a:solidFill>
                            <a:srgbClr val="1E2A44"/>
                          </a:solidFill>
                          <a:latin typeface="Aptos" pitchFamily="34" charset="0"/>
                          <a:ea typeface="Aptos" pitchFamily="34" charset="-122"/>
                          <a:cs typeface="Aptos" pitchFamily="34" charset="-120"/>
                        </a:rPr>
                        <a:t>Late supply</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Not covered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Not shipped within 7 calendar days of payment: customer may cancel, full refund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ADR-018 late-supply escape. Missing from v3.</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84048">
                <a:tc>
                  <a:txBody>
                    <a:bodyPr/>
                    <a:lstStyle/>
                    <a:p>
                      <a:pPr indent="0" marL="0">
                        <a:buNone/>
                      </a:pPr>
                      <a:r>
                        <a:rPr lang="en-US" sz="700" dirty="0">
                          <a:solidFill>
                            <a:srgbClr val="1E2A44"/>
                          </a:solidFill>
                          <a:latin typeface="Aptos" pitchFamily="34" charset="0"/>
                          <a:ea typeface="Aptos" pitchFamily="34" charset="-122"/>
                          <a:cs typeface="Aptos" pitchFamily="34" charset="-120"/>
                        </a:rPr>
                        <a:t>Sals3-initiated cancel</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Not covered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FULFILLMENT_FAILED, stock gone, price error, fraud, unserviceable address: auto full refund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These happen in the worker today and had no customer-facing rule.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84048">
                <a:tc>
                  <a:txBody>
                    <a:bodyPr/>
                    <a:lstStyle/>
                    <a:p>
                      <a:pPr indent="0" marL="0">
                        <a:buNone/>
                      </a:pPr>
                      <a:r>
                        <a:rPr lang="en-US" sz="700" dirty="0">
                          <a:solidFill>
                            <a:srgbClr val="1E2A44"/>
                          </a:solidFill>
                          <a:latin typeface="Aptos" pitchFamily="34" charset="0"/>
                          <a:ea typeface="Aptos" pitchFamily="34" charset="-122"/>
                          <a:cs typeface="Aptos" pitchFamily="34" charset="-120"/>
                        </a:rPr>
                        <a:t>Refund mechanic</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"Refund if charged"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Always charged: Stripe captures at checkout. Every cancel is a refund, never a void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Matches the payment code; sets customer expectations (3–10 banking days).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84048">
                <a:tc>
                  <a:txBody>
                    <a:bodyPr/>
                    <a:lstStyle/>
                    <a:p>
                      <a:pPr indent="0" marL="0">
                        <a:buNone/>
                      </a:pPr>
                      <a:r>
                        <a:rPr lang="en-US" sz="700" dirty="0">
                          <a:solidFill>
                            <a:srgbClr val="1E2A44"/>
                          </a:solidFill>
                          <a:latin typeface="Aptos" pitchFamily="34" charset="0"/>
                          <a:ea typeface="Aptos" pitchFamily="34" charset="-122"/>
                          <a:cs typeface="Aptos" pitchFamily="34" charset="-120"/>
                        </a:rPr>
                        <a:t>Record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Not specified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cancellation_requests table + CANCEL_REQUESTED / CANCELLED order states; feeds Customers % cancelled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Customers module already counts cancellations; the SOP must produce the rows it reads.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REALITY CHECK</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Why the v3 window does not exist in practice</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03</a:t>
            </a:r>
            <a:endParaRPr lang="en-US" sz="650" dirty="0"/>
          </a:p>
        </p:txBody>
      </p:sp>
      <p:sp>
        <p:nvSpPr>
          <p:cNvPr id="7" name="Text 5"/>
          <p:cNvSpPr txBox="1"/>
          <p:nvPr/>
        </p:nvSpPr>
        <p:spPr>
          <a:xfrm>
            <a:off x="484632" y="1005840"/>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Aptos" pitchFamily="34" charset="0"/>
                <a:ea typeface="Aptos" pitchFamily="34" charset="-122"/>
                <a:cs typeface="Aptos" pitchFamily="34" charset="-120"/>
              </a:rPr>
              <a:t>What the code does the moment a customer pays (accept route → dispatchOutbox → worker, one pass):</a:t>
            </a:r>
            <a:endParaRPr lang="en-US" sz="900" dirty="0"/>
          </a:p>
        </p:txBody>
      </p:sp>
      <p:sp>
        <p:nvSpPr>
          <p:cNvPr id="8" name="Shape 6"/>
          <p:cNvSpPr/>
          <p:nvPr/>
        </p:nvSpPr>
        <p:spPr>
          <a:xfrm>
            <a:off x="484632" y="1371600"/>
            <a:ext cx="1051560" cy="685800"/>
          </a:xfrm>
          <a:prstGeom prst="roundRect">
            <a:avLst>
              <a:gd name="adj" fmla="val 8000"/>
            </a:avLst>
          </a:prstGeom>
          <a:solidFill>
            <a:srgbClr val="FFFFFF"/>
          </a:solidFill>
          <a:ln w="9525">
            <a:solidFill>
              <a:srgbClr val="D7DCE2"/>
            </a:solidFill>
            <a:prstDash val="solid"/>
          </a:ln>
        </p:spPr>
      </p:sp>
      <p:sp>
        <p:nvSpPr>
          <p:cNvPr id="9" name="Text 7"/>
          <p:cNvSpPr txBox="1"/>
          <p:nvPr/>
        </p:nvSpPr>
        <p:spPr>
          <a:xfrm>
            <a:off x="530352" y="1371600"/>
            <a:ext cx="960120" cy="685800"/>
          </a:xfrm>
          <a:prstGeom prst="rect">
            <a:avLst/>
          </a:prstGeom>
          <a:noFill/>
          <a:ln/>
        </p:spPr>
        <p:txBody>
          <a:bodyPr wrap="square" lIns="0" tIns="0" rIns="0" bIns="0" rtlCol="0" anchor="ctr"/>
          <a:lstStyle/>
          <a:p>
            <a:pPr algn="ctr" indent="0" marL="0">
              <a:buNone/>
            </a:pPr>
            <a:r>
              <a:rPr lang="en-US" sz="700" b="1" dirty="0">
                <a:solidFill>
                  <a:srgbClr val="13224A"/>
                </a:solidFill>
                <a:latin typeface="Aptos" pitchFamily="34" charset="0"/>
                <a:ea typeface="Aptos" pitchFamily="34" charset="-122"/>
                <a:cs typeface="Aptos" pitchFamily="34" charset="-120"/>
              </a:rPr>
              <a:t>Stripe</a:t>
            </a:r>
            <a:endParaRPr lang="en-US" sz="700" dirty="0"/>
          </a:p>
          <a:p>
            <a:pPr algn="ctr" indent="0" marL="0">
              <a:buNone/>
            </a:pPr>
            <a:r>
              <a:rPr lang="en-US" sz="700" dirty="0">
                <a:solidFill>
                  <a:srgbClr val="5B6472"/>
                </a:solidFill>
                <a:latin typeface="Aptos" pitchFamily="34" charset="0"/>
                <a:ea typeface="Aptos" pitchFamily="34" charset="-122"/>
                <a:cs typeface="Aptos" pitchFamily="34" charset="-120"/>
              </a:rPr>
              <a:t>payment captured</a:t>
            </a:r>
            <a:endParaRPr lang="en-US" sz="700" dirty="0"/>
          </a:p>
        </p:txBody>
      </p:sp>
      <p:sp>
        <p:nvSpPr>
          <p:cNvPr id="10" name="Shape 8"/>
          <p:cNvSpPr/>
          <p:nvPr/>
        </p:nvSpPr>
        <p:spPr>
          <a:xfrm>
            <a:off x="1536192" y="1714500"/>
            <a:ext cx="118872" cy="0"/>
          </a:xfrm>
          <a:prstGeom prst="line">
            <a:avLst/>
          </a:prstGeom>
          <a:noFill/>
          <a:ln w="12700">
            <a:solidFill>
              <a:srgbClr val="5B6472"/>
            </a:solidFill>
            <a:prstDash val="solid"/>
            <a:tailEnd type="triangle"/>
          </a:ln>
        </p:spPr>
      </p:sp>
      <p:sp>
        <p:nvSpPr>
          <p:cNvPr id="11" name="Shape 9"/>
          <p:cNvSpPr/>
          <p:nvPr/>
        </p:nvSpPr>
        <p:spPr>
          <a:xfrm>
            <a:off x="1655064" y="1371600"/>
            <a:ext cx="1051560" cy="685800"/>
          </a:xfrm>
          <a:prstGeom prst="roundRect">
            <a:avLst>
              <a:gd name="adj" fmla="val 8000"/>
            </a:avLst>
          </a:prstGeom>
          <a:solidFill>
            <a:srgbClr val="FFFFFF"/>
          </a:solidFill>
          <a:ln w="9525">
            <a:solidFill>
              <a:srgbClr val="D7DCE2"/>
            </a:solidFill>
            <a:prstDash val="solid"/>
          </a:ln>
        </p:spPr>
      </p:sp>
      <p:sp>
        <p:nvSpPr>
          <p:cNvPr id="12" name="Text 10"/>
          <p:cNvSpPr txBox="1"/>
          <p:nvPr/>
        </p:nvSpPr>
        <p:spPr>
          <a:xfrm>
            <a:off x="1700784" y="1371600"/>
            <a:ext cx="960120" cy="685800"/>
          </a:xfrm>
          <a:prstGeom prst="rect">
            <a:avLst/>
          </a:prstGeom>
          <a:noFill/>
          <a:ln/>
        </p:spPr>
        <p:txBody>
          <a:bodyPr wrap="square" lIns="0" tIns="0" rIns="0" bIns="0" rtlCol="0" anchor="ctr"/>
          <a:lstStyle/>
          <a:p>
            <a:pPr algn="ctr" indent="0" marL="0">
              <a:buNone/>
            </a:pPr>
            <a:r>
              <a:rPr lang="en-US" sz="700" b="1" dirty="0">
                <a:solidFill>
                  <a:srgbClr val="13224A"/>
                </a:solidFill>
                <a:latin typeface="Aptos" pitchFamily="34" charset="0"/>
                <a:ea typeface="Aptos" pitchFamily="34" charset="-122"/>
                <a:cs typeface="Aptos" pitchFamily="34" charset="-120"/>
              </a:rPr>
              <a:t>Sals3</a:t>
            </a:r>
            <a:endParaRPr lang="en-US" sz="700" dirty="0"/>
          </a:p>
          <a:p>
            <a:pPr algn="ctr" indent="0" marL="0">
              <a:buNone/>
            </a:pPr>
            <a:r>
              <a:rPr lang="en-US" sz="700" dirty="0">
                <a:solidFill>
                  <a:srgbClr val="5B6472"/>
                </a:solidFill>
                <a:latin typeface="Aptos" pitchFamily="34" charset="0"/>
                <a:ea typeface="Aptos" pitchFamily="34" charset="-122"/>
                <a:cs typeface="Aptos" pitchFamily="34" charset="-120"/>
              </a:rPr>
              <a:t>order accepted</a:t>
            </a:r>
            <a:endParaRPr lang="en-US" sz="700" dirty="0"/>
          </a:p>
        </p:txBody>
      </p:sp>
      <p:sp>
        <p:nvSpPr>
          <p:cNvPr id="13" name="Shape 11"/>
          <p:cNvSpPr/>
          <p:nvPr/>
        </p:nvSpPr>
        <p:spPr>
          <a:xfrm>
            <a:off x="2706624" y="1714500"/>
            <a:ext cx="118872" cy="0"/>
          </a:xfrm>
          <a:prstGeom prst="line">
            <a:avLst/>
          </a:prstGeom>
          <a:noFill/>
          <a:ln w="12700">
            <a:solidFill>
              <a:srgbClr val="5B6472"/>
            </a:solidFill>
            <a:prstDash val="solid"/>
            <a:tailEnd type="triangle"/>
          </a:ln>
        </p:spPr>
      </p:sp>
      <p:sp>
        <p:nvSpPr>
          <p:cNvPr id="14" name="Shape 12"/>
          <p:cNvSpPr/>
          <p:nvPr/>
        </p:nvSpPr>
        <p:spPr>
          <a:xfrm>
            <a:off x="2825496" y="1371600"/>
            <a:ext cx="1051560" cy="685800"/>
          </a:xfrm>
          <a:prstGeom prst="roundRect">
            <a:avLst>
              <a:gd name="adj" fmla="val 8000"/>
            </a:avLst>
          </a:prstGeom>
          <a:solidFill>
            <a:srgbClr val="E3F6F0"/>
          </a:solidFill>
          <a:ln w="9525">
            <a:solidFill>
              <a:srgbClr val="0F8B6C"/>
            </a:solidFill>
            <a:prstDash val="solid"/>
          </a:ln>
        </p:spPr>
      </p:sp>
      <p:sp>
        <p:nvSpPr>
          <p:cNvPr id="15" name="Text 13"/>
          <p:cNvSpPr txBox="1"/>
          <p:nvPr/>
        </p:nvSpPr>
        <p:spPr>
          <a:xfrm>
            <a:off x="2871216" y="1371600"/>
            <a:ext cx="960120" cy="685800"/>
          </a:xfrm>
          <a:prstGeom prst="rect">
            <a:avLst/>
          </a:prstGeom>
          <a:noFill/>
          <a:ln/>
        </p:spPr>
        <p:txBody>
          <a:bodyPr wrap="square" lIns="0" tIns="0" rIns="0" bIns="0" rtlCol="0" anchor="ctr"/>
          <a:lstStyle/>
          <a:p>
            <a:pPr algn="ctr" indent="0" marL="0">
              <a:buNone/>
            </a:pPr>
            <a:r>
              <a:rPr lang="en-US" sz="700" b="1" dirty="0">
                <a:solidFill>
                  <a:srgbClr val="0F8B6C"/>
                </a:solidFill>
                <a:latin typeface="Aptos" pitchFamily="34" charset="0"/>
                <a:ea typeface="Aptos" pitchFamily="34" charset="-122"/>
                <a:cs typeface="Aptos" pitchFamily="34" charset="-120"/>
              </a:rPr>
              <a:t>Worker</a:t>
            </a:r>
            <a:endParaRPr lang="en-US" sz="700" dirty="0"/>
          </a:p>
          <a:p>
            <a:pPr algn="ctr" indent="0" marL="0">
              <a:buNone/>
            </a:pPr>
            <a:r>
              <a:rPr lang="en-US" sz="700" dirty="0">
                <a:solidFill>
                  <a:srgbClr val="5B6472"/>
                </a:solidFill>
                <a:latin typeface="Aptos" pitchFamily="34" charset="0"/>
                <a:ea typeface="Aptos" pitchFamily="34" charset="-122"/>
                <a:cs typeface="Aptos" pitchFamily="34" charset="-120"/>
              </a:rPr>
              <a:t>CREATE_ORDER_V3</a:t>
            </a:r>
            <a:endParaRPr lang="en-US" sz="700" dirty="0"/>
          </a:p>
        </p:txBody>
      </p:sp>
      <p:sp>
        <p:nvSpPr>
          <p:cNvPr id="16" name="Shape 14"/>
          <p:cNvSpPr/>
          <p:nvPr/>
        </p:nvSpPr>
        <p:spPr>
          <a:xfrm>
            <a:off x="3877056" y="1714500"/>
            <a:ext cx="118872" cy="0"/>
          </a:xfrm>
          <a:prstGeom prst="line">
            <a:avLst/>
          </a:prstGeom>
          <a:noFill/>
          <a:ln w="12700">
            <a:solidFill>
              <a:srgbClr val="5B6472"/>
            </a:solidFill>
            <a:prstDash val="solid"/>
            <a:tailEnd type="triangle"/>
          </a:ln>
        </p:spPr>
      </p:sp>
      <p:sp>
        <p:nvSpPr>
          <p:cNvPr id="17" name="Shape 15"/>
          <p:cNvSpPr/>
          <p:nvPr/>
        </p:nvSpPr>
        <p:spPr>
          <a:xfrm>
            <a:off x="3995928" y="1371600"/>
            <a:ext cx="1051560" cy="685800"/>
          </a:xfrm>
          <a:prstGeom prst="roundRect">
            <a:avLst>
              <a:gd name="adj" fmla="val 8000"/>
            </a:avLst>
          </a:prstGeom>
          <a:solidFill>
            <a:srgbClr val="E3F6F0"/>
          </a:solidFill>
          <a:ln w="9525">
            <a:solidFill>
              <a:srgbClr val="0F8B6C"/>
            </a:solidFill>
            <a:prstDash val="solid"/>
          </a:ln>
        </p:spPr>
      </p:sp>
      <p:sp>
        <p:nvSpPr>
          <p:cNvPr id="18" name="Text 16"/>
          <p:cNvSpPr txBox="1"/>
          <p:nvPr/>
        </p:nvSpPr>
        <p:spPr>
          <a:xfrm>
            <a:off x="4041648" y="1371600"/>
            <a:ext cx="960120" cy="685800"/>
          </a:xfrm>
          <a:prstGeom prst="rect">
            <a:avLst/>
          </a:prstGeom>
          <a:noFill/>
          <a:ln/>
        </p:spPr>
        <p:txBody>
          <a:bodyPr wrap="square" lIns="0" tIns="0" rIns="0" bIns="0" rtlCol="0" anchor="ctr"/>
          <a:lstStyle/>
          <a:p>
            <a:pPr algn="ctr" indent="0" marL="0">
              <a:buNone/>
            </a:pPr>
            <a:r>
              <a:rPr lang="en-US" sz="700" b="1" dirty="0">
                <a:solidFill>
                  <a:srgbClr val="0F8B6C"/>
                </a:solidFill>
                <a:latin typeface="Aptos" pitchFamily="34" charset="0"/>
                <a:ea typeface="Aptos" pitchFamily="34" charset="-122"/>
                <a:cs typeface="Aptos" pitchFamily="34" charset="-120"/>
              </a:rPr>
              <a:t>CJ</a:t>
            </a:r>
            <a:endParaRPr lang="en-US" sz="700" dirty="0"/>
          </a:p>
          <a:p>
            <a:pPr algn="ctr" indent="0" marL="0">
              <a:buNone/>
            </a:pPr>
            <a:r>
              <a:rPr lang="en-US" sz="700" dirty="0">
                <a:solidFill>
                  <a:srgbClr val="5B6472"/>
                </a:solidFill>
                <a:latin typeface="Aptos" pitchFamily="34" charset="0"/>
                <a:ea typeface="Aptos" pitchFamily="34" charset="-122"/>
                <a:cs typeface="Aptos" pitchFamily="34" charset="-120"/>
              </a:rPr>
              <a:t>ADD_CART</a:t>
            </a:r>
            <a:endParaRPr lang="en-US" sz="700" dirty="0"/>
          </a:p>
        </p:txBody>
      </p:sp>
      <p:sp>
        <p:nvSpPr>
          <p:cNvPr id="19" name="Shape 17"/>
          <p:cNvSpPr/>
          <p:nvPr/>
        </p:nvSpPr>
        <p:spPr>
          <a:xfrm>
            <a:off x="5047488" y="1714500"/>
            <a:ext cx="118872" cy="0"/>
          </a:xfrm>
          <a:prstGeom prst="line">
            <a:avLst/>
          </a:prstGeom>
          <a:noFill/>
          <a:ln w="12700">
            <a:solidFill>
              <a:srgbClr val="5B6472"/>
            </a:solidFill>
            <a:prstDash val="solid"/>
            <a:tailEnd type="triangle"/>
          </a:ln>
        </p:spPr>
      </p:sp>
      <p:sp>
        <p:nvSpPr>
          <p:cNvPr id="20" name="Shape 18"/>
          <p:cNvSpPr/>
          <p:nvPr/>
        </p:nvSpPr>
        <p:spPr>
          <a:xfrm>
            <a:off x="5166360" y="1371600"/>
            <a:ext cx="1051560" cy="685800"/>
          </a:xfrm>
          <a:prstGeom prst="roundRect">
            <a:avLst>
              <a:gd name="adj" fmla="val 8000"/>
            </a:avLst>
          </a:prstGeom>
          <a:solidFill>
            <a:srgbClr val="E3F6F0"/>
          </a:solidFill>
          <a:ln w="9525">
            <a:solidFill>
              <a:srgbClr val="0F8B6C"/>
            </a:solidFill>
            <a:prstDash val="solid"/>
          </a:ln>
        </p:spPr>
      </p:sp>
      <p:sp>
        <p:nvSpPr>
          <p:cNvPr id="21" name="Text 19"/>
          <p:cNvSpPr txBox="1"/>
          <p:nvPr/>
        </p:nvSpPr>
        <p:spPr>
          <a:xfrm>
            <a:off x="5212080" y="1371600"/>
            <a:ext cx="960120" cy="685800"/>
          </a:xfrm>
          <a:prstGeom prst="rect">
            <a:avLst/>
          </a:prstGeom>
          <a:noFill/>
          <a:ln/>
        </p:spPr>
        <p:txBody>
          <a:bodyPr wrap="square" lIns="0" tIns="0" rIns="0" bIns="0" rtlCol="0" anchor="ctr"/>
          <a:lstStyle/>
          <a:p>
            <a:pPr algn="ctr" indent="0" marL="0">
              <a:buNone/>
            </a:pPr>
            <a:r>
              <a:rPr lang="en-US" sz="700" b="1" dirty="0">
                <a:solidFill>
                  <a:srgbClr val="0F8B6C"/>
                </a:solidFill>
                <a:latin typeface="Aptos" pitchFamily="34" charset="0"/>
                <a:ea typeface="Aptos" pitchFamily="34" charset="-122"/>
                <a:cs typeface="Aptos" pitchFamily="34" charset="-120"/>
              </a:rPr>
              <a:t>CJ</a:t>
            </a:r>
            <a:endParaRPr lang="en-US" sz="700" dirty="0"/>
          </a:p>
          <a:p>
            <a:pPr algn="ctr" indent="0" marL="0">
              <a:buNone/>
            </a:pPr>
            <a:r>
              <a:rPr lang="en-US" sz="700" dirty="0">
                <a:solidFill>
                  <a:srgbClr val="5B6472"/>
                </a:solidFill>
                <a:latin typeface="Aptos" pitchFamily="34" charset="0"/>
                <a:ea typeface="Aptos" pitchFamily="34" charset="-122"/>
                <a:cs typeface="Aptos" pitchFamily="34" charset="-120"/>
              </a:rPr>
              <a:t>ADD_CART_CONFIRM</a:t>
            </a:r>
            <a:endParaRPr lang="en-US" sz="700" dirty="0"/>
          </a:p>
        </p:txBody>
      </p:sp>
      <p:sp>
        <p:nvSpPr>
          <p:cNvPr id="22" name="Shape 20"/>
          <p:cNvSpPr/>
          <p:nvPr/>
        </p:nvSpPr>
        <p:spPr>
          <a:xfrm>
            <a:off x="6217920" y="1714500"/>
            <a:ext cx="118872" cy="0"/>
          </a:xfrm>
          <a:prstGeom prst="line">
            <a:avLst/>
          </a:prstGeom>
          <a:noFill/>
          <a:ln w="12700">
            <a:solidFill>
              <a:srgbClr val="5B6472"/>
            </a:solidFill>
            <a:prstDash val="solid"/>
            <a:tailEnd type="triangle"/>
          </a:ln>
        </p:spPr>
      </p:sp>
      <p:sp>
        <p:nvSpPr>
          <p:cNvPr id="23" name="Shape 21"/>
          <p:cNvSpPr/>
          <p:nvPr/>
        </p:nvSpPr>
        <p:spPr>
          <a:xfrm>
            <a:off x="6336792" y="1371600"/>
            <a:ext cx="1051560" cy="685800"/>
          </a:xfrm>
          <a:prstGeom prst="roundRect">
            <a:avLst>
              <a:gd name="adj" fmla="val 8000"/>
            </a:avLst>
          </a:prstGeom>
          <a:solidFill>
            <a:srgbClr val="FFFFFF"/>
          </a:solidFill>
          <a:ln w="9525">
            <a:solidFill>
              <a:srgbClr val="D7DCE2"/>
            </a:solidFill>
            <a:prstDash val="solid"/>
          </a:ln>
        </p:spPr>
      </p:sp>
      <p:sp>
        <p:nvSpPr>
          <p:cNvPr id="24" name="Text 22"/>
          <p:cNvSpPr txBox="1"/>
          <p:nvPr/>
        </p:nvSpPr>
        <p:spPr>
          <a:xfrm>
            <a:off x="6382512" y="1371600"/>
            <a:ext cx="960120" cy="685800"/>
          </a:xfrm>
          <a:prstGeom prst="rect">
            <a:avLst/>
          </a:prstGeom>
          <a:noFill/>
          <a:ln/>
        </p:spPr>
        <p:txBody>
          <a:bodyPr wrap="square" lIns="0" tIns="0" rIns="0" bIns="0" rtlCol="0" anchor="ctr"/>
          <a:lstStyle/>
          <a:p>
            <a:pPr algn="ctr" indent="0" marL="0">
              <a:buNone/>
            </a:pPr>
            <a:r>
              <a:rPr lang="en-US" sz="700" b="1" dirty="0">
                <a:solidFill>
                  <a:srgbClr val="13224A"/>
                </a:solidFill>
                <a:latin typeface="Aptos" pitchFamily="34" charset="0"/>
                <a:ea typeface="Aptos" pitchFamily="34" charset="-122"/>
                <a:cs typeface="Aptos" pitchFamily="34" charset="-120"/>
              </a:rPr>
              <a:t>CJ</a:t>
            </a:r>
            <a:endParaRPr lang="en-US" sz="700" dirty="0"/>
          </a:p>
          <a:p>
            <a:pPr algn="ctr" indent="0" marL="0">
              <a:buNone/>
            </a:pPr>
            <a:r>
              <a:rPr lang="en-US" sz="700" dirty="0">
                <a:solidFill>
                  <a:srgbClr val="5B6472"/>
                </a:solidFill>
                <a:latin typeface="Aptos" pitchFamily="34" charset="0"/>
                <a:ea typeface="Aptos" pitchFamily="34" charset="-122"/>
                <a:cs typeface="Aptos" pitchFamily="34" charset="-120"/>
              </a:rPr>
              <a:t>SAVE / PARENT ORDER</a:t>
            </a:r>
            <a:endParaRPr lang="en-US" sz="700" dirty="0"/>
          </a:p>
        </p:txBody>
      </p:sp>
      <p:sp>
        <p:nvSpPr>
          <p:cNvPr id="25" name="Shape 23"/>
          <p:cNvSpPr/>
          <p:nvPr/>
        </p:nvSpPr>
        <p:spPr>
          <a:xfrm>
            <a:off x="7388352" y="1714500"/>
            <a:ext cx="118872" cy="0"/>
          </a:xfrm>
          <a:prstGeom prst="line">
            <a:avLst/>
          </a:prstGeom>
          <a:noFill/>
          <a:ln w="12700">
            <a:solidFill>
              <a:srgbClr val="5B6472"/>
            </a:solidFill>
            <a:prstDash val="solid"/>
            <a:tailEnd type="triangle"/>
          </a:ln>
        </p:spPr>
      </p:sp>
      <p:sp>
        <p:nvSpPr>
          <p:cNvPr id="26" name="Shape 24"/>
          <p:cNvSpPr/>
          <p:nvPr/>
        </p:nvSpPr>
        <p:spPr>
          <a:xfrm>
            <a:off x="7507224" y="1371600"/>
            <a:ext cx="1051560" cy="685800"/>
          </a:xfrm>
          <a:prstGeom prst="roundRect">
            <a:avLst>
              <a:gd name="adj" fmla="val 8000"/>
            </a:avLst>
          </a:prstGeom>
          <a:solidFill>
            <a:srgbClr val="FDECEF"/>
          </a:solidFill>
          <a:ln w="9525">
            <a:solidFill>
              <a:srgbClr val="C8283C"/>
            </a:solidFill>
            <a:prstDash val="solid"/>
          </a:ln>
        </p:spPr>
      </p:sp>
      <p:sp>
        <p:nvSpPr>
          <p:cNvPr id="27" name="Text 25"/>
          <p:cNvSpPr txBox="1"/>
          <p:nvPr/>
        </p:nvSpPr>
        <p:spPr>
          <a:xfrm>
            <a:off x="7552944" y="1371600"/>
            <a:ext cx="960120" cy="685800"/>
          </a:xfrm>
          <a:prstGeom prst="rect">
            <a:avLst/>
          </a:prstGeom>
          <a:noFill/>
          <a:ln/>
        </p:spPr>
        <p:txBody>
          <a:bodyPr wrap="square" lIns="0" tIns="0" rIns="0" bIns="0" rtlCol="0" anchor="ctr"/>
          <a:lstStyle/>
          <a:p>
            <a:pPr algn="ctr" indent="0" marL="0">
              <a:buNone/>
            </a:pPr>
            <a:r>
              <a:rPr lang="en-US" sz="700" b="1" dirty="0">
                <a:solidFill>
                  <a:srgbClr val="C8283C"/>
                </a:solidFill>
                <a:latin typeface="Aptos" pitchFamily="34" charset="0"/>
                <a:ea typeface="Aptos" pitchFamily="34" charset="-122"/>
                <a:cs typeface="Aptos" pitchFamily="34" charset="-120"/>
              </a:rPr>
              <a:t>CJ</a:t>
            </a:r>
            <a:endParaRPr lang="en-US" sz="700" dirty="0"/>
          </a:p>
          <a:p>
            <a:pPr algn="ctr" indent="0" marL="0">
              <a:buNone/>
            </a:pPr>
            <a:r>
              <a:rPr lang="en-US" sz="700" dirty="0">
                <a:solidFill>
                  <a:srgbClr val="5B6472"/>
                </a:solidFill>
                <a:latin typeface="Aptos" pitchFamily="34" charset="0"/>
                <a:ea typeface="Aptos" pitchFamily="34" charset="-122"/>
                <a:cs typeface="Aptos" pitchFamily="34" charset="-120"/>
              </a:rPr>
              <a:t>PAY_BALANCE_V2</a:t>
            </a:r>
            <a:endParaRPr lang="en-US" sz="700" dirty="0"/>
          </a:p>
        </p:txBody>
      </p:sp>
      <p:sp>
        <p:nvSpPr>
          <p:cNvPr id="28" name="Shape 26"/>
          <p:cNvSpPr/>
          <p:nvPr/>
        </p:nvSpPr>
        <p:spPr>
          <a:xfrm>
            <a:off x="2825496" y="2148840"/>
            <a:ext cx="3392424" cy="0"/>
          </a:xfrm>
          <a:prstGeom prst="line">
            <a:avLst/>
          </a:prstGeom>
          <a:noFill/>
          <a:ln w="25400">
            <a:solidFill>
              <a:srgbClr val="0F8B6C"/>
            </a:solidFill>
            <a:prstDash val="solid"/>
          </a:ln>
        </p:spPr>
      </p:sp>
      <p:sp>
        <p:nvSpPr>
          <p:cNvPr id="29" name="Text 27"/>
          <p:cNvSpPr txBox="1"/>
          <p:nvPr/>
        </p:nvSpPr>
        <p:spPr>
          <a:xfrm>
            <a:off x="2825496" y="2194560"/>
            <a:ext cx="3392424" cy="228600"/>
          </a:xfrm>
          <a:prstGeom prst="rect">
            <a:avLst/>
          </a:prstGeom>
          <a:noFill/>
          <a:ln/>
        </p:spPr>
        <p:txBody>
          <a:bodyPr wrap="square" lIns="0" tIns="0" rIns="0" bIns="0" rtlCol="0" anchor="ctr"/>
          <a:lstStyle/>
          <a:p>
            <a:pPr algn="ctr" indent="0" marL="0">
              <a:buNone/>
            </a:pPr>
            <a:r>
              <a:rPr lang="en-US" sz="750" b="1" dirty="0">
                <a:solidFill>
                  <a:srgbClr val="0F8B6C"/>
                </a:solidFill>
                <a:latin typeface="Aptos" pitchFamily="34" charset="0"/>
                <a:ea typeface="Aptos" pitchFamily="34" charset="-122"/>
                <a:cs typeface="Aptos" pitchFamily="34" charset="-120"/>
              </a:rPr>
              <a:t>v3 cancellation window = CJ CREATED / IN_CART. Elapsed time in production: seconds.</a:t>
            </a:r>
            <a:endParaRPr lang="en-US" sz="750" dirty="0"/>
          </a:p>
        </p:txBody>
      </p:sp>
      <p:sp>
        <p:nvSpPr>
          <p:cNvPr id="30" name="Shape 28"/>
          <p:cNvSpPr/>
          <p:nvPr/>
        </p:nvSpPr>
        <p:spPr>
          <a:xfrm>
            <a:off x="484632" y="2148840"/>
            <a:ext cx="2221992" cy="0"/>
          </a:xfrm>
          <a:prstGeom prst="line">
            <a:avLst/>
          </a:prstGeom>
          <a:noFill/>
          <a:ln w="25400">
            <a:solidFill>
              <a:srgbClr val="C8283C"/>
            </a:solidFill>
            <a:prstDash val="solid"/>
          </a:ln>
        </p:spPr>
      </p:sp>
      <p:sp>
        <p:nvSpPr>
          <p:cNvPr id="31" name="Text 29"/>
          <p:cNvSpPr txBox="1"/>
          <p:nvPr/>
        </p:nvSpPr>
        <p:spPr>
          <a:xfrm>
            <a:off x="484632" y="2194560"/>
            <a:ext cx="2221992" cy="228600"/>
          </a:xfrm>
          <a:prstGeom prst="rect">
            <a:avLst/>
          </a:prstGeom>
          <a:noFill/>
          <a:ln/>
        </p:spPr>
        <p:txBody>
          <a:bodyPr wrap="square" lIns="0" tIns="0" rIns="0" bIns="0" rtlCol="0" anchor="ctr"/>
          <a:lstStyle/>
          <a:p>
            <a:pPr algn="ctr" indent="0" marL="0">
              <a:buNone/>
            </a:pPr>
            <a:r>
              <a:rPr lang="en-US" sz="750" b="1" dirty="0">
                <a:solidFill>
                  <a:srgbClr val="C8283C"/>
                </a:solidFill>
                <a:latin typeface="Aptos" pitchFamily="34" charset="0"/>
                <a:ea typeface="Aptos" pitchFamily="34" charset="-122"/>
                <a:cs typeface="Aptos" pitchFamily="34" charset="-120"/>
              </a:rPr>
              <a:t>Charged from here. Nothing pauses.</a:t>
            </a:r>
            <a:endParaRPr lang="en-US" sz="750" dirty="0"/>
          </a:p>
        </p:txBody>
      </p:sp>
      <p:sp>
        <p:nvSpPr>
          <p:cNvPr id="32" name="Text 30"/>
          <p:cNvSpPr txBox="1"/>
          <p:nvPr/>
        </p:nvSpPr>
        <p:spPr>
          <a:xfrm>
            <a:off x="484632" y="2651760"/>
            <a:ext cx="3931920" cy="173736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The accept route calls dispatchOutbox immediately after acceptCheckoutOrder commits.</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The worker runs every CJ step in one pass. It does not stop between CREATED and PAY_BALANCE.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Stripe is captured at checkout, not authorised. There is no "refund if charged" case: every order is charged.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Result under v3: a customer who picks the wrong size and cancels 30 seconds later is declined.</a:t>
            </a:r>
            <a:endParaRPr lang="en-US" sz="800" dirty="0"/>
          </a:p>
        </p:txBody>
      </p:sp>
      <p:sp>
        <p:nvSpPr>
          <p:cNvPr id="33" name="Text 31"/>
          <p:cNvSpPr txBox="1"/>
          <p:nvPr/>
        </p:nvSpPr>
        <p:spPr>
          <a:xfrm>
            <a:off x="4663440" y="2651760"/>
            <a:ext cx="4023360" cy="173736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The only pause today is AWAITING_SUPPLIER_FUNDS: the worker stops because the CJ wallet is short. v3 still declined these.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CJ API: only CREATED and IN_CART are deletable. Paid orders are cancelled through a CJ dispute, which the API also supports (next slide).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The outbox already supports notBefore. A hold window is a one-line change in the dispatch call, not new infrastructure.</a:t>
            </a:r>
            <a:endParaRPr lang="en-US" sz="800" dirty="0"/>
          </a:p>
        </p:txBody>
      </p:sp>
      <p:sp>
        <p:nvSpPr>
          <p:cNvPr id="34" name="Shape 32"/>
          <p:cNvSpPr/>
          <p:nvPr/>
        </p:nvSpPr>
        <p:spPr>
          <a:xfrm>
            <a:off x="411480" y="4434840"/>
            <a:ext cx="8321040" cy="329184"/>
          </a:xfrm>
          <a:prstGeom prst="roundRect">
            <a:avLst>
              <a:gd name="adj" fmla="val 16667"/>
            </a:avLst>
          </a:prstGeom>
          <a:solidFill>
            <a:srgbClr val="E3F6F0"/>
          </a:solidFill>
          <a:ln w="9525">
            <a:solidFill>
              <a:srgbClr val="0F8B6C"/>
            </a:solidFill>
            <a:prstDash val="solid"/>
          </a:ln>
        </p:spPr>
      </p:sp>
      <p:sp>
        <p:nvSpPr>
          <p:cNvPr id="35" name="Text 33"/>
          <p:cNvSpPr txBox="1"/>
          <p:nvPr/>
        </p:nvSpPr>
        <p:spPr>
          <a:xfrm>
            <a:off x="640080" y="4434840"/>
            <a:ext cx="1005840" cy="329184"/>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CONCLUSION</a:t>
            </a:r>
            <a:endParaRPr lang="en-US" sz="650" dirty="0"/>
          </a:p>
        </p:txBody>
      </p:sp>
      <p:sp>
        <p:nvSpPr>
          <p:cNvPr id="36" name="Text 34"/>
          <p:cNvSpPr txBox="1"/>
          <p:nvPr/>
        </p:nvSpPr>
        <p:spPr>
          <a:xfrm>
            <a:off x="1600200" y="4434840"/>
            <a:ext cx="6949440" cy="329184"/>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Keep CJ status as the gate, but put a Sals3 hold window in front of it so the gate is actually open for a while.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CJ POLICY CHECK, 10 SEP 2026</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What CJ actually allows</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04</a:t>
            </a:r>
            <a:endParaRPr lang="en-US" sz="6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1600200"/>
                <a:gridCol w="4709160"/>
                <a:gridCol w="2011680"/>
              </a:tblGrid>
              <a:tr h="324612">
                <a:tc>
                  <a:txBody>
                    <a:bodyPr/>
                    <a:lstStyle/>
                    <a:p>
                      <a:pPr indent="0" marL="0">
                        <a:buNone/>
                      </a:pPr>
                      <a:r>
                        <a:rPr lang="en-US" sz="650" b="1" dirty="0">
                          <a:solidFill>
                            <a:srgbClr val="FFFFFF"/>
                          </a:solidFill>
                          <a:latin typeface="Aptos" pitchFamily="34" charset="0"/>
                          <a:ea typeface="Aptos" pitchFamily="34" charset="-122"/>
                          <a:cs typeface="Aptos" pitchFamily="34" charset="-120"/>
                        </a:rPr>
                        <a:t>Question</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50" b="1" dirty="0">
                          <a:solidFill>
                            <a:srgbClr val="FFFFFF"/>
                          </a:solidFill>
                          <a:latin typeface="Aptos" pitchFamily="34" charset="0"/>
                          <a:ea typeface="Aptos" pitchFamily="34" charset="-122"/>
                          <a:cs typeface="Aptos" pitchFamily="34" charset="-120"/>
                        </a:rPr>
                        <a:t>What CJ says</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50" b="1" dirty="0">
                          <a:solidFill>
                            <a:srgbClr val="FFFFFF"/>
                          </a:solidFill>
                          <a:latin typeface="Aptos" pitchFamily="34" charset="0"/>
                          <a:ea typeface="Aptos" pitchFamily="34" charset="-122"/>
                          <a:cs typeface="Aptos" pitchFamily="34" charset="-120"/>
                        </a:rPr>
                        <a:t>Source</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r>
              <a:tr h="324612">
                <a:tc>
                  <a:txBody>
                    <a:bodyPr/>
                    <a:lstStyle/>
                    <a:p>
                      <a:pPr indent="0" marL="0">
                        <a:buNone/>
                      </a:pPr>
                      <a:r>
                        <a:rPr lang="en-US" sz="650" dirty="0">
                          <a:solidFill>
                            <a:srgbClr val="1E2A44"/>
                          </a:solidFill>
                          <a:latin typeface="Aptos" pitchFamily="34" charset="0"/>
                          <a:ea typeface="Aptos" pitchFamily="34" charset="-122"/>
                          <a:cs typeface="Aptos" pitchFamily="34" charset="-120"/>
                        </a:rPr>
                        <a:t>Can a paid order be cancelled?</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"For orders cancellation, CJ offers a full refund before products are processed by warehouses." Exceptions: POD, preorder inventory, video/photo orders.</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Refund, Resend and Returns Policy §5</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4612">
                <a:tc>
                  <a:txBody>
                    <a:bodyPr/>
                    <a:lstStyle/>
                    <a:p>
                      <a:pPr indent="0" marL="0">
                        <a:buNone/>
                      </a:pPr>
                      <a:r>
                        <a:rPr lang="en-US" sz="650" dirty="0">
                          <a:solidFill>
                            <a:srgbClr val="1E2A44"/>
                          </a:solidFill>
                          <a:latin typeface="Aptos" pitchFamily="34" charset="0"/>
                          <a:ea typeface="Aptos" pitchFamily="34" charset="-122"/>
                          <a:cs typeface="Aptos" pitchFamily="34" charset="-120"/>
                        </a:rPr>
                        <a:t>How?</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Open a dispute. Allowed at Pending, Processing, Dispatched, Completed. Not at Awaiting Payment or Closed. Opening pauses order processing.</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Help centre: How to Open/Close a Dispute (edited 08 Sep 2026)</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4612">
                <a:tc>
                  <a:txBody>
                    <a:bodyPr/>
                    <a:lstStyle/>
                    <a:p>
                      <a:pPr indent="0" marL="0">
                        <a:buNone/>
                      </a:pPr>
                      <a:r>
                        <a:rPr lang="en-US" sz="650" dirty="0">
                          <a:solidFill>
                            <a:srgbClr val="1E2A44"/>
                          </a:solidFill>
                          <a:latin typeface="Aptos" pitchFamily="34" charset="0"/>
                          <a:ea typeface="Aptos" pitchFamily="34" charset="-122"/>
                          <a:cs typeface="Aptos" pitchFamily="34" charset="-120"/>
                        </a:rPr>
                        <a:t>Evidence needed?</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"For orders in the status of Pending or Processing, extra evidence is not required."</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Help centre: Required Information in Opening a Dispute</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4612">
                <a:tc>
                  <a:txBody>
                    <a:bodyPr/>
                    <a:lstStyle/>
                    <a:p>
                      <a:pPr indent="0" marL="0">
                        <a:buNone/>
                      </a:pPr>
                      <a:r>
                        <a:rPr lang="en-US" sz="650" dirty="0">
                          <a:solidFill>
                            <a:srgbClr val="1E2A44"/>
                          </a:solidFill>
                          <a:latin typeface="Aptos" pitchFamily="34" charset="0"/>
                          <a:ea typeface="Aptos" pitchFamily="34" charset="-122"/>
                          <a:cs typeface="Aptos" pitchFamily="34" charset="-120"/>
                        </a:rPr>
                        <a:t>Reason code</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"Unfulfilled Order Cancellation" exists; CJ’s own Reorder feature opens it automatically. Decided by the platform, not the agent.</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Help centre: How to Replace an Order; API dispute docs</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4612">
                <a:tc>
                  <a:txBody>
                    <a:bodyPr/>
                    <a:lstStyle/>
                    <a:p>
                      <a:pPr indent="0" marL="0">
                        <a:buNone/>
                      </a:pPr>
                      <a:r>
                        <a:rPr lang="en-US" sz="650" dirty="0">
                          <a:solidFill>
                            <a:srgbClr val="1E2A44"/>
                          </a:solidFill>
                          <a:latin typeface="Aptos" pitchFamily="34" charset="0"/>
                          <a:ea typeface="Aptos" pitchFamily="34" charset="-122"/>
                          <a:cs typeface="Aptos" pitchFamily="34" charset="-120"/>
                        </a:rPr>
                        <a:t>By API?</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Yes: disputeProducts → disputeConfirmInfo → create. Only for orders created through the API (all Sals3 orders are). refundType 1 = wallet, 2 = original method.</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developers.cjdropshipping.com §7 Dispute</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4612">
                <a:tc>
                  <a:txBody>
                    <a:bodyPr/>
                    <a:lstStyle/>
                    <a:p>
                      <a:pPr indent="0" marL="0">
                        <a:buNone/>
                      </a:pPr>
                      <a:r>
                        <a:rPr lang="en-US" sz="650" dirty="0">
                          <a:solidFill>
                            <a:srgbClr val="1E2A44"/>
                          </a:solidFill>
                          <a:latin typeface="Aptos" pitchFamily="34" charset="0"/>
                          <a:ea typeface="Aptos" pitchFamily="34" charset="-122"/>
                          <a:cs typeface="Aptos" pitchFamily="34" charset="-120"/>
                        </a:rPr>
                        <a:t>Delete by API?</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deleteOrder only at CREATED / IN_CART. UNPAID: dashboard "Cancel" (moves to Trash); inventory lock expires after 24 h.</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API 1.8; help centre: 6 Order Status</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4612">
                <a:tc>
                  <a:txBody>
                    <a:bodyPr/>
                    <a:lstStyle/>
                    <a:p>
                      <a:pPr indent="0" marL="0">
                        <a:buNone/>
                      </a:pPr>
                      <a:r>
                        <a:rPr lang="en-US" sz="650" dirty="0">
                          <a:solidFill>
                            <a:srgbClr val="1E2A44"/>
                          </a:solidFill>
                          <a:latin typeface="Aptos" pitchFamily="34" charset="0"/>
                          <a:ea typeface="Aptos" pitchFamily="34" charset="-122"/>
                          <a:cs typeface="Aptos" pitchFamily="34" charset="-120"/>
                        </a:rPr>
                        <a:t>Refund destination and time</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Wallet-paid orders refund to CJ Wallet, 1–3 days. Card/PayPal can go to the original method (5–10 business days).</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Help centre: How Long Does It Take to Refund</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4612">
                <a:tc>
                  <a:txBody>
                    <a:bodyPr/>
                    <a:lstStyle/>
                    <a:p>
                      <a:pPr indent="0" marL="0">
                        <a:buNone/>
                      </a:pPr>
                      <a:r>
                        <a:rPr lang="en-US" sz="650" dirty="0">
                          <a:solidFill>
                            <a:srgbClr val="1E2A44"/>
                          </a:solidFill>
                          <a:latin typeface="Aptos" pitchFamily="34" charset="0"/>
                          <a:ea typeface="Aptos" pitchFamily="34" charset="-122"/>
                          <a:cs typeface="Aptos" pitchFamily="34" charset="-120"/>
                        </a:rPr>
                        <a:t>Sals3 track record</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7 disputes on the account. 5 were "Unfulfilled Order Cancellation": 5 of 5 refunded, 100% of product + shipping (e.g. $74.80 = $38.72 + $36.08). 1 "Purchase out of stock" refunded.</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CJ API getDisputeList / getDisputeDetail, 10 Sep 2026</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4612">
                <a:tc>
                  <a:txBody>
                    <a:bodyPr/>
                    <a:lstStyle/>
                    <a:p>
                      <a:pPr indent="0" marL="0">
                        <a:buNone/>
                      </a:pPr>
                      <a:r>
                        <a:rPr lang="en-US" sz="650" dirty="0">
                          <a:solidFill>
                            <a:srgbClr val="1E2A44"/>
                          </a:solidFill>
                          <a:latin typeface="Aptos" pitchFamily="34" charset="0"/>
                          <a:ea typeface="Aptos" pitchFamily="34" charset="-122"/>
                          <a:cs typeface="Aptos" pitchFamily="34" charset="-120"/>
                        </a:rPr>
                        <a:t>Timing to ship</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Paid orders get a tracking number within 24 h (48 h for free-shipping items); Processing can run longer when stock is replenished.</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50" dirty="0">
                          <a:solidFill>
                            <a:srgbClr val="1E2A44"/>
                          </a:solidFill>
                          <a:latin typeface="Aptos" pitchFamily="34" charset="0"/>
                          <a:ea typeface="Aptos" pitchFamily="34" charset="-122"/>
                          <a:cs typeface="Aptos" pitchFamily="34" charset="-120"/>
                        </a:rPr>
                        <a:t>Help centre: 6 Order Status</a:t>
                      </a:r>
                      <a:endParaRPr lang="en-US" sz="65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bl>
          </a:graphicData>
        </a:graphic>
      </p:graphicFrame>
      <p:sp>
        <p:nvSpPr>
          <p:cNvPr id="8" name="Shape 5"/>
          <p:cNvSpPr/>
          <p:nvPr/>
        </p:nvSpPr>
        <p:spPr>
          <a:xfrm>
            <a:off x="411480" y="4498848"/>
            <a:ext cx="8321040" cy="274320"/>
          </a:xfrm>
          <a:prstGeom prst="roundRect">
            <a:avLst>
              <a:gd name="adj" fmla="val 20000"/>
            </a:avLst>
          </a:prstGeom>
          <a:solidFill>
            <a:srgbClr val="E3F6F0"/>
          </a:solidFill>
          <a:ln w="9525">
            <a:solidFill>
              <a:srgbClr val="0F8B6C"/>
            </a:solidFill>
            <a:prstDash val="solid"/>
          </a:ln>
        </p:spPr>
      </p:sp>
      <p:sp>
        <p:nvSpPr>
          <p:cNvPr id="9" name="Text 6"/>
          <p:cNvSpPr txBox="1"/>
          <p:nvPr/>
        </p:nvSpPr>
        <p:spPr>
          <a:xfrm>
            <a:off x="640080" y="4498848"/>
            <a:ext cx="1005840" cy="274320"/>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SO WHAT</a:t>
            </a:r>
            <a:endParaRPr lang="en-US" sz="650" dirty="0"/>
          </a:p>
        </p:txBody>
      </p:sp>
      <p:sp>
        <p:nvSpPr>
          <p:cNvPr id="10" name="Text 7"/>
          <p:cNvSpPr txBox="1"/>
          <p:nvPr/>
        </p:nvSpPr>
        <p:spPr>
          <a:xfrm>
            <a:off x="1600200" y="4498848"/>
            <a:ext cx="6949440" cy="274320"/>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Paid-but-unshipped is not a "request and hope" case. It is a documented, evidence-free, API-driven refund path that has never been refused on this account.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THE FIX</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Sals3 hold window: the order waits before it is sent to CJ</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05</a:t>
            </a:r>
            <a:endParaRPr lang="en-US" sz="650" dirty="0"/>
          </a:p>
        </p:txBody>
      </p:sp>
      <p:sp>
        <p:nvSpPr>
          <p:cNvPr id="7" name="Shape 5"/>
          <p:cNvSpPr/>
          <p:nvPr/>
        </p:nvSpPr>
        <p:spPr>
          <a:xfrm>
            <a:off x="411480" y="1051560"/>
            <a:ext cx="4023360" cy="2331720"/>
          </a:xfrm>
          <a:prstGeom prst="roundRect">
            <a:avLst>
              <a:gd name="adj" fmla="val 2353"/>
            </a:avLst>
          </a:prstGeom>
          <a:solidFill>
            <a:srgbClr val="FFFFFF"/>
          </a:solidFill>
          <a:ln w="9525">
            <a:solidFill>
              <a:srgbClr val="D7DCE2"/>
            </a:solidFill>
            <a:prstDash val="solid"/>
          </a:ln>
        </p:spPr>
      </p:sp>
      <p:sp>
        <p:nvSpPr>
          <p:cNvPr id="8" name="Text 6"/>
          <p:cNvSpPr txBox="1"/>
          <p:nvPr/>
        </p:nvSpPr>
        <p:spPr>
          <a:xfrm>
            <a:off x="594360" y="1143000"/>
            <a:ext cx="365760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How it works</a:t>
            </a:r>
            <a:endParaRPr lang="en-US" sz="1100" dirty="0"/>
          </a:p>
        </p:txBody>
      </p:sp>
      <p:sp>
        <p:nvSpPr>
          <p:cNvPr id="9" name="Text 7"/>
          <p:cNvSpPr txBox="1"/>
          <p:nvPr/>
        </p:nvSpPr>
        <p:spPr>
          <a:xfrm>
            <a:off x="594360" y="1463040"/>
            <a:ext cx="3657600" cy="182880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Payment captured → order accepted → FULFILL_ORDER job queued with notBefore = now + HOLD (default 60 minutes).</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While held: order shows "Processing. You can still cancel until HH:MM". Cancel is one click, no approval.</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Cancel during hold: mark the outbox job cancelled, set order CANCELLED, Stripe full refund, email confirmation. Cost to Sals3: Stripe fee only.</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Hold ends: worker sends to CJ in one pass as today. From here CJ status decides (next slide).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Hold is a config value per channel. Shorten or lengthen without a code change.</a:t>
            </a:r>
            <a:endParaRPr lang="en-US" sz="800" dirty="0"/>
          </a:p>
        </p:txBody>
      </p:sp>
      <p:sp>
        <p:nvSpPr>
          <p:cNvPr id="10" name="Shape 8"/>
          <p:cNvSpPr/>
          <p:nvPr/>
        </p:nvSpPr>
        <p:spPr>
          <a:xfrm>
            <a:off x="4663440" y="1051560"/>
            <a:ext cx="4069080" cy="2331720"/>
          </a:xfrm>
          <a:prstGeom prst="roundRect">
            <a:avLst>
              <a:gd name="adj" fmla="val 2353"/>
            </a:avLst>
          </a:prstGeom>
          <a:solidFill>
            <a:srgbClr val="FFFFFF"/>
          </a:solidFill>
          <a:ln w="9525">
            <a:solidFill>
              <a:srgbClr val="D7DCE2"/>
            </a:solidFill>
            <a:prstDash val="solid"/>
          </a:ln>
        </p:spPr>
      </p:sp>
      <p:sp>
        <p:nvSpPr>
          <p:cNvPr id="11" name="Text 9"/>
          <p:cNvSpPr txBox="1"/>
          <p:nvPr/>
        </p:nvSpPr>
        <p:spPr>
          <a:xfrm>
            <a:off x="4846320" y="1143000"/>
            <a:ext cx="370332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Why 60 minutes (to discuss)</a:t>
            </a:r>
            <a:endParaRPr lang="en-US" sz="1100" dirty="0"/>
          </a:p>
        </p:txBody>
      </p:sp>
      <p:sp>
        <p:nvSpPr>
          <p:cNvPr id="12" name="Text 10"/>
          <p:cNvSpPr txBox="1"/>
          <p:nvPr/>
        </p:nvSpPr>
        <p:spPr>
          <a:xfrm>
            <a:off x="4846320" y="1463040"/>
            <a:ext cx="3703320" cy="182880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Catches the common mistakes: wrong size, wrong address, duplicate order, buyer regret in the first minutes.</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Amazon and most Shopify stores allow 30–60 minutes; customers already expect it.</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CJ generates tracking within 24–48 h of payment, so an hour of delay does not move the delivery date.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Alternative: hold until a fixed dispatch time (e.g. twice daily). Simpler for wallet top-ups, longer window, slightly later ship. Owner decision.</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Exceptions: none in phase 1. Every order gets the same hold.</a:t>
            </a:r>
            <a:endParaRPr lang="en-US" sz="800" dirty="0"/>
          </a:p>
        </p:txBody>
      </p:sp>
      <p:sp>
        <p:nvSpPr>
          <p:cNvPr id="13" name="Shape 11"/>
          <p:cNvSpPr/>
          <p:nvPr/>
        </p:nvSpPr>
        <p:spPr>
          <a:xfrm>
            <a:off x="411480" y="3520440"/>
            <a:ext cx="8321040" cy="329184"/>
          </a:xfrm>
          <a:prstGeom prst="roundRect">
            <a:avLst>
              <a:gd name="adj" fmla="val 16667"/>
            </a:avLst>
          </a:prstGeom>
          <a:solidFill>
            <a:srgbClr val="E3F6F0"/>
          </a:solidFill>
          <a:ln w="9525">
            <a:solidFill>
              <a:srgbClr val="0F8B6C"/>
            </a:solidFill>
            <a:prstDash val="solid"/>
          </a:ln>
        </p:spPr>
      </p:sp>
      <p:sp>
        <p:nvSpPr>
          <p:cNvPr id="14" name="Text 12"/>
          <p:cNvSpPr txBox="1"/>
          <p:nvPr/>
        </p:nvSpPr>
        <p:spPr>
          <a:xfrm>
            <a:off x="640080" y="3520440"/>
            <a:ext cx="1005840" cy="329184"/>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CUSTOMER FIRST</a:t>
            </a:r>
            <a:endParaRPr lang="en-US" sz="650" dirty="0"/>
          </a:p>
        </p:txBody>
      </p:sp>
      <p:sp>
        <p:nvSpPr>
          <p:cNvPr id="15" name="Text 13"/>
          <p:cNvSpPr txBox="1"/>
          <p:nvPr/>
        </p:nvSpPr>
        <p:spPr>
          <a:xfrm>
            <a:off x="1600200" y="3520440"/>
            <a:ext cx="6949440" cy="329184"/>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If the order has not left Sals3, cancellation is a right, not a request. No reason required, no support ticket.</a:t>
            </a:r>
            <a:endParaRPr lang="en-US" sz="850" dirty="0"/>
          </a:p>
        </p:txBody>
      </p:sp>
      <p:sp>
        <p:nvSpPr>
          <p:cNvPr id="16" name="Shape 14"/>
          <p:cNvSpPr/>
          <p:nvPr/>
        </p:nvSpPr>
        <p:spPr>
          <a:xfrm>
            <a:off x="411480" y="3931920"/>
            <a:ext cx="8321040" cy="329184"/>
          </a:xfrm>
          <a:prstGeom prst="roundRect">
            <a:avLst>
              <a:gd name="adj" fmla="val 16667"/>
            </a:avLst>
          </a:prstGeom>
          <a:solidFill>
            <a:srgbClr val="E6F0F8"/>
          </a:solidFill>
          <a:ln w="9525">
            <a:solidFill>
              <a:srgbClr val="0A5C8A"/>
            </a:solidFill>
            <a:prstDash val="solid"/>
          </a:ln>
        </p:spPr>
      </p:sp>
      <p:sp>
        <p:nvSpPr>
          <p:cNvPr id="17" name="Text 15"/>
          <p:cNvSpPr txBox="1"/>
          <p:nvPr/>
        </p:nvSpPr>
        <p:spPr>
          <a:xfrm>
            <a:off x="640080" y="3931920"/>
            <a:ext cx="1005840" cy="329184"/>
          </a:xfrm>
          <a:prstGeom prst="rect">
            <a:avLst/>
          </a:prstGeom>
          <a:noFill/>
          <a:ln/>
        </p:spPr>
        <p:txBody>
          <a:bodyPr wrap="square" lIns="0" tIns="0" rIns="0" bIns="0" rtlCol="0" anchor="ctr"/>
          <a:lstStyle/>
          <a:p>
            <a:pPr indent="0" marL="0">
              <a:buNone/>
            </a:pPr>
            <a:r>
              <a:rPr lang="en-US" sz="650" b="1" dirty="0">
                <a:solidFill>
                  <a:srgbClr val="0A5C8A"/>
                </a:solidFill>
                <a:latin typeface="Aptos" pitchFamily="34" charset="0"/>
                <a:ea typeface="Aptos" pitchFamily="34" charset="-122"/>
                <a:cs typeface="Aptos" pitchFamily="34" charset="-120"/>
              </a:rPr>
              <a:t>ENGINEERING</a:t>
            </a:r>
            <a:endParaRPr lang="en-US" sz="650" dirty="0"/>
          </a:p>
        </p:txBody>
      </p:sp>
      <p:sp>
        <p:nvSpPr>
          <p:cNvPr id="18" name="Text 16"/>
          <p:cNvSpPr txBox="1"/>
          <p:nvPr/>
        </p:nvSpPr>
        <p:spPr>
          <a:xfrm>
            <a:off x="1600200" y="3931920"/>
            <a:ext cx="6949440" cy="329184"/>
          </a:xfrm>
          <a:prstGeom prst="rect">
            <a:avLst/>
          </a:prstGeom>
          <a:noFill/>
          <a:ln/>
        </p:spPr>
        <p:txBody>
          <a:bodyPr wrap="square" lIns="0" tIns="0" rIns="0" bIns="0" rtlCol="0" anchor="ctr"/>
          <a:lstStyle/>
          <a:p>
            <a:pPr indent="0" marL="0">
              <a:buNone/>
            </a:pPr>
            <a:r>
              <a:rPr lang="en-US" sz="850" b="1" dirty="0">
                <a:solidFill>
                  <a:srgbClr val="0A5C8A"/>
                </a:solidFill>
                <a:latin typeface="Aptos" pitchFamily="34" charset="0"/>
                <a:ea typeface="Aptos" pitchFamily="34" charset="-122"/>
                <a:cs typeface="Aptos" pitchFamily="34" charset="-120"/>
              </a:rPr>
              <a:t>dispatchOutbox(FULFILL_ORDER, { notBefore }) plus a cancel action that races the job safely (row lock, re-check state before refund).</a:t>
            </a:r>
            <a:endParaRPr lang="en-US" sz="850" dirty="0"/>
          </a:p>
        </p:txBody>
      </p:sp>
      <p:sp>
        <p:nvSpPr>
          <p:cNvPr id="19" name="Shape 17"/>
          <p:cNvSpPr/>
          <p:nvPr/>
        </p:nvSpPr>
        <p:spPr>
          <a:xfrm>
            <a:off x="411480" y="4343400"/>
            <a:ext cx="8321040" cy="329184"/>
          </a:xfrm>
          <a:prstGeom prst="roundRect">
            <a:avLst>
              <a:gd name="adj" fmla="val 16667"/>
            </a:avLst>
          </a:prstGeom>
          <a:solidFill>
            <a:srgbClr val="FFF4DF"/>
          </a:solidFill>
          <a:ln w="9525">
            <a:solidFill>
              <a:srgbClr val="B8720A"/>
            </a:solidFill>
            <a:prstDash val="solid"/>
          </a:ln>
        </p:spPr>
      </p:sp>
      <p:sp>
        <p:nvSpPr>
          <p:cNvPr id="20" name="Text 18"/>
          <p:cNvSpPr txBox="1"/>
          <p:nvPr/>
        </p:nvSpPr>
        <p:spPr>
          <a:xfrm>
            <a:off x="640080" y="4343400"/>
            <a:ext cx="1005840" cy="329184"/>
          </a:xfrm>
          <a:prstGeom prst="rect">
            <a:avLst/>
          </a:prstGeom>
          <a:noFill/>
          <a:ln/>
        </p:spPr>
        <p:txBody>
          <a:bodyPr wrap="square" lIns="0" tIns="0" rIns="0" bIns="0" rtlCol="0" anchor="ctr"/>
          <a:lstStyle/>
          <a:p>
            <a:pPr indent="0" marL="0">
              <a:buNone/>
            </a:pPr>
            <a:r>
              <a:rPr lang="en-US" sz="650" b="1" dirty="0">
                <a:solidFill>
                  <a:srgbClr val="B8720A"/>
                </a:solidFill>
                <a:latin typeface="Aptos" pitchFamily="34" charset="0"/>
                <a:ea typeface="Aptos" pitchFamily="34" charset="-122"/>
                <a:cs typeface="Aptos" pitchFamily="34" charset="-120"/>
              </a:rPr>
              <a:t>NOT A VOID</a:t>
            </a:r>
            <a:endParaRPr lang="en-US" sz="650" dirty="0"/>
          </a:p>
        </p:txBody>
      </p:sp>
      <p:sp>
        <p:nvSpPr>
          <p:cNvPr id="21" name="Text 19"/>
          <p:cNvSpPr txBox="1"/>
          <p:nvPr/>
        </p:nvSpPr>
        <p:spPr>
          <a:xfrm>
            <a:off x="1600200" y="4343400"/>
            <a:ext cx="6949440" cy="329184"/>
          </a:xfrm>
          <a:prstGeom prst="rect">
            <a:avLst/>
          </a:prstGeom>
          <a:noFill/>
          <a:ln/>
        </p:spPr>
        <p:txBody>
          <a:bodyPr wrap="square" lIns="0" tIns="0" rIns="0" bIns="0" rtlCol="0" anchor="ctr"/>
          <a:lstStyle/>
          <a:p>
            <a:pPr indent="0" marL="0">
              <a:buNone/>
            </a:pPr>
            <a:r>
              <a:rPr lang="en-US" sz="850" b="1" dirty="0">
                <a:solidFill>
                  <a:srgbClr val="B8720A"/>
                </a:solidFill>
                <a:latin typeface="Aptos" pitchFamily="34" charset="0"/>
                <a:ea typeface="Aptos" pitchFamily="34" charset="-122"/>
                <a:cs typeface="Aptos" pitchFamily="34" charset="-120"/>
              </a:rPr>
              <a:t>Stripe captures at checkout, so the hold-window cancel is a refund. Tell the customer: 3–10 banking days to appear.</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CANCELLATION STATUS</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Default outcome by fulfilment state (v4 ladder)</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06</a:t>
            </a:r>
            <a:endParaRPr lang="en-US" sz="650" dirty="0"/>
          </a:p>
        </p:txBody>
      </p:sp>
      <p:sp>
        <p:nvSpPr>
          <p:cNvPr id="7" name="Shape 5"/>
          <p:cNvSpPr/>
          <p:nvPr/>
        </p:nvSpPr>
        <p:spPr>
          <a:xfrm>
            <a:off x="411480" y="1005840"/>
            <a:ext cx="2697480" cy="1600200"/>
          </a:xfrm>
          <a:prstGeom prst="roundRect">
            <a:avLst>
              <a:gd name="adj" fmla="val 3429"/>
            </a:avLst>
          </a:prstGeom>
          <a:solidFill>
            <a:srgbClr val="E3F6F0"/>
          </a:solidFill>
          <a:ln w="9525">
            <a:solidFill>
              <a:srgbClr val="0F8B6C"/>
            </a:solidFill>
            <a:prstDash val="solid"/>
          </a:ln>
        </p:spPr>
      </p:sp>
      <p:sp>
        <p:nvSpPr>
          <p:cNvPr id="8" name="Shape 6"/>
          <p:cNvSpPr/>
          <p:nvPr/>
        </p:nvSpPr>
        <p:spPr>
          <a:xfrm>
            <a:off x="576072" y="1161288"/>
            <a:ext cx="274320" cy="274320"/>
          </a:xfrm>
          <a:prstGeom prst="roundRect">
            <a:avLst>
              <a:gd name="adj" fmla="val 16667"/>
            </a:avLst>
          </a:prstGeom>
          <a:solidFill>
            <a:srgbClr val="0F8B6C"/>
          </a:solidFill>
          <a:ln w="12700">
            <a:solidFill>
              <a:srgbClr val="0F8B6C"/>
            </a:solidFill>
            <a:prstDash val="solid"/>
          </a:ln>
        </p:spPr>
      </p:sp>
      <p:sp>
        <p:nvSpPr>
          <p:cNvPr id="9" name="Text 7"/>
          <p:cNvSpPr txBox="1"/>
          <p:nvPr/>
        </p:nvSpPr>
        <p:spPr>
          <a:xfrm>
            <a:off x="576072" y="1161288"/>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01</a:t>
            </a:r>
            <a:endParaRPr lang="en-US" sz="650" dirty="0"/>
          </a:p>
        </p:txBody>
      </p:sp>
      <p:sp>
        <p:nvSpPr>
          <p:cNvPr id="10" name="Text 8"/>
          <p:cNvSpPr txBox="1"/>
          <p:nvPr/>
        </p:nvSpPr>
        <p:spPr>
          <a:xfrm>
            <a:off x="960120" y="1143000"/>
            <a:ext cx="2011680" cy="310896"/>
          </a:xfrm>
          <a:prstGeom prst="rect">
            <a:avLst/>
          </a:prstGeom>
          <a:noFill/>
          <a:ln/>
        </p:spPr>
        <p:txBody>
          <a:bodyPr wrap="square" lIns="0" tIns="0" rIns="0" bIns="0" rtlCol="0" anchor="ctr"/>
          <a:lstStyle/>
          <a:p>
            <a:pPr indent="0" marL="0">
              <a:buNone/>
            </a:pPr>
            <a:r>
              <a:rPr lang="en-US" sz="1100" b="1" dirty="0">
                <a:solidFill>
                  <a:srgbClr val="0F8B6C"/>
                </a:solidFill>
                <a:latin typeface="Aptos" pitchFamily="34" charset="0"/>
                <a:ea typeface="Aptos" pitchFamily="34" charset="-122"/>
                <a:cs typeface="Aptos" pitchFamily="34" charset="-120"/>
              </a:rPr>
              <a:t>Sals3 hold window</a:t>
            </a:r>
            <a:endParaRPr lang="en-US" sz="1100" dirty="0"/>
          </a:p>
        </p:txBody>
      </p:sp>
      <p:sp>
        <p:nvSpPr>
          <p:cNvPr id="11" name="Text 9"/>
          <p:cNvSpPr txBox="1"/>
          <p:nvPr/>
        </p:nvSpPr>
        <p:spPr>
          <a:xfrm>
            <a:off x="576072" y="1508760"/>
            <a:ext cx="2368296" cy="54864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Paid, accepted, not yet sent to CJ. Includes any order whose worker job has not run.</a:t>
            </a:r>
            <a:endParaRPr lang="en-US" sz="780" dirty="0"/>
          </a:p>
        </p:txBody>
      </p:sp>
      <p:sp>
        <p:nvSpPr>
          <p:cNvPr id="12" name="Shape 10"/>
          <p:cNvSpPr/>
          <p:nvPr/>
        </p:nvSpPr>
        <p:spPr>
          <a:xfrm>
            <a:off x="576072" y="2148840"/>
            <a:ext cx="2368296" cy="292608"/>
          </a:xfrm>
          <a:prstGeom prst="roundRect">
            <a:avLst>
              <a:gd name="adj" fmla="val 15625"/>
            </a:avLst>
          </a:prstGeom>
          <a:solidFill>
            <a:srgbClr val="FFFFFF"/>
          </a:solidFill>
          <a:ln w="9525">
            <a:solidFill>
              <a:srgbClr val="0F8B6C"/>
            </a:solidFill>
            <a:prstDash val="solid"/>
          </a:ln>
        </p:spPr>
      </p:sp>
      <p:sp>
        <p:nvSpPr>
          <p:cNvPr id="13" name="Text 11"/>
          <p:cNvSpPr txBox="1"/>
          <p:nvPr/>
        </p:nvSpPr>
        <p:spPr>
          <a:xfrm>
            <a:off x="576072" y="2148840"/>
            <a:ext cx="2368296" cy="292608"/>
          </a:xfrm>
          <a:prstGeom prst="rect">
            <a:avLst/>
          </a:prstGeom>
          <a:noFill/>
          <a:ln/>
        </p:spPr>
        <p:txBody>
          <a:bodyPr wrap="square" lIns="0" tIns="0" rIns="0" bIns="0" rtlCol="0" anchor="ctr"/>
          <a:lstStyle/>
          <a:p>
            <a:pPr algn="ctr" indent="0" marL="0">
              <a:buNone/>
            </a:pPr>
            <a:r>
              <a:rPr lang="en-US" sz="750" b="1" dirty="0">
                <a:solidFill>
                  <a:srgbClr val="0F8B6C"/>
                </a:solidFill>
                <a:latin typeface="Aptos" pitchFamily="34" charset="0"/>
                <a:ea typeface="Aptos" pitchFamily="34" charset="-122"/>
                <a:cs typeface="Aptos" pitchFamily="34" charset="-120"/>
              </a:rPr>
              <a:t>Cancel allowed · self-serve · full refund</a:t>
            </a:r>
            <a:endParaRPr lang="en-US" sz="750" dirty="0"/>
          </a:p>
        </p:txBody>
      </p:sp>
      <p:sp>
        <p:nvSpPr>
          <p:cNvPr id="14" name="Shape 12"/>
          <p:cNvSpPr/>
          <p:nvPr/>
        </p:nvSpPr>
        <p:spPr>
          <a:xfrm>
            <a:off x="3218688" y="1005840"/>
            <a:ext cx="2697480" cy="1600200"/>
          </a:xfrm>
          <a:prstGeom prst="roundRect">
            <a:avLst>
              <a:gd name="adj" fmla="val 3429"/>
            </a:avLst>
          </a:prstGeom>
          <a:solidFill>
            <a:srgbClr val="E3F6F0"/>
          </a:solidFill>
          <a:ln w="9525">
            <a:solidFill>
              <a:srgbClr val="0F8B6C"/>
            </a:solidFill>
            <a:prstDash val="solid"/>
          </a:ln>
        </p:spPr>
      </p:sp>
      <p:sp>
        <p:nvSpPr>
          <p:cNvPr id="15" name="Shape 13"/>
          <p:cNvSpPr/>
          <p:nvPr/>
        </p:nvSpPr>
        <p:spPr>
          <a:xfrm>
            <a:off x="3383280" y="1161288"/>
            <a:ext cx="274320" cy="274320"/>
          </a:xfrm>
          <a:prstGeom prst="roundRect">
            <a:avLst>
              <a:gd name="adj" fmla="val 16667"/>
            </a:avLst>
          </a:prstGeom>
          <a:solidFill>
            <a:srgbClr val="0F8B6C"/>
          </a:solidFill>
          <a:ln w="12700">
            <a:solidFill>
              <a:srgbClr val="0F8B6C"/>
            </a:solidFill>
            <a:prstDash val="solid"/>
          </a:ln>
        </p:spPr>
      </p:sp>
      <p:sp>
        <p:nvSpPr>
          <p:cNvPr id="16" name="Text 14"/>
          <p:cNvSpPr txBox="1"/>
          <p:nvPr/>
        </p:nvSpPr>
        <p:spPr>
          <a:xfrm>
            <a:off x="3383280" y="1161288"/>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02</a:t>
            </a:r>
            <a:endParaRPr lang="en-US" sz="650" dirty="0"/>
          </a:p>
        </p:txBody>
      </p:sp>
      <p:sp>
        <p:nvSpPr>
          <p:cNvPr id="17" name="Text 15"/>
          <p:cNvSpPr txBox="1"/>
          <p:nvPr/>
        </p:nvSpPr>
        <p:spPr>
          <a:xfrm>
            <a:off x="3767328" y="1143000"/>
            <a:ext cx="2011680" cy="310896"/>
          </a:xfrm>
          <a:prstGeom prst="rect">
            <a:avLst/>
          </a:prstGeom>
          <a:noFill/>
          <a:ln/>
        </p:spPr>
        <p:txBody>
          <a:bodyPr wrap="square" lIns="0" tIns="0" rIns="0" bIns="0" rtlCol="0" anchor="ctr"/>
          <a:lstStyle/>
          <a:p>
            <a:pPr indent="0" marL="0">
              <a:buNone/>
            </a:pPr>
            <a:r>
              <a:rPr lang="en-US" sz="1100" b="1" dirty="0">
                <a:solidFill>
                  <a:srgbClr val="0F8B6C"/>
                </a:solidFill>
                <a:latin typeface="Aptos" pitchFamily="34" charset="0"/>
                <a:ea typeface="Aptos" pitchFamily="34" charset="-122"/>
                <a:cs typeface="Aptos" pitchFamily="34" charset="-120"/>
              </a:rPr>
              <a:t>CJ CREATED / IN_CART</a:t>
            </a:r>
            <a:endParaRPr lang="en-US" sz="1100" dirty="0"/>
          </a:p>
        </p:txBody>
      </p:sp>
      <p:sp>
        <p:nvSpPr>
          <p:cNvPr id="18" name="Text 16"/>
          <p:cNvSpPr txBox="1"/>
          <p:nvPr/>
        </p:nvSpPr>
        <p:spPr>
          <a:xfrm>
            <a:off x="3383280" y="1508760"/>
            <a:ext cx="2368296" cy="54864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CJ order exists but is not confirmed or paid. Deletable by CJ API.</a:t>
            </a:r>
            <a:endParaRPr lang="en-US" sz="780" dirty="0"/>
          </a:p>
        </p:txBody>
      </p:sp>
      <p:sp>
        <p:nvSpPr>
          <p:cNvPr id="19" name="Shape 17"/>
          <p:cNvSpPr/>
          <p:nvPr/>
        </p:nvSpPr>
        <p:spPr>
          <a:xfrm>
            <a:off x="3383280" y="2148840"/>
            <a:ext cx="2368296" cy="292608"/>
          </a:xfrm>
          <a:prstGeom prst="roundRect">
            <a:avLst>
              <a:gd name="adj" fmla="val 15625"/>
            </a:avLst>
          </a:prstGeom>
          <a:solidFill>
            <a:srgbClr val="FFFFFF"/>
          </a:solidFill>
          <a:ln w="9525">
            <a:solidFill>
              <a:srgbClr val="0F8B6C"/>
            </a:solidFill>
            <a:prstDash val="solid"/>
          </a:ln>
        </p:spPr>
      </p:sp>
      <p:sp>
        <p:nvSpPr>
          <p:cNvPr id="20" name="Text 18"/>
          <p:cNvSpPr txBox="1"/>
          <p:nvPr/>
        </p:nvSpPr>
        <p:spPr>
          <a:xfrm>
            <a:off x="3383280" y="2148840"/>
            <a:ext cx="2368296" cy="292608"/>
          </a:xfrm>
          <a:prstGeom prst="rect">
            <a:avLst/>
          </a:prstGeom>
          <a:noFill/>
          <a:ln/>
        </p:spPr>
        <p:txBody>
          <a:bodyPr wrap="square" lIns="0" tIns="0" rIns="0" bIns="0" rtlCol="0" anchor="ctr"/>
          <a:lstStyle/>
          <a:p>
            <a:pPr algn="ctr" indent="0" marL="0">
              <a:buNone/>
            </a:pPr>
            <a:r>
              <a:rPr lang="en-US" sz="750" b="1" dirty="0">
                <a:solidFill>
                  <a:srgbClr val="0F8B6C"/>
                </a:solidFill>
                <a:latin typeface="Aptos" pitchFamily="34" charset="0"/>
                <a:ea typeface="Aptos" pitchFamily="34" charset="-122"/>
                <a:cs typeface="Aptos" pitchFamily="34" charset="-120"/>
              </a:rPr>
              <a:t>Cancel allowed · delete CJ · full refund</a:t>
            </a:r>
            <a:endParaRPr lang="en-US" sz="750" dirty="0"/>
          </a:p>
        </p:txBody>
      </p:sp>
      <p:sp>
        <p:nvSpPr>
          <p:cNvPr id="21" name="Shape 19"/>
          <p:cNvSpPr/>
          <p:nvPr/>
        </p:nvSpPr>
        <p:spPr>
          <a:xfrm>
            <a:off x="6025896" y="1005840"/>
            <a:ext cx="2697480" cy="1600200"/>
          </a:xfrm>
          <a:prstGeom prst="roundRect">
            <a:avLst>
              <a:gd name="adj" fmla="val 3429"/>
            </a:avLst>
          </a:prstGeom>
          <a:solidFill>
            <a:srgbClr val="E3F6F0"/>
          </a:solidFill>
          <a:ln w="9525">
            <a:solidFill>
              <a:srgbClr val="0F8B6C"/>
            </a:solidFill>
            <a:prstDash val="solid"/>
          </a:ln>
        </p:spPr>
      </p:sp>
      <p:sp>
        <p:nvSpPr>
          <p:cNvPr id="22" name="Shape 20"/>
          <p:cNvSpPr/>
          <p:nvPr/>
        </p:nvSpPr>
        <p:spPr>
          <a:xfrm>
            <a:off x="6190488" y="1161288"/>
            <a:ext cx="274320" cy="274320"/>
          </a:xfrm>
          <a:prstGeom prst="roundRect">
            <a:avLst>
              <a:gd name="adj" fmla="val 16667"/>
            </a:avLst>
          </a:prstGeom>
          <a:solidFill>
            <a:srgbClr val="0F8B6C"/>
          </a:solidFill>
          <a:ln w="12700">
            <a:solidFill>
              <a:srgbClr val="0F8B6C"/>
            </a:solidFill>
            <a:prstDash val="solid"/>
          </a:ln>
        </p:spPr>
      </p:sp>
      <p:sp>
        <p:nvSpPr>
          <p:cNvPr id="23" name="Text 21"/>
          <p:cNvSpPr txBox="1"/>
          <p:nvPr/>
        </p:nvSpPr>
        <p:spPr>
          <a:xfrm>
            <a:off x="6190488" y="1161288"/>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03</a:t>
            </a:r>
            <a:endParaRPr lang="en-US" sz="650" dirty="0"/>
          </a:p>
        </p:txBody>
      </p:sp>
      <p:sp>
        <p:nvSpPr>
          <p:cNvPr id="24" name="Text 22"/>
          <p:cNvSpPr txBox="1"/>
          <p:nvPr/>
        </p:nvSpPr>
        <p:spPr>
          <a:xfrm>
            <a:off x="6574536" y="1143000"/>
            <a:ext cx="2011680" cy="310896"/>
          </a:xfrm>
          <a:prstGeom prst="rect">
            <a:avLst/>
          </a:prstGeom>
          <a:noFill/>
          <a:ln/>
        </p:spPr>
        <p:txBody>
          <a:bodyPr wrap="square" lIns="0" tIns="0" rIns="0" bIns="0" rtlCol="0" anchor="ctr"/>
          <a:lstStyle/>
          <a:p>
            <a:pPr indent="0" marL="0">
              <a:buNone/>
            </a:pPr>
            <a:r>
              <a:rPr lang="en-US" sz="1100" b="1" dirty="0">
                <a:solidFill>
                  <a:srgbClr val="0F8B6C"/>
                </a:solidFill>
                <a:latin typeface="Aptos" pitchFamily="34" charset="0"/>
                <a:ea typeface="Aptos" pitchFamily="34" charset="-122"/>
                <a:cs typeface="Aptos" pitchFamily="34" charset="-120"/>
              </a:rPr>
              <a:t>CJ UNPAID</a:t>
            </a:r>
            <a:endParaRPr lang="en-US" sz="1100" dirty="0"/>
          </a:p>
        </p:txBody>
      </p:sp>
      <p:sp>
        <p:nvSpPr>
          <p:cNvPr id="25" name="Text 23"/>
          <p:cNvSpPr txBox="1"/>
          <p:nvPr/>
        </p:nvSpPr>
        <p:spPr>
          <a:xfrm>
            <a:off x="6190488" y="1508760"/>
            <a:ext cx="2368296" cy="54864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Only reached when the wallet is short (AWAITING_SUPPLIER_FUNDS). Sals3 has not paid. Cancel in the CJ dashboard; the 24 h inventory lock lapses on its own.</a:t>
            </a:r>
            <a:endParaRPr lang="en-US" sz="780" dirty="0"/>
          </a:p>
        </p:txBody>
      </p:sp>
      <p:sp>
        <p:nvSpPr>
          <p:cNvPr id="26" name="Shape 24"/>
          <p:cNvSpPr/>
          <p:nvPr/>
        </p:nvSpPr>
        <p:spPr>
          <a:xfrm>
            <a:off x="6190488" y="2148840"/>
            <a:ext cx="2368296" cy="292608"/>
          </a:xfrm>
          <a:prstGeom prst="roundRect">
            <a:avLst>
              <a:gd name="adj" fmla="val 15625"/>
            </a:avLst>
          </a:prstGeom>
          <a:solidFill>
            <a:srgbClr val="FFFFFF"/>
          </a:solidFill>
          <a:ln w="9525">
            <a:solidFill>
              <a:srgbClr val="0F8B6C"/>
            </a:solidFill>
            <a:prstDash val="solid"/>
          </a:ln>
        </p:spPr>
      </p:sp>
      <p:sp>
        <p:nvSpPr>
          <p:cNvPr id="27" name="Text 25"/>
          <p:cNvSpPr txBox="1"/>
          <p:nvPr/>
        </p:nvSpPr>
        <p:spPr>
          <a:xfrm>
            <a:off x="6190488" y="2148840"/>
            <a:ext cx="2368296" cy="292608"/>
          </a:xfrm>
          <a:prstGeom prst="rect">
            <a:avLst/>
          </a:prstGeom>
          <a:noFill/>
          <a:ln/>
        </p:spPr>
        <p:txBody>
          <a:bodyPr wrap="square" lIns="0" tIns="0" rIns="0" bIns="0" rtlCol="0" anchor="ctr"/>
          <a:lstStyle/>
          <a:p>
            <a:pPr algn="ctr" indent="0" marL="0">
              <a:buNone/>
            </a:pPr>
            <a:r>
              <a:rPr lang="en-US" sz="750" b="1" dirty="0">
                <a:solidFill>
                  <a:srgbClr val="0F8B6C"/>
                </a:solidFill>
                <a:latin typeface="Aptos" pitchFamily="34" charset="0"/>
                <a:ea typeface="Aptos" pitchFamily="34" charset="-122"/>
                <a:cs typeface="Aptos" pitchFamily="34" charset="-120"/>
              </a:rPr>
              <a:t>Cancel allowed · self-serve · full refund</a:t>
            </a:r>
            <a:endParaRPr lang="en-US" sz="750" dirty="0"/>
          </a:p>
        </p:txBody>
      </p:sp>
      <p:sp>
        <p:nvSpPr>
          <p:cNvPr id="28" name="Shape 26"/>
          <p:cNvSpPr/>
          <p:nvPr/>
        </p:nvSpPr>
        <p:spPr>
          <a:xfrm>
            <a:off x="411480" y="2715768"/>
            <a:ext cx="2697480" cy="1600200"/>
          </a:xfrm>
          <a:prstGeom prst="roundRect">
            <a:avLst>
              <a:gd name="adj" fmla="val 3429"/>
            </a:avLst>
          </a:prstGeom>
          <a:solidFill>
            <a:srgbClr val="FFF4DF"/>
          </a:solidFill>
          <a:ln w="9525">
            <a:solidFill>
              <a:srgbClr val="B8720A"/>
            </a:solidFill>
            <a:prstDash val="solid"/>
          </a:ln>
        </p:spPr>
      </p:sp>
      <p:sp>
        <p:nvSpPr>
          <p:cNvPr id="29" name="Shape 27"/>
          <p:cNvSpPr/>
          <p:nvPr/>
        </p:nvSpPr>
        <p:spPr>
          <a:xfrm>
            <a:off x="576072" y="2871216"/>
            <a:ext cx="274320" cy="274320"/>
          </a:xfrm>
          <a:prstGeom prst="roundRect">
            <a:avLst>
              <a:gd name="adj" fmla="val 16667"/>
            </a:avLst>
          </a:prstGeom>
          <a:solidFill>
            <a:srgbClr val="B8720A"/>
          </a:solidFill>
          <a:ln w="12700">
            <a:solidFill>
              <a:srgbClr val="B8720A"/>
            </a:solidFill>
            <a:prstDash val="solid"/>
          </a:ln>
        </p:spPr>
      </p:sp>
      <p:sp>
        <p:nvSpPr>
          <p:cNvPr id="30" name="Text 28"/>
          <p:cNvSpPr txBox="1"/>
          <p:nvPr/>
        </p:nvSpPr>
        <p:spPr>
          <a:xfrm>
            <a:off x="576072" y="2871216"/>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04</a:t>
            </a:r>
            <a:endParaRPr lang="en-US" sz="650" dirty="0"/>
          </a:p>
        </p:txBody>
      </p:sp>
      <p:sp>
        <p:nvSpPr>
          <p:cNvPr id="31" name="Text 29"/>
          <p:cNvSpPr txBox="1"/>
          <p:nvPr/>
        </p:nvSpPr>
        <p:spPr>
          <a:xfrm>
            <a:off x="960120" y="2852928"/>
            <a:ext cx="2011680" cy="310896"/>
          </a:xfrm>
          <a:prstGeom prst="rect">
            <a:avLst/>
          </a:prstGeom>
          <a:noFill/>
          <a:ln/>
        </p:spPr>
        <p:txBody>
          <a:bodyPr wrap="square" lIns="0" tIns="0" rIns="0" bIns="0" rtlCol="0" anchor="ctr"/>
          <a:lstStyle/>
          <a:p>
            <a:pPr indent="0" marL="0">
              <a:buNone/>
            </a:pPr>
            <a:r>
              <a:rPr lang="en-US" sz="1100" b="1" dirty="0">
                <a:solidFill>
                  <a:srgbClr val="B8720A"/>
                </a:solidFill>
                <a:latin typeface="Aptos" pitchFamily="34" charset="0"/>
                <a:ea typeface="Aptos" pitchFamily="34" charset="-122"/>
                <a:cs typeface="Aptos" pitchFamily="34" charset="-120"/>
              </a:rPr>
              <a:t>CJ paid · UNSHIPPED</a:t>
            </a:r>
            <a:endParaRPr lang="en-US" sz="1100" dirty="0"/>
          </a:p>
        </p:txBody>
      </p:sp>
      <p:sp>
        <p:nvSpPr>
          <p:cNvPr id="32" name="Text 30"/>
          <p:cNvSpPr txBox="1"/>
          <p:nvPr/>
        </p:nvSpPr>
        <p:spPr>
          <a:xfrm>
            <a:off x="576072" y="3218688"/>
            <a:ext cx="2368296" cy="54864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PENDING (no tracking yet, first 24–48 h) or PROCESSING (being packed). Sals3 opens a CJ dispute by API at once. PENDING: refund the customer immediately. PROCESSING: refund when CJ confirms, usually 1–2 business days.</a:t>
            </a:r>
            <a:endParaRPr lang="en-US" sz="780" dirty="0"/>
          </a:p>
        </p:txBody>
      </p:sp>
      <p:sp>
        <p:nvSpPr>
          <p:cNvPr id="33" name="Shape 31"/>
          <p:cNvSpPr/>
          <p:nvPr/>
        </p:nvSpPr>
        <p:spPr>
          <a:xfrm>
            <a:off x="576072" y="3858768"/>
            <a:ext cx="2368296" cy="292608"/>
          </a:xfrm>
          <a:prstGeom prst="roundRect">
            <a:avLst>
              <a:gd name="adj" fmla="val 15625"/>
            </a:avLst>
          </a:prstGeom>
          <a:solidFill>
            <a:srgbClr val="FFFFFF"/>
          </a:solidFill>
          <a:ln w="9525">
            <a:solidFill>
              <a:srgbClr val="B8720A"/>
            </a:solidFill>
            <a:prstDash val="solid"/>
          </a:ln>
        </p:spPr>
      </p:sp>
      <p:sp>
        <p:nvSpPr>
          <p:cNvPr id="34" name="Text 32"/>
          <p:cNvSpPr txBox="1"/>
          <p:nvPr/>
        </p:nvSpPr>
        <p:spPr>
          <a:xfrm>
            <a:off x="576072" y="3858768"/>
            <a:ext cx="2368296" cy="292608"/>
          </a:xfrm>
          <a:prstGeom prst="rect">
            <a:avLst/>
          </a:prstGeom>
          <a:noFill/>
          <a:ln/>
        </p:spPr>
        <p:txBody>
          <a:bodyPr wrap="square" lIns="0" tIns="0" rIns="0" bIns="0" rtlCol="0" anchor="ctr"/>
          <a:lstStyle/>
          <a:p>
            <a:pPr algn="ctr" indent="0" marL="0">
              <a:buNone/>
            </a:pPr>
            <a:r>
              <a:rPr lang="en-US" sz="750" b="1" dirty="0">
                <a:solidFill>
                  <a:srgbClr val="B8720A"/>
                </a:solidFill>
                <a:latin typeface="Aptos" pitchFamily="34" charset="0"/>
                <a:ea typeface="Aptos" pitchFamily="34" charset="-122"/>
                <a:cs typeface="Aptos" pitchFamily="34" charset="-120"/>
              </a:rPr>
              <a:t>Cancel via CJ dispute · automated</a:t>
            </a:r>
            <a:endParaRPr lang="en-US" sz="750" dirty="0"/>
          </a:p>
        </p:txBody>
      </p:sp>
      <p:sp>
        <p:nvSpPr>
          <p:cNvPr id="35" name="Shape 33"/>
          <p:cNvSpPr/>
          <p:nvPr/>
        </p:nvSpPr>
        <p:spPr>
          <a:xfrm>
            <a:off x="3218688" y="2715768"/>
            <a:ext cx="2697480" cy="1600200"/>
          </a:xfrm>
          <a:prstGeom prst="roundRect">
            <a:avLst>
              <a:gd name="adj" fmla="val 3429"/>
            </a:avLst>
          </a:prstGeom>
          <a:solidFill>
            <a:srgbClr val="FDECEF"/>
          </a:solidFill>
          <a:ln w="9525">
            <a:solidFill>
              <a:srgbClr val="C8283C"/>
            </a:solidFill>
            <a:prstDash val="solid"/>
          </a:ln>
        </p:spPr>
      </p:sp>
      <p:sp>
        <p:nvSpPr>
          <p:cNvPr id="36" name="Shape 34"/>
          <p:cNvSpPr/>
          <p:nvPr/>
        </p:nvSpPr>
        <p:spPr>
          <a:xfrm>
            <a:off x="3383280" y="2871216"/>
            <a:ext cx="274320" cy="274320"/>
          </a:xfrm>
          <a:prstGeom prst="roundRect">
            <a:avLst>
              <a:gd name="adj" fmla="val 16667"/>
            </a:avLst>
          </a:prstGeom>
          <a:solidFill>
            <a:srgbClr val="C8283C"/>
          </a:solidFill>
          <a:ln w="12700">
            <a:solidFill>
              <a:srgbClr val="C8283C"/>
            </a:solidFill>
            <a:prstDash val="solid"/>
          </a:ln>
        </p:spPr>
      </p:sp>
      <p:sp>
        <p:nvSpPr>
          <p:cNvPr id="37" name="Text 35"/>
          <p:cNvSpPr txBox="1"/>
          <p:nvPr/>
        </p:nvSpPr>
        <p:spPr>
          <a:xfrm>
            <a:off x="3383280" y="2871216"/>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05</a:t>
            </a:r>
            <a:endParaRPr lang="en-US" sz="650" dirty="0"/>
          </a:p>
        </p:txBody>
      </p:sp>
      <p:sp>
        <p:nvSpPr>
          <p:cNvPr id="38" name="Text 36"/>
          <p:cNvSpPr txBox="1"/>
          <p:nvPr/>
        </p:nvSpPr>
        <p:spPr>
          <a:xfrm>
            <a:off x="3767328" y="2852928"/>
            <a:ext cx="2011680" cy="310896"/>
          </a:xfrm>
          <a:prstGeom prst="rect">
            <a:avLst/>
          </a:prstGeom>
          <a:noFill/>
          <a:ln/>
        </p:spPr>
        <p:txBody>
          <a:bodyPr wrap="square" lIns="0" tIns="0" rIns="0" bIns="0" rtlCol="0" anchor="ctr"/>
          <a:lstStyle/>
          <a:p>
            <a:pPr indent="0" marL="0">
              <a:buNone/>
            </a:pPr>
            <a:r>
              <a:rPr lang="en-US" sz="1100" b="1" dirty="0">
                <a:solidFill>
                  <a:srgbClr val="C8283C"/>
                </a:solidFill>
                <a:latin typeface="Aptos" pitchFamily="34" charset="0"/>
                <a:ea typeface="Aptos" pitchFamily="34" charset="-122"/>
                <a:cs typeface="Aptos" pitchFamily="34" charset="-120"/>
              </a:rPr>
              <a:t>CJ SHIPPED / IN TRANSIT</a:t>
            </a:r>
            <a:endParaRPr lang="en-US" sz="1100" dirty="0"/>
          </a:p>
        </p:txBody>
      </p:sp>
      <p:sp>
        <p:nvSpPr>
          <p:cNvPr id="39" name="Text 37"/>
          <p:cNvSpPr txBox="1"/>
          <p:nvPr/>
        </p:nvSpPr>
        <p:spPr>
          <a:xfrm>
            <a:off x="3383280" y="3218688"/>
            <a:ext cx="2368296" cy="54864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Parcel has left the warehouse. Cannot be recalled.</a:t>
            </a:r>
            <a:endParaRPr lang="en-US" sz="780" dirty="0"/>
          </a:p>
        </p:txBody>
      </p:sp>
      <p:sp>
        <p:nvSpPr>
          <p:cNvPr id="40" name="Shape 38"/>
          <p:cNvSpPr/>
          <p:nvPr/>
        </p:nvSpPr>
        <p:spPr>
          <a:xfrm>
            <a:off x="3383280" y="3858768"/>
            <a:ext cx="2368296" cy="292608"/>
          </a:xfrm>
          <a:prstGeom prst="roundRect">
            <a:avLst>
              <a:gd name="adj" fmla="val 15625"/>
            </a:avLst>
          </a:prstGeom>
          <a:solidFill>
            <a:srgbClr val="FFFFFF"/>
          </a:solidFill>
          <a:ln w="9525">
            <a:solidFill>
              <a:srgbClr val="C8283C"/>
            </a:solidFill>
            <a:prstDash val="solid"/>
          </a:ln>
        </p:spPr>
      </p:sp>
      <p:sp>
        <p:nvSpPr>
          <p:cNvPr id="41" name="Text 39"/>
          <p:cNvSpPr txBox="1"/>
          <p:nvPr/>
        </p:nvSpPr>
        <p:spPr>
          <a:xfrm>
            <a:off x="3383280" y="3858768"/>
            <a:ext cx="2368296" cy="292608"/>
          </a:xfrm>
          <a:prstGeom prst="rect">
            <a:avLst/>
          </a:prstGeom>
          <a:noFill/>
          <a:ln/>
        </p:spPr>
        <p:txBody>
          <a:bodyPr wrap="square" lIns="0" tIns="0" rIns="0" bIns="0" rtlCol="0" anchor="ctr"/>
          <a:lstStyle/>
          <a:p>
            <a:pPr algn="ctr" indent="0" marL="0">
              <a:buNone/>
            </a:pPr>
            <a:r>
              <a:rPr lang="en-US" sz="750" b="1" dirty="0">
                <a:solidFill>
                  <a:srgbClr val="C8283C"/>
                </a:solidFill>
                <a:latin typeface="Aptos" pitchFamily="34" charset="0"/>
                <a:ea typeface="Aptos" pitchFamily="34" charset="-122"/>
                <a:cs typeface="Aptos" pitchFamily="34" charset="-120"/>
              </a:rPr>
              <a:t>Not cancellable · offer return on arrival</a:t>
            </a:r>
            <a:endParaRPr lang="en-US" sz="750" dirty="0"/>
          </a:p>
        </p:txBody>
      </p:sp>
      <p:sp>
        <p:nvSpPr>
          <p:cNvPr id="42" name="Shape 40"/>
          <p:cNvSpPr/>
          <p:nvPr/>
        </p:nvSpPr>
        <p:spPr>
          <a:xfrm>
            <a:off x="6025896" y="2715768"/>
            <a:ext cx="2697480" cy="1600200"/>
          </a:xfrm>
          <a:prstGeom prst="roundRect">
            <a:avLst>
              <a:gd name="adj" fmla="val 3429"/>
            </a:avLst>
          </a:prstGeom>
          <a:solidFill>
            <a:srgbClr val="FDECEF"/>
          </a:solidFill>
          <a:ln w="9525">
            <a:solidFill>
              <a:srgbClr val="C8283C"/>
            </a:solidFill>
            <a:prstDash val="solid"/>
          </a:ln>
        </p:spPr>
      </p:sp>
      <p:sp>
        <p:nvSpPr>
          <p:cNvPr id="43" name="Shape 41"/>
          <p:cNvSpPr/>
          <p:nvPr/>
        </p:nvSpPr>
        <p:spPr>
          <a:xfrm>
            <a:off x="6190488" y="2871216"/>
            <a:ext cx="274320" cy="274320"/>
          </a:xfrm>
          <a:prstGeom prst="roundRect">
            <a:avLst>
              <a:gd name="adj" fmla="val 16667"/>
            </a:avLst>
          </a:prstGeom>
          <a:solidFill>
            <a:srgbClr val="C8283C"/>
          </a:solidFill>
          <a:ln w="12700">
            <a:solidFill>
              <a:srgbClr val="C8283C"/>
            </a:solidFill>
            <a:prstDash val="solid"/>
          </a:ln>
        </p:spPr>
      </p:sp>
      <p:sp>
        <p:nvSpPr>
          <p:cNvPr id="44" name="Text 42"/>
          <p:cNvSpPr txBox="1"/>
          <p:nvPr/>
        </p:nvSpPr>
        <p:spPr>
          <a:xfrm>
            <a:off x="6190488" y="2871216"/>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06</a:t>
            </a:r>
            <a:endParaRPr lang="en-US" sz="650" dirty="0"/>
          </a:p>
        </p:txBody>
      </p:sp>
      <p:sp>
        <p:nvSpPr>
          <p:cNvPr id="45" name="Text 43"/>
          <p:cNvSpPr txBox="1"/>
          <p:nvPr/>
        </p:nvSpPr>
        <p:spPr>
          <a:xfrm>
            <a:off x="6574536" y="2852928"/>
            <a:ext cx="2011680" cy="310896"/>
          </a:xfrm>
          <a:prstGeom prst="rect">
            <a:avLst/>
          </a:prstGeom>
          <a:noFill/>
          <a:ln/>
        </p:spPr>
        <p:txBody>
          <a:bodyPr wrap="square" lIns="0" tIns="0" rIns="0" bIns="0" rtlCol="0" anchor="ctr"/>
          <a:lstStyle/>
          <a:p>
            <a:pPr indent="0" marL="0">
              <a:buNone/>
            </a:pPr>
            <a:r>
              <a:rPr lang="en-US" sz="1100" b="1" dirty="0">
                <a:solidFill>
                  <a:srgbClr val="C8283C"/>
                </a:solidFill>
                <a:latin typeface="Aptos" pitchFamily="34" charset="0"/>
                <a:ea typeface="Aptos" pitchFamily="34" charset="-122"/>
                <a:cs typeface="Aptos" pitchFamily="34" charset="-120"/>
              </a:rPr>
              <a:t>DELIVERED</a:t>
            </a:r>
            <a:endParaRPr lang="en-US" sz="1100" dirty="0"/>
          </a:p>
        </p:txBody>
      </p:sp>
      <p:sp>
        <p:nvSpPr>
          <p:cNvPr id="46" name="Text 44"/>
          <p:cNvSpPr txBox="1"/>
          <p:nvPr/>
        </p:nvSpPr>
        <p:spPr>
          <a:xfrm>
            <a:off x="6190488" y="3218688"/>
            <a:ext cx="2368296" cy="54864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Doorstep or signed delivery recorded.</a:t>
            </a:r>
            <a:endParaRPr lang="en-US" sz="780" dirty="0"/>
          </a:p>
        </p:txBody>
      </p:sp>
      <p:sp>
        <p:nvSpPr>
          <p:cNvPr id="47" name="Shape 45"/>
          <p:cNvSpPr/>
          <p:nvPr/>
        </p:nvSpPr>
        <p:spPr>
          <a:xfrm>
            <a:off x="6190488" y="3858768"/>
            <a:ext cx="2368296" cy="292608"/>
          </a:xfrm>
          <a:prstGeom prst="roundRect">
            <a:avLst>
              <a:gd name="adj" fmla="val 15625"/>
            </a:avLst>
          </a:prstGeom>
          <a:solidFill>
            <a:srgbClr val="FFFFFF"/>
          </a:solidFill>
          <a:ln w="9525">
            <a:solidFill>
              <a:srgbClr val="C8283C"/>
            </a:solidFill>
            <a:prstDash val="solid"/>
          </a:ln>
        </p:spPr>
      </p:sp>
      <p:sp>
        <p:nvSpPr>
          <p:cNvPr id="48" name="Text 46"/>
          <p:cNvSpPr txBox="1"/>
          <p:nvPr/>
        </p:nvSpPr>
        <p:spPr>
          <a:xfrm>
            <a:off x="6190488" y="3858768"/>
            <a:ext cx="2368296" cy="292608"/>
          </a:xfrm>
          <a:prstGeom prst="rect">
            <a:avLst/>
          </a:prstGeom>
          <a:noFill/>
          <a:ln/>
        </p:spPr>
        <p:txBody>
          <a:bodyPr wrap="square" lIns="0" tIns="0" rIns="0" bIns="0" rtlCol="0" anchor="ctr"/>
          <a:lstStyle/>
          <a:p>
            <a:pPr algn="ctr" indent="0" marL="0">
              <a:buNone/>
            </a:pPr>
            <a:r>
              <a:rPr lang="en-US" sz="750" b="1" dirty="0">
                <a:solidFill>
                  <a:srgbClr val="C8283C"/>
                </a:solidFill>
                <a:latin typeface="Aptos" pitchFamily="34" charset="0"/>
                <a:ea typeface="Aptos" pitchFamily="34" charset="-122"/>
                <a:cs typeface="Aptos" pitchFamily="34" charset="-120"/>
              </a:rPr>
              <a:t>Not cancellable · Item Problem SOP</a:t>
            </a:r>
            <a:endParaRPr lang="en-US" sz="750" dirty="0"/>
          </a:p>
        </p:txBody>
      </p:sp>
      <p:sp>
        <p:nvSpPr>
          <p:cNvPr id="49" name="Shape 47"/>
          <p:cNvSpPr/>
          <p:nvPr/>
        </p:nvSpPr>
        <p:spPr>
          <a:xfrm>
            <a:off x="411480" y="4434840"/>
            <a:ext cx="8321040" cy="329184"/>
          </a:xfrm>
          <a:prstGeom prst="roundRect">
            <a:avLst>
              <a:gd name="adj" fmla="val 16667"/>
            </a:avLst>
          </a:prstGeom>
          <a:solidFill>
            <a:srgbClr val="E3F6F0"/>
          </a:solidFill>
          <a:ln w="9525">
            <a:solidFill>
              <a:srgbClr val="0F8B6C"/>
            </a:solidFill>
            <a:prstDash val="solid"/>
          </a:ln>
        </p:spPr>
      </p:sp>
      <p:sp>
        <p:nvSpPr>
          <p:cNvPr id="50" name="Text 48"/>
          <p:cNvSpPr txBox="1"/>
          <p:nvPr/>
        </p:nvSpPr>
        <p:spPr>
          <a:xfrm>
            <a:off x="640080" y="4434840"/>
            <a:ext cx="1005840" cy="329184"/>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REMEMBER</a:t>
            </a:r>
            <a:endParaRPr lang="en-US" sz="650" dirty="0"/>
          </a:p>
        </p:txBody>
      </p:sp>
      <p:sp>
        <p:nvSpPr>
          <p:cNvPr id="51" name="Text 49"/>
          <p:cNvSpPr txBox="1"/>
          <p:nvPr/>
        </p:nvSpPr>
        <p:spPr>
          <a:xfrm>
            <a:off x="1600200" y="4434840"/>
            <a:ext cx="6949440" cy="329184"/>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States 01–03 cost Sals3 nothing at CJ. State 04 is a documented CJ refund path with a 5 of 5 record here. Only 05 and 06 are a real no.</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DECISION RULES</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Default action by state</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07</a:t>
            </a:r>
            <a:endParaRPr lang="en-US" sz="6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1600200"/>
                <a:gridCol w="2834640"/>
                <a:gridCol w="1554480"/>
                <a:gridCol w="2331720"/>
              </a:tblGrid>
              <a:tr h="329184">
                <a:tc>
                  <a:txBody>
                    <a:bodyPr/>
                    <a:lstStyle/>
                    <a:p>
                      <a:pPr indent="0" marL="0">
                        <a:buNone/>
                      </a:pPr>
                      <a:r>
                        <a:rPr lang="en-US" sz="680" b="1" dirty="0">
                          <a:solidFill>
                            <a:srgbClr val="FFFFFF"/>
                          </a:solidFill>
                          <a:latin typeface="Aptos" pitchFamily="34" charset="0"/>
                          <a:ea typeface="Aptos" pitchFamily="34" charset="-122"/>
                          <a:cs typeface="Aptos" pitchFamily="34" charset="-120"/>
                        </a:rPr>
                        <a:t>State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80" b="1" dirty="0">
                          <a:solidFill>
                            <a:srgbClr val="FFFFFF"/>
                          </a:solidFill>
                          <a:latin typeface="Aptos" pitchFamily="34" charset="0"/>
                          <a:ea typeface="Aptos" pitchFamily="34" charset="-122"/>
                          <a:cs typeface="Aptos" pitchFamily="34" charset="-120"/>
                        </a:rPr>
                        <a:t>Action</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80" b="1" dirty="0">
                          <a:solidFill>
                            <a:srgbClr val="FFFFFF"/>
                          </a:solidFill>
                          <a:latin typeface="Aptos" pitchFamily="34" charset="0"/>
                          <a:ea typeface="Aptos" pitchFamily="34" charset="-122"/>
                          <a:cs typeface="Aptos" pitchFamily="34" charset="-120"/>
                        </a:rPr>
                        <a:t>Who decides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80" b="1" dirty="0">
                          <a:solidFill>
                            <a:srgbClr val="FFFFFF"/>
                          </a:solidFill>
                          <a:latin typeface="Aptos" pitchFamily="34" charset="0"/>
                          <a:ea typeface="Aptos" pitchFamily="34" charset="-122"/>
                          <a:cs typeface="Aptos" pitchFamily="34" charset="-120"/>
                        </a:rPr>
                        <a:t>Customer message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r>
              <a:tr h="329184">
                <a:tc>
                  <a:txBody>
                    <a:bodyPr/>
                    <a:lstStyle/>
                    <a:p>
                      <a:pPr indent="0" marL="0">
                        <a:buNone/>
                      </a:pPr>
                      <a:r>
                        <a:rPr lang="en-US" sz="680" dirty="0">
                          <a:solidFill>
                            <a:srgbClr val="1E2A44"/>
                          </a:solidFill>
                          <a:latin typeface="Aptos" pitchFamily="34" charset="0"/>
                          <a:ea typeface="Aptos" pitchFamily="34" charset="-122"/>
                          <a:cs typeface="Aptos" pitchFamily="34" charset="-120"/>
                        </a:rPr>
                        <a:t>Sals3 hold window</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Cancel outbox job → CANCELLED → Stripe refund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"Cancelled. Refund of $X to your card in 3–10 banking days."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680" dirty="0">
                          <a:solidFill>
                            <a:srgbClr val="1E2A44"/>
                          </a:solidFill>
                          <a:latin typeface="Aptos" pitchFamily="34" charset="0"/>
                          <a:ea typeface="Aptos" pitchFamily="34" charset="-122"/>
                          <a:cs typeface="Aptos" pitchFamily="34" charset="-120"/>
                        </a:rPr>
                        <a:t>CJ CREATED / IN_CART</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deleteOrder via CJ API → CANCELLED → refund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 (worker)</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Same as above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680" dirty="0">
                          <a:solidFill>
                            <a:srgbClr val="1E2A44"/>
                          </a:solidFill>
                          <a:latin typeface="Aptos" pitchFamily="34" charset="0"/>
                          <a:ea typeface="Aptos" pitchFamily="34" charset="-122"/>
                          <a:cs typeface="Aptos" pitchFamily="34" charset="-120"/>
                        </a:rPr>
                        <a:t>CJ UNPAID (AWAITING_SUPPLIER_FUNDS)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Mark CANCELLED → Stripe refund; support cancels the CJ order in the dashboard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 support tidies CJ within 1 business day</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"Cancelled. Refund of $X in 3–10 banking days."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680" dirty="0">
                          <a:solidFill>
                            <a:srgbClr val="1E2A44"/>
                          </a:solidFill>
                          <a:latin typeface="Aptos" pitchFamily="34" charset="0"/>
                          <a:ea typeface="Aptos" pitchFamily="34" charset="-122"/>
                          <a:cs typeface="Aptos" pitchFamily="34" charset="-120"/>
                        </a:rPr>
                        <a:t>CJ paid, PENDING</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API dispute (Unfulfilled Order Cancellation, refund to wallet) → CANCELLED → Stripe refund now</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"Cancelled. Refund of $X in 3–10 banking days."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680" dirty="0">
                          <a:solidFill>
                            <a:srgbClr val="1E2A44"/>
                          </a:solidFill>
                          <a:latin typeface="Aptos" pitchFamily="34" charset="0"/>
                          <a:ea typeface="Aptos" pitchFamily="34" charset="-122"/>
                          <a:cs typeface="Aptos" pitchFamily="34" charset="-120"/>
                        </a:rPr>
                        <a:t>CJ paid, PROCESSING</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API dispute → CANCEL_REQUESTED. CJ refunds (finallyDeal = 1): Stripe refund → CANCELLED. CJ rejects (3) or ships: return on arrival</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 support only on rejection</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"We have asked our warehouse to stop this order. Usually confirmed within 1–2 business days."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680" dirty="0">
                          <a:solidFill>
                            <a:srgbClr val="1E2A44"/>
                          </a:solidFill>
                          <a:latin typeface="Aptos" pitchFamily="34" charset="0"/>
                          <a:ea typeface="Aptos" pitchFamily="34" charset="-122"/>
                          <a:cs typeface="Aptos" pitchFamily="34" charset="-120"/>
                        </a:rPr>
                        <a:t>Not shipped after 7 days (late supply)</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Customer may cancel regardless of CJ state → refund; Sals3 recovers via CJ dispute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 offer; support executes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"Your order is late. Keep waiting or cancel for a full refund."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680" dirty="0">
                          <a:solidFill>
                            <a:srgbClr val="1E2A44"/>
                          </a:solidFill>
                          <a:latin typeface="Aptos" pitchFamily="34" charset="0"/>
                          <a:ea typeface="Aptos" pitchFamily="34" charset="-122"/>
                          <a:cs typeface="Aptos" pitchFamily="34" charset="-120"/>
                        </a:rPr>
                        <a:t>SHIPPED / IN TRANSIT</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Decline cancel; offer refuse-delivery or return on arrival</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 decline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"Already shipped. You can return it once it arrives."</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680" dirty="0">
                          <a:solidFill>
                            <a:srgbClr val="1E2A44"/>
                          </a:solidFill>
                          <a:latin typeface="Aptos" pitchFamily="34" charset="0"/>
                          <a:ea typeface="Aptos" pitchFamily="34" charset="-122"/>
                          <a:cs typeface="Aptos" pitchFamily="34" charset="-120"/>
                        </a:rPr>
                        <a:t>DELIVERED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Decline; route to Item Problem Return &amp; Refund SOP</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 decline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"Delivered. Report a problem with the item instead."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29184">
                <a:tc>
                  <a:txBody>
                    <a:bodyPr/>
                    <a:lstStyle/>
                    <a:p>
                      <a:pPr indent="0" marL="0">
                        <a:buNone/>
                      </a:pPr>
                      <a:r>
                        <a:rPr lang="en-US" sz="680" dirty="0">
                          <a:solidFill>
                            <a:srgbClr val="1E2A44"/>
                          </a:solidFill>
                          <a:latin typeface="Aptos" pitchFamily="34" charset="0"/>
                          <a:ea typeface="Aptos" pitchFamily="34" charset="-122"/>
                          <a:cs typeface="Aptos" pitchFamily="34" charset="-120"/>
                        </a:rPr>
                        <a:t>Already CANCELLED / REFUNDED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No duplicate refund; close with Stripe refund id</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Automatic</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80" dirty="0">
                          <a:solidFill>
                            <a:srgbClr val="1E2A44"/>
                          </a:solidFill>
                          <a:latin typeface="Aptos" pitchFamily="34" charset="0"/>
                          <a:ea typeface="Aptos" pitchFamily="34" charset="-122"/>
                          <a:cs typeface="Aptos" pitchFamily="34" charset="-120"/>
                        </a:rPr>
                        <a:t>Show existing refund reference</a:t>
                      </a:r>
                      <a:endParaRPr lang="en-US" sz="68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bl>
          </a:graphicData>
        </a:graphic>
      </p:graphicFrame>
      <p:sp>
        <p:nvSpPr>
          <p:cNvPr id="8" name="Shape 5"/>
          <p:cNvSpPr/>
          <p:nvPr/>
        </p:nvSpPr>
        <p:spPr>
          <a:xfrm>
            <a:off x="411480" y="4462272"/>
            <a:ext cx="8321040" cy="310896"/>
          </a:xfrm>
          <a:prstGeom prst="roundRect">
            <a:avLst>
              <a:gd name="adj" fmla="val 17647"/>
            </a:avLst>
          </a:prstGeom>
          <a:solidFill>
            <a:srgbClr val="FFF4DF"/>
          </a:solidFill>
          <a:ln w="9525">
            <a:solidFill>
              <a:srgbClr val="B8720A"/>
            </a:solidFill>
            <a:prstDash val="solid"/>
          </a:ln>
        </p:spPr>
      </p:sp>
      <p:sp>
        <p:nvSpPr>
          <p:cNvPr id="9" name="Text 6"/>
          <p:cNvSpPr txBox="1"/>
          <p:nvPr/>
        </p:nvSpPr>
        <p:spPr>
          <a:xfrm>
            <a:off x="640080" y="4462272"/>
            <a:ext cx="1005840" cy="310896"/>
          </a:xfrm>
          <a:prstGeom prst="rect">
            <a:avLst/>
          </a:prstGeom>
          <a:noFill/>
          <a:ln/>
        </p:spPr>
        <p:txBody>
          <a:bodyPr wrap="square" lIns="0" tIns="0" rIns="0" bIns="0" rtlCol="0" anchor="ctr"/>
          <a:lstStyle/>
          <a:p>
            <a:pPr indent="0" marL="0">
              <a:buNone/>
            </a:pPr>
            <a:r>
              <a:rPr lang="en-US" sz="650" b="1" dirty="0">
                <a:solidFill>
                  <a:srgbClr val="B8720A"/>
                </a:solidFill>
                <a:latin typeface="Aptos" pitchFamily="34" charset="0"/>
                <a:ea typeface="Aptos" pitchFamily="34" charset="-122"/>
                <a:cs typeface="Aptos" pitchFamily="34" charset="-120"/>
              </a:rPr>
              <a:t>NEXT SOP</a:t>
            </a:r>
            <a:endParaRPr lang="en-US" sz="650" dirty="0"/>
          </a:p>
        </p:txBody>
      </p:sp>
      <p:sp>
        <p:nvSpPr>
          <p:cNvPr id="10" name="Text 7"/>
          <p:cNvSpPr txBox="1"/>
          <p:nvPr/>
        </p:nvSpPr>
        <p:spPr>
          <a:xfrm>
            <a:off x="1600200" y="4462272"/>
            <a:ext cx="6949440" cy="310896"/>
          </a:xfrm>
          <a:prstGeom prst="rect">
            <a:avLst/>
          </a:prstGeom>
          <a:noFill/>
          <a:ln/>
        </p:spPr>
        <p:txBody>
          <a:bodyPr wrap="square" lIns="0" tIns="0" rIns="0" bIns="0" rtlCol="0" anchor="ctr"/>
          <a:lstStyle/>
          <a:p>
            <a:pPr indent="0" marL="0">
              <a:buNone/>
            </a:pPr>
            <a:r>
              <a:rPr lang="en-US" sz="850" b="1" dirty="0">
                <a:solidFill>
                  <a:srgbClr val="B8720A"/>
                </a:solidFill>
                <a:latin typeface="Aptos" pitchFamily="34" charset="0"/>
                <a:ea typeface="Aptos" pitchFamily="34" charset="-122"/>
                <a:cs typeface="Aptos" pitchFamily="34" charset="-120"/>
              </a:rPr>
              <a:t>After a decline, hand over to Delivery, Return, Item Problem, Payment, Fraud or Legal SOP. Never leave the customer at "no".</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SALS3-INITIATED</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When Sals3 cancels the order, not the customer</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08</a:t>
            </a:r>
            <a:endParaRPr lang="en-US" sz="6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2011680"/>
                <a:gridCol w="1828800"/>
                <a:gridCol w="2560320"/>
                <a:gridCol w="1920240"/>
              </a:tblGrid>
              <a:tr h="411480">
                <a:tc>
                  <a:txBody>
                    <a:bodyPr/>
                    <a:lstStyle/>
                    <a:p>
                      <a:pPr indent="0" marL="0">
                        <a:buNone/>
                      </a:pPr>
                      <a:r>
                        <a:rPr lang="en-US" sz="700" b="1" dirty="0">
                          <a:solidFill>
                            <a:srgbClr val="FFFFFF"/>
                          </a:solidFill>
                          <a:latin typeface="Aptos" pitchFamily="34" charset="0"/>
                          <a:ea typeface="Aptos" pitchFamily="34" charset="-122"/>
                          <a:cs typeface="Aptos" pitchFamily="34" charset="-120"/>
                        </a:rPr>
                        <a:t>Trigger</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Where it shows up today</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Rule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Customer message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r>
              <a:tr h="411480">
                <a:tc>
                  <a:txBody>
                    <a:bodyPr/>
                    <a:lstStyle/>
                    <a:p>
                      <a:pPr indent="0" marL="0">
                        <a:buNone/>
                      </a:pPr>
                      <a:r>
                        <a:rPr lang="en-US" sz="700" dirty="0">
                          <a:solidFill>
                            <a:srgbClr val="1E2A44"/>
                          </a:solidFill>
                          <a:latin typeface="Aptos" pitchFamily="34" charset="0"/>
                          <a:ea typeface="Aptos" pitchFamily="34" charset="-122"/>
                          <a:cs typeface="Aptos" pitchFamily="34" charset="-120"/>
                        </a:rPr>
                        <a:t>FULFILLMENT_FAILED (worker exhausted retries)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Worker outcome, exception queue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 full refund within 1 business day. Support reviews root cause, not the refund.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"We could not process your order. Full refund issued."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11480">
                <a:tc>
                  <a:txBody>
                    <a:bodyPr/>
                    <a:lstStyle/>
                    <a:p>
                      <a:pPr indent="0" marL="0">
                        <a:buNone/>
                      </a:pPr>
                      <a:r>
                        <a:rPr lang="en-US" sz="700" dirty="0">
                          <a:solidFill>
                            <a:srgbClr val="1E2A44"/>
                          </a:solidFill>
                          <a:latin typeface="Aptos" pitchFamily="34" charset="0"/>
                          <a:ea typeface="Aptos" pitchFamily="34" charset="-122"/>
                          <a:cs typeface="Aptos" pitchFamily="34" charset="-120"/>
                        </a:rPr>
                        <a:t>Variant out of stock at CJ after payment</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CJ error on CREATE_ORDER / ADD_CART</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Offer substitute if same price; otherwise cancel + refund. No silent substitution.</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"The item sold out. Refund issued, or reply to choose an alternative."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11480">
                <a:tc>
                  <a:txBody>
                    <a:bodyPr/>
                    <a:lstStyle/>
                    <a:p>
                      <a:pPr indent="0" marL="0">
                        <a:buNone/>
                      </a:pPr>
                      <a:r>
                        <a:rPr lang="en-US" sz="700" dirty="0">
                          <a:solidFill>
                            <a:srgbClr val="1E2A44"/>
                          </a:solidFill>
                          <a:latin typeface="Aptos" pitchFamily="34" charset="0"/>
                          <a:ea typeface="Aptos" pitchFamily="34" charset="-122"/>
                          <a:cs typeface="Aptos" pitchFamily="34" charset="-120"/>
                        </a:rPr>
                        <a:t>Price or listing error</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Manual catch, Pricing review</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 refund. Never ask the customer to pay the difference.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Apology + refund notice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11480">
                <a:tc>
                  <a:txBody>
                    <a:bodyPr/>
                    <a:lstStyle/>
                    <a:p>
                      <a:pPr indent="0" marL="0">
                        <a:buNone/>
                      </a:pPr>
                      <a:r>
                        <a:rPr lang="en-US" sz="700" dirty="0">
                          <a:solidFill>
                            <a:srgbClr val="1E2A44"/>
                          </a:solidFill>
                          <a:latin typeface="Aptos" pitchFamily="34" charset="0"/>
                          <a:ea typeface="Aptos" pitchFamily="34" charset="-122"/>
                          <a:cs typeface="Aptos" pitchFamily="34" charset="-120"/>
                        </a:rPr>
                        <a:t>Address unserviceable / CJ freight unavailable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Freight failure at fulfilment</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Ask for a corrected address once (48 h). No reply: cancel + refund.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"We need a corrected address to ship."</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11480">
                <a:tc>
                  <a:txBody>
                    <a:bodyPr/>
                    <a:lstStyle/>
                    <a:p>
                      <a:pPr indent="0" marL="0">
                        <a:buNone/>
                      </a:pPr>
                      <a:r>
                        <a:rPr lang="en-US" sz="700" dirty="0">
                          <a:solidFill>
                            <a:srgbClr val="1E2A44"/>
                          </a:solidFill>
                          <a:latin typeface="Aptos" pitchFamily="34" charset="0"/>
                          <a:ea typeface="Aptos" pitchFamily="34" charset="-122"/>
                          <a:cs typeface="Aptos" pitchFamily="34" charset="-120"/>
                        </a:rPr>
                        <a:t>Fraud or payment risk</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Fraud SOP, Stripe Radar, DISPUTED status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per Fraud SOP. Refund unless a chargeback is already open (ADR-005).</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Per Fraud SOP</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11480">
                <a:tc>
                  <a:txBody>
                    <a:bodyPr/>
                    <a:lstStyle/>
                    <a:p>
                      <a:pPr indent="0" marL="0">
                        <a:buNone/>
                      </a:pPr>
                      <a:r>
                        <a:rPr lang="en-US" sz="700" dirty="0">
                          <a:solidFill>
                            <a:srgbClr val="1E2A44"/>
                          </a:solidFill>
                          <a:latin typeface="Aptos" pitchFamily="34" charset="0"/>
                          <a:ea typeface="Aptos" pitchFamily="34" charset="-122"/>
                          <a:cs typeface="Aptos" pitchFamily="34" charset="-120"/>
                        </a:rPr>
                        <a:t>Wallet short (AWAITING_SUPPLIER_FUNDS) &gt; 2 business days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Worker state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Do not cancel by default. Escalate to owner to top up; customer sees "Processing".</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None unless it becomes late supply</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bl>
          </a:graphicData>
        </a:graphic>
      </p:graphicFrame>
      <p:sp>
        <p:nvSpPr>
          <p:cNvPr id="8" name="Shape 5"/>
          <p:cNvSpPr/>
          <p:nvPr/>
        </p:nvSpPr>
        <p:spPr>
          <a:xfrm>
            <a:off x="411480" y="4114800"/>
            <a:ext cx="8321040" cy="329184"/>
          </a:xfrm>
          <a:prstGeom prst="roundRect">
            <a:avLst>
              <a:gd name="adj" fmla="val 16667"/>
            </a:avLst>
          </a:prstGeom>
          <a:solidFill>
            <a:srgbClr val="E6F0F8"/>
          </a:solidFill>
          <a:ln w="9525">
            <a:solidFill>
              <a:srgbClr val="0A5C8A"/>
            </a:solidFill>
            <a:prstDash val="solid"/>
          </a:ln>
        </p:spPr>
      </p:sp>
      <p:sp>
        <p:nvSpPr>
          <p:cNvPr id="9" name="Text 6"/>
          <p:cNvSpPr txBox="1"/>
          <p:nvPr/>
        </p:nvSpPr>
        <p:spPr>
          <a:xfrm>
            <a:off x="640080" y="4114800"/>
            <a:ext cx="1005840" cy="329184"/>
          </a:xfrm>
          <a:prstGeom prst="rect">
            <a:avLst/>
          </a:prstGeom>
          <a:noFill/>
          <a:ln/>
        </p:spPr>
        <p:txBody>
          <a:bodyPr wrap="square" lIns="0" tIns="0" rIns="0" bIns="0" rtlCol="0" anchor="ctr"/>
          <a:lstStyle/>
          <a:p>
            <a:pPr indent="0" marL="0">
              <a:buNone/>
            </a:pPr>
            <a:r>
              <a:rPr lang="en-US" sz="650" b="1" dirty="0">
                <a:solidFill>
                  <a:srgbClr val="0A5C8A"/>
                </a:solidFill>
                <a:latin typeface="Aptos" pitchFamily="34" charset="0"/>
                <a:ea typeface="Aptos" pitchFamily="34" charset="-122"/>
                <a:cs typeface="Aptos" pitchFamily="34" charset="-120"/>
              </a:rPr>
              <a:t>RECORD IT</a:t>
            </a:r>
            <a:endParaRPr lang="en-US" sz="650" dirty="0"/>
          </a:p>
        </p:txBody>
      </p:sp>
      <p:sp>
        <p:nvSpPr>
          <p:cNvPr id="10" name="Text 7"/>
          <p:cNvSpPr txBox="1"/>
          <p:nvPr/>
        </p:nvSpPr>
        <p:spPr>
          <a:xfrm>
            <a:off x="1600200" y="4114800"/>
            <a:ext cx="6949440" cy="329184"/>
          </a:xfrm>
          <a:prstGeom prst="rect">
            <a:avLst/>
          </a:prstGeom>
          <a:noFill/>
          <a:ln/>
        </p:spPr>
        <p:txBody>
          <a:bodyPr wrap="square" lIns="0" tIns="0" rIns="0" bIns="0" rtlCol="0" anchor="ctr"/>
          <a:lstStyle/>
          <a:p>
            <a:pPr indent="0" marL="0">
              <a:buNone/>
            </a:pPr>
            <a:r>
              <a:rPr lang="en-US" sz="850" b="1" dirty="0">
                <a:solidFill>
                  <a:srgbClr val="0A5C8A"/>
                </a:solidFill>
                <a:latin typeface="Aptos" pitchFamily="34" charset="0"/>
                <a:ea typeface="Aptos" pitchFamily="34" charset="-122"/>
                <a:cs typeface="Aptos" pitchFamily="34" charset="-120"/>
              </a:rPr>
              <a:t>Every Sals3-initiated cancel writes a cancellation_requests row with requested_by = SALS3 and a reason code. It counts as cancelled on the Customers profile but is not held against the customer.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LATE SUPPLY</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ADR-018 escape: not shipped within 7 days, the customer may cancel</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09</a:t>
            </a:r>
            <a:endParaRPr lang="en-US" sz="650" dirty="0"/>
          </a:p>
        </p:txBody>
      </p:sp>
      <p:sp>
        <p:nvSpPr>
          <p:cNvPr id="7" name="Shape 5"/>
          <p:cNvSpPr/>
          <p:nvPr/>
        </p:nvSpPr>
        <p:spPr>
          <a:xfrm>
            <a:off x="411480" y="1051560"/>
            <a:ext cx="4023360" cy="2377440"/>
          </a:xfrm>
          <a:prstGeom prst="roundRect">
            <a:avLst>
              <a:gd name="adj" fmla="val 2308"/>
            </a:avLst>
          </a:prstGeom>
          <a:solidFill>
            <a:srgbClr val="FFFFFF"/>
          </a:solidFill>
          <a:ln w="9525">
            <a:solidFill>
              <a:srgbClr val="D7DCE2"/>
            </a:solidFill>
            <a:prstDash val="solid"/>
          </a:ln>
        </p:spPr>
      </p:sp>
      <p:sp>
        <p:nvSpPr>
          <p:cNvPr id="8" name="Text 6"/>
          <p:cNvSpPr txBox="1"/>
          <p:nvPr/>
        </p:nvSpPr>
        <p:spPr>
          <a:xfrm>
            <a:off x="594360" y="1143000"/>
            <a:ext cx="365760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Rule</a:t>
            </a:r>
            <a:endParaRPr lang="en-US" sz="1100" dirty="0"/>
          </a:p>
        </p:txBody>
      </p:sp>
      <p:sp>
        <p:nvSpPr>
          <p:cNvPr id="9" name="Text 7"/>
          <p:cNvSpPr txBox="1"/>
          <p:nvPr/>
        </p:nvSpPr>
        <p:spPr>
          <a:xfrm>
            <a:off x="594360" y="1463040"/>
            <a:ext cx="3657600" cy="187452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Clock starts at payment. If no CJ SHIPPED event by day 7 (calendar), the order is "late".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Late orders show a cancel button again, regardless of CJ paid state.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Customer cancels → full refund including shipping. Sals3 raises a CJ dispute or cancel request to recover the wallet payment.</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The customer never waits for CJ to agree. Sals3 carries the recovery risk. That is the ADR-018 promise.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Day 7 is a proposal. CJ processing SLA is 1–3 days; 7 gives CJ room and still beats the ACL / NZ CGA "reasonable time" test.</a:t>
            </a:r>
            <a:endParaRPr lang="en-US" sz="800" dirty="0"/>
          </a:p>
        </p:txBody>
      </p:sp>
      <p:sp>
        <p:nvSpPr>
          <p:cNvPr id="10" name="Shape 8"/>
          <p:cNvSpPr/>
          <p:nvPr/>
        </p:nvSpPr>
        <p:spPr>
          <a:xfrm>
            <a:off x="4663440" y="1051560"/>
            <a:ext cx="4069080" cy="2377440"/>
          </a:xfrm>
          <a:prstGeom prst="roundRect">
            <a:avLst>
              <a:gd name="adj" fmla="val 2308"/>
            </a:avLst>
          </a:prstGeom>
          <a:solidFill>
            <a:srgbClr val="FFFFFF"/>
          </a:solidFill>
          <a:ln w="9525">
            <a:solidFill>
              <a:srgbClr val="D7DCE2"/>
            </a:solidFill>
            <a:prstDash val="solid"/>
          </a:ln>
        </p:spPr>
      </p:sp>
      <p:sp>
        <p:nvSpPr>
          <p:cNvPr id="11" name="Text 9"/>
          <p:cNvSpPr txBox="1"/>
          <p:nvPr/>
        </p:nvSpPr>
        <p:spPr>
          <a:xfrm>
            <a:off x="4846320" y="1143000"/>
            <a:ext cx="370332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Proactive handling (before the customer asks)</a:t>
            </a:r>
            <a:endParaRPr lang="en-US" sz="1100" dirty="0"/>
          </a:p>
        </p:txBody>
      </p:sp>
      <p:sp>
        <p:nvSpPr>
          <p:cNvPr id="12" name="Text 10"/>
          <p:cNvSpPr txBox="1"/>
          <p:nvPr/>
        </p:nvSpPr>
        <p:spPr>
          <a:xfrm>
            <a:off x="4846320" y="1463040"/>
            <a:ext cx="3703320" cy="187452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Day 4 unshipped: automated email, "still processing, expected to ship by day 7".</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Day 7 unshipped: automated email offering the choice, keep waiting or cancel for a full refund.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Day 10 unshipped with no reply: support reviews; default is to cancel and refund.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Portal: a "Late supply" filter on Orders and a count on the Customers profile.</a:t>
            </a:r>
            <a:endParaRPr lang="en-US" sz="800" dirty="0"/>
          </a:p>
        </p:txBody>
      </p:sp>
      <p:sp>
        <p:nvSpPr>
          <p:cNvPr id="13" name="Shape 11"/>
          <p:cNvSpPr/>
          <p:nvPr/>
        </p:nvSpPr>
        <p:spPr>
          <a:xfrm>
            <a:off x="411480" y="3566160"/>
            <a:ext cx="8321040" cy="329184"/>
          </a:xfrm>
          <a:prstGeom prst="roundRect">
            <a:avLst>
              <a:gd name="adj" fmla="val 16667"/>
            </a:avLst>
          </a:prstGeom>
          <a:solidFill>
            <a:srgbClr val="FFF4DF"/>
          </a:solidFill>
          <a:ln w="9525">
            <a:solidFill>
              <a:srgbClr val="B8720A"/>
            </a:solidFill>
            <a:prstDash val="solid"/>
          </a:ln>
        </p:spPr>
      </p:sp>
      <p:sp>
        <p:nvSpPr>
          <p:cNvPr id="14" name="Text 12"/>
          <p:cNvSpPr txBox="1"/>
          <p:nvPr/>
        </p:nvSpPr>
        <p:spPr>
          <a:xfrm>
            <a:off x="640080" y="3566160"/>
            <a:ext cx="1005840" cy="329184"/>
          </a:xfrm>
          <a:prstGeom prst="rect">
            <a:avLst/>
          </a:prstGeom>
          <a:noFill/>
          <a:ln/>
        </p:spPr>
        <p:txBody>
          <a:bodyPr wrap="square" lIns="0" tIns="0" rIns="0" bIns="0" rtlCol="0" anchor="ctr"/>
          <a:lstStyle/>
          <a:p>
            <a:pPr indent="0" marL="0">
              <a:buNone/>
            </a:pPr>
            <a:r>
              <a:rPr lang="en-US" sz="650" b="1" dirty="0">
                <a:solidFill>
                  <a:srgbClr val="B8720A"/>
                </a:solidFill>
                <a:latin typeface="Aptos" pitchFamily="34" charset="0"/>
                <a:ea typeface="Aptos" pitchFamily="34" charset="-122"/>
                <a:cs typeface="Aptos" pitchFamily="34" charset="-120"/>
              </a:rPr>
              <a:t>WHY IT MATTERS</a:t>
            </a:r>
            <a:endParaRPr lang="en-US" sz="650" dirty="0"/>
          </a:p>
        </p:txBody>
      </p:sp>
      <p:sp>
        <p:nvSpPr>
          <p:cNvPr id="15" name="Text 13"/>
          <p:cNvSpPr txBox="1"/>
          <p:nvPr/>
        </p:nvSpPr>
        <p:spPr>
          <a:xfrm>
            <a:off x="1600200" y="3566160"/>
            <a:ext cx="6949440" cy="329184"/>
          </a:xfrm>
          <a:prstGeom prst="rect">
            <a:avLst/>
          </a:prstGeom>
          <a:noFill/>
          <a:ln/>
        </p:spPr>
        <p:txBody>
          <a:bodyPr wrap="square" lIns="0" tIns="0" rIns="0" bIns="0" rtlCol="0" anchor="ctr"/>
          <a:lstStyle/>
          <a:p>
            <a:pPr indent="0" marL="0">
              <a:buNone/>
            </a:pPr>
            <a:r>
              <a:rPr lang="en-US" sz="850" b="1" dirty="0">
                <a:solidFill>
                  <a:srgbClr val="B8720A"/>
                </a:solidFill>
                <a:latin typeface="Aptos" pitchFamily="34" charset="0"/>
                <a:ea typeface="Aptos" pitchFamily="34" charset="-122"/>
                <a:cs typeface="Aptos" pitchFamily="34" charset="-120"/>
              </a:rPr>
              <a:t>Australia and New Zealand law both require delivery within a reasonable time. A customer stuck at "processing" for weeks with no exit is a complaint we lose.</a:t>
            </a:r>
            <a:endParaRPr lang="en-US" sz="850" dirty="0"/>
          </a:p>
        </p:txBody>
      </p:sp>
      <p:sp>
        <p:nvSpPr>
          <p:cNvPr id="16" name="Shape 14"/>
          <p:cNvSpPr/>
          <p:nvPr/>
        </p:nvSpPr>
        <p:spPr>
          <a:xfrm>
            <a:off x="411480" y="3977640"/>
            <a:ext cx="8321040" cy="329184"/>
          </a:xfrm>
          <a:prstGeom prst="roundRect">
            <a:avLst>
              <a:gd name="adj" fmla="val 16667"/>
            </a:avLst>
          </a:prstGeom>
          <a:solidFill>
            <a:srgbClr val="E3F6F0"/>
          </a:solidFill>
          <a:ln w="9525">
            <a:solidFill>
              <a:srgbClr val="0F8B6C"/>
            </a:solidFill>
            <a:prstDash val="solid"/>
          </a:ln>
        </p:spPr>
      </p:sp>
      <p:sp>
        <p:nvSpPr>
          <p:cNvPr id="17" name="Text 15"/>
          <p:cNvSpPr txBox="1"/>
          <p:nvPr/>
        </p:nvSpPr>
        <p:spPr>
          <a:xfrm>
            <a:off x="640080" y="3977640"/>
            <a:ext cx="1005840" cy="329184"/>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TIED TO CANCELLATION</a:t>
            </a:r>
            <a:endParaRPr lang="en-US" sz="650" dirty="0"/>
          </a:p>
        </p:txBody>
      </p:sp>
      <p:sp>
        <p:nvSpPr>
          <p:cNvPr id="18" name="Text 16"/>
          <p:cNvSpPr txBox="1"/>
          <p:nvPr/>
        </p:nvSpPr>
        <p:spPr>
          <a:xfrm>
            <a:off x="1600200" y="3977640"/>
            <a:ext cx="6949440" cy="329184"/>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This is the only case where a cancel is granted after CJ has been paid without asking CJ first.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CUSTOMER JOURNEY</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What the customer sees at each state</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10</a:t>
            </a:r>
            <a:endParaRPr lang="en-US" sz="6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1737360"/>
                <a:gridCol w="2286000"/>
                <a:gridCol w="1463040"/>
                <a:gridCol w="2834640"/>
              </a:tblGrid>
              <a:tr h="301752">
                <a:tc>
                  <a:txBody>
                    <a:bodyPr/>
                    <a:lstStyle/>
                    <a:p>
                      <a:pPr indent="0" marL="0">
                        <a:buNone/>
                      </a:pPr>
                      <a:r>
                        <a:rPr lang="en-US" sz="700" b="1" dirty="0">
                          <a:solidFill>
                            <a:srgbClr val="FFFFFF"/>
                          </a:solidFill>
                          <a:latin typeface="Aptos" pitchFamily="34" charset="0"/>
                          <a:ea typeface="Aptos" pitchFamily="34" charset="-122"/>
                          <a:cs typeface="Aptos" pitchFamily="34" charset="-120"/>
                        </a:rPr>
                        <a:t>State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Order page shows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Button</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After the click</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r>
              <a:tr h="301752">
                <a:tc>
                  <a:txBody>
                    <a:bodyPr/>
                    <a:lstStyle/>
                    <a:p>
                      <a:pPr indent="0" marL="0">
                        <a:buNone/>
                      </a:pPr>
                      <a:r>
                        <a:rPr lang="en-US" sz="700" dirty="0">
                          <a:solidFill>
                            <a:srgbClr val="1E2A44"/>
                          </a:solidFill>
                          <a:latin typeface="Aptos" pitchFamily="34" charset="0"/>
                          <a:ea typeface="Aptos" pitchFamily="34" charset="-122"/>
                          <a:cs typeface="Aptos" pitchFamily="34" charset="-120"/>
                        </a:rPr>
                        <a:t>Hold window</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"Processing · you can cancel until 14:32"</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order</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Instant confirmation + refund email</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01752">
                <a:tc>
                  <a:txBody>
                    <a:bodyPr/>
                    <a:lstStyle/>
                    <a:p>
                      <a:pPr indent="0" marL="0">
                        <a:buNone/>
                      </a:pPr>
                      <a:r>
                        <a:rPr lang="en-US" sz="700" dirty="0">
                          <a:solidFill>
                            <a:srgbClr val="1E2A44"/>
                          </a:solidFill>
                          <a:latin typeface="Aptos" pitchFamily="34" charset="0"/>
                          <a:ea typeface="Aptos" pitchFamily="34" charset="-122"/>
                          <a:cs typeface="Aptos" pitchFamily="34" charset="-120"/>
                        </a:rPr>
                        <a:t>CJ CREATED / IN_CART / UNPAID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"Processing"</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order</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Instant confirmation; refund follows within 1 business day</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01752">
                <a:tc>
                  <a:txBody>
                    <a:bodyPr/>
                    <a:lstStyle/>
                    <a:p>
                      <a:pPr indent="0" marL="0">
                        <a:buNone/>
                      </a:pPr>
                      <a:r>
                        <a:rPr lang="en-US" sz="700" dirty="0">
                          <a:solidFill>
                            <a:srgbClr val="1E2A44"/>
                          </a:solidFill>
                          <a:latin typeface="Aptos" pitchFamily="34" charset="0"/>
                          <a:ea typeface="Aptos" pitchFamily="34" charset="-122"/>
                          <a:cs typeface="Aptos" pitchFamily="34" charset="-120"/>
                        </a:rPr>
                        <a:t>CJ paid, PENDING</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"Preparing to ship"</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order</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Instant confirmation + refund (CJ dispute runs in the background)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01752">
                <a:tc>
                  <a:txBody>
                    <a:bodyPr/>
                    <a:lstStyle/>
                    <a:p>
                      <a:pPr indent="0" marL="0">
                        <a:buNone/>
                      </a:pPr>
                      <a:r>
                        <a:rPr lang="en-US" sz="700" dirty="0">
                          <a:solidFill>
                            <a:srgbClr val="1E2A44"/>
                          </a:solidFill>
                          <a:latin typeface="Aptos" pitchFamily="34" charset="0"/>
                          <a:ea typeface="Aptos" pitchFamily="34" charset="-122"/>
                          <a:cs typeface="Aptos" pitchFamily="34" charset="-120"/>
                        </a:rPr>
                        <a:t>CJ paid, PROCESSING</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"Being packed"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Request cancellation</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"We have asked the warehouse to stop this order. Usually confirmed in 1–2 business days." Order shows CANCEL_REQUESTED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01752">
                <a:tc>
                  <a:txBody>
                    <a:bodyPr/>
                    <a:lstStyle/>
                    <a:p>
                      <a:pPr indent="0" marL="0">
                        <a:buNone/>
                      </a:pPr>
                      <a:r>
                        <a:rPr lang="en-US" sz="700" dirty="0">
                          <a:solidFill>
                            <a:srgbClr val="1E2A44"/>
                          </a:solidFill>
                          <a:latin typeface="Aptos" pitchFamily="34" charset="0"/>
                          <a:ea typeface="Aptos" pitchFamily="34" charset="-122"/>
                          <a:cs typeface="Aptos" pitchFamily="34" charset="-120"/>
                        </a:rPr>
                        <a:t>Late (day 7+, unshipped)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"Running late" banner</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 for a full refund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Instant confirmation + refund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01752">
                <a:tc>
                  <a:txBody>
                    <a:bodyPr/>
                    <a:lstStyle/>
                    <a:p>
                      <a:pPr indent="0" marL="0">
                        <a:buNone/>
                      </a:pPr>
                      <a:r>
                        <a:rPr lang="en-US" sz="700" dirty="0">
                          <a:solidFill>
                            <a:srgbClr val="1E2A44"/>
                          </a:solidFill>
                          <a:latin typeface="Aptos" pitchFamily="34" charset="0"/>
                          <a:ea typeface="Aptos" pitchFamily="34" charset="-122"/>
                          <a:cs typeface="Aptos" pitchFamily="34" charset="-120"/>
                        </a:rPr>
                        <a:t>SHIPPED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"Shipped" + tracking</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(no cancel) Return on arrival</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Link to the Return flow</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01752">
                <a:tc>
                  <a:txBody>
                    <a:bodyPr/>
                    <a:lstStyle/>
                    <a:p>
                      <a:pPr indent="0" marL="0">
                        <a:buNone/>
                      </a:pPr>
                      <a:r>
                        <a:rPr lang="en-US" sz="700" dirty="0">
                          <a:solidFill>
                            <a:srgbClr val="1E2A44"/>
                          </a:solidFill>
                          <a:latin typeface="Aptos" pitchFamily="34" charset="0"/>
                          <a:ea typeface="Aptos" pitchFamily="34" charset="-122"/>
                          <a:cs typeface="Aptos" pitchFamily="34" charset="-120"/>
                        </a:rPr>
                        <a:t>DELIVERED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"Delivered"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Report a problem</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Item Problem Return &amp; Refund flow</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301752">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CANCELLED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"Cancelled · refund ref re_…"</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Refund status line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411480" y="3794760"/>
            <a:ext cx="8321040" cy="86868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No free-text reason is required for a customer cancel. An optional one-tap reason list (changed mind, wrong item, found cheaper, delivery too slow, other) feeds the record.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Guest checkout: the same flow behind the order-lookup link in the confirmation email. Buyer uid may be null; the record keys on order id.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Multi-parcel orders (phase 1 is one parcel per order in practice): cancel applies to the whole order. Per-parcel cancel is out of scope.</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STOREFRONT COPY</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Tell the customer the rules before they need them</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11</a:t>
            </a:r>
            <a:endParaRPr lang="en-US" sz="650" dirty="0"/>
          </a:p>
        </p:txBody>
      </p:sp>
      <p:sp>
        <p:nvSpPr>
          <p:cNvPr id="7" name="Shape 5"/>
          <p:cNvSpPr/>
          <p:nvPr/>
        </p:nvSpPr>
        <p:spPr>
          <a:xfrm>
            <a:off x="411480" y="1051560"/>
            <a:ext cx="4023360" cy="2286000"/>
          </a:xfrm>
          <a:prstGeom prst="roundRect">
            <a:avLst>
              <a:gd name="adj" fmla="val 2400"/>
            </a:avLst>
          </a:prstGeom>
          <a:solidFill>
            <a:srgbClr val="FFFFFF"/>
          </a:solidFill>
          <a:ln w="9525">
            <a:solidFill>
              <a:srgbClr val="D7DCE2"/>
            </a:solidFill>
            <a:prstDash val="solid"/>
          </a:ln>
        </p:spPr>
      </p:sp>
      <p:sp>
        <p:nvSpPr>
          <p:cNvPr id="8" name="Text 6"/>
          <p:cNvSpPr txBox="1"/>
          <p:nvPr/>
        </p:nvSpPr>
        <p:spPr>
          <a:xfrm>
            <a:off x="594360" y="1143000"/>
            <a:ext cx="365760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Where it appears</a:t>
            </a:r>
            <a:endParaRPr lang="en-US" sz="1100" dirty="0"/>
          </a:p>
        </p:txBody>
      </p:sp>
      <p:sp>
        <p:nvSpPr>
          <p:cNvPr id="9" name="Text 7"/>
          <p:cNvSpPr txBox="1"/>
          <p:nvPr/>
        </p:nvSpPr>
        <p:spPr>
          <a:xfrm>
            <a:off x="594360" y="1463040"/>
            <a:ext cx="3657600" cy="178308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Checkout review step, under the Place Order button (one line).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Order confirmation page and email, under the order summary.</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My Orders → order detail, next to the Cancel / Request cancellation button, with the live countdown while the hold window is open.</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Help centre article "Cancelling an order", linked from all three.</a:t>
            </a:r>
            <a:endParaRPr lang="en-US" sz="800" dirty="0"/>
          </a:p>
        </p:txBody>
      </p:sp>
      <p:sp>
        <p:nvSpPr>
          <p:cNvPr id="10" name="Shape 8"/>
          <p:cNvSpPr/>
          <p:nvPr/>
        </p:nvSpPr>
        <p:spPr>
          <a:xfrm>
            <a:off x="4663440" y="1051560"/>
            <a:ext cx="4069080" cy="2286000"/>
          </a:xfrm>
          <a:prstGeom prst="roundRect">
            <a:avLst>
              <a:gd name="adj" fmla="val 2400"/>
            </a:avLst>
          </a:prstGeom>
          <a:solidFill>
            <a:srgbClr val="FFFFFF"/>
          </a:solidFill>
          <a:ln w="9525">
            <a:solidFill>
              <a:srgbClr val="D7DCE2"/>
            </a:solidFill>
            <a:prstDash val="solid"/>
          </a:ln>
        </p:spPr>
      </p:sp>
      <p:sp>
        <p:nvSpPr>
          <p:cNvPr id="11" name="Text 9"/>
          <p:cNvSpPr txBox="1"/>
          <p:nvPr/>
        </p:nvSpPr>
        <p:spPr>
          <a:xfrm>
            <a:off x="4846320" y="1143000"/>
            <a:ext cx="365760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Draft copy (not legal-reviewed)</a:t>
            </a:r>
            <a:endParaRPr lang="en-US" sz="1100" dirty="0"/>
          </a:p>
        </p:txBody>
      </p:sp>
      <p:sp>
        <p:nvSpPr>
          <p:cNvPr id="12" name="Shape 10"/>
          <p:cNvSpPr/>
          <p:nvPr/>
        </p:nvSpPr>
        <p:spPr>
          <a:xfrm>
            <a:off x="4846320" y="1463040"/>
            <a:ext cx="3703320" cy="566928"/>
          </a:xfrm>
          <a:prstGeom prst="roundRect">
            <a:avLst>
              <a:gd name="adj" fmla="val 8065"/>
            </a:avLst>
          </a:prstGeom>
          <a:solidFill>
            <a:srgbClr val="E6F0F8"/>
          </a:solidFill>
          <a:ln w="9525">
            <a:solidFill>
              <a:srgbClr val="0A5C8A"/>
            </a:solidFill>
            <a:prstDash val="solid"/>
          </a:ln>
        </p:spPr>
      </p:sp>
      <p:sp>
        <p:nvSpPr>
          <p:cNvPr id="13" name="Text 11"/>
          <p:cNvSpPr txBox="1"/>
          <p:nvPr/>
        </p:nvSpPr>
        <p:spPr>
          <a:xfrm>
            <a:off x="4937760" y="1463040"/>
            <a:ext cx="3520440" cy="566928"/>
          </a:xfrm>
          <a:prstGeom prst="rect">
            <a:avLst/>
          </a:prstGeom>
          <a:noFill/>
          <a:ln/>
        </p:spPr>
        <p:txBody>
          <a:bodyPr wrap="square" lIns="0" tIns="0" rIns="0" bIns="0" rtlCol="0" anchor="ctr"/>
          <a:lstStyle/>
          <a:p>
            <a:pPr indent="0" marL="0">
              <a:buNone/>
            </a:pPr>
            <a:r>
              <a:rPr lang="en-US" sz="750" dirty="0">
                <a:solidFill>
                  <a:srgbClr val="1E2A44"/>
                </a:solidFill>
                <a:latin typeface="Aptos" pitchFamily="34" charset="0"/>
                <a:ea typeface="Aptos" pitchFamily="34" charset="-122"/>
                <a:cs typeface="Aptos" pitchFamily="34" charset="-120"/>
              </a:rPr>
              <a:t>Checkout / confirmation: "Changed your mind? You can cancel this order for a full refund within 60 minutes of paying. After that we will ask our warehouse to stop it, which usually works while it is still being prepared."</a:t>
            </a:r>
            <a:endParaRPr lang="en-US" sz="750" dirty="0"/>
          </a:p>
        </p:txBody>
      </p:sp>
      <p:sp>
        <p:nvSpPr>
          <p:cNvPr id="14" name="Shape 12"/>
          <p:cNvSpPr/>
          <p:nvPr/>
        </p:nvSpPr>
        <p:spPr>
          <a:xfrm>
            <a:off x="4846320" y="2103120"/>
            <a:ext cx="3703320" cy="566928"/>
          </a:xfrm>
          <a:prstGeom prst="roundRect">
            <a:avLst>
              <a:gd name="adj" fmla="val 8065"/>
            </a:avLst>
          </a:prstGeom>
          <a:solidFill>
            <a:srgbClr val="FFF4DF"/>
          </a:solidFill>
          <a:ln w="9525">
            <a:solidFill>
              <a:srgbClr val="B8720A"/>
            </a:solidFill>
            <a:prstDash val="solid"/>
          </a:ln>
        </p:spPr>
      </p:sp>
      <p:sp>
        <p:nvSpPr>
          <p:cNvPr id="15" name="Text 13"/>
          <p:cNvSpPr txBox="1"/>
          <p:nvPr/>
        </p:nvSpPr>
        <p:spPr>
          <a:xfrm>
            <a:off x="4937760" y="2103120"/>
            <a:ext cx="3520440" cy="566928"/>
          </a:xfrm>
          <a:prstGeom prst="rect">
            <a:avLst/>
          </a:prstGeom>
          <a:noFill/>
          <a:ln/>
        </p:spPr>
        <p:txBody>
          <a:bodyPr wrap="square" lIns="0" tIns="0" rIns="0" bIns="0" rtlCol="0" anchor="ctr"/>
          <a:lstStyle/>
          <a:p>
            <a:pPr indent="0" marL="0">
              <a:buNone/>
            </a:pPr>
            <a:r>
              <a:rPr lang="en-US" sz="750" dirty="0">
                <a:solidFill>
                  <a:srgbClr val="1E2A44"/>
                </a:solidFill>
                <a:latin typeface="Aptos" pitchFamily="34" charset="0"/>
                <a:ea typeface="Aptos" pitchFamily="34" charset="-122"/>
                <a:cs typeface="Aptos" pitchFamily="34" charset="-120"/>
              </a:rPr>
              <a:t>Order page after the hold: "Your order is being prepared at the warehouse. You can still ask to cancel. If the warehouse has already packed it, we will help you return it once it arrives instead."</a:t>
            </a:r>
            <a:endParaRPr lang="en-US" sz="750" dirty="0"/>
          </a:p>
        </p:txBody>
      </p:sp>
      <p:sp>
        <p:nvSpPr>
          <p:cNvPr id="16" name="Shape 14"/>
          <p:cNvSpPr/>
          <p:nvPr/>
        </p:nvSpPr>
        <p:spPr>
          <a:xfrm>
            <a:off x="4846320" y="2743200"/>
            <a:ext cx="3703320" cy="502920"/>
          </a:xfrm>
          <a:prstGeom prst="roundRect">
            <a:avLst>
              <a:gd name="adj" fmla="val 9091"/>
            </a:avLst>
          </a:prstGeom>
          <a:solidFill>
            <a:srgbClr val="FDECEF"/>
          </a:solidFill>
          <a:ln w="9525">
            <a:solidFill>
              <a:srgbClr val="C8283C"/>
            </a:solidFill>
            <a:prstDash val="solid"/>
          </a:ln>
        </p:spPr>
      </p:sp>
      <p:sp>
        <p:nvSpPr>
          <p:cNvPr id="17" name="Text 15"/>
          <p:cNvSpPr txBox="1"/>
          <p:nvPr/>
        </p:nvSpPr>
        <p:spPr>
          <a:xfrm>
            <a:off x="4937760" y="2743200"/>
            <a:ext cx="3520440" cy="502920"/>
          </a:xfrm>
          <a:prstGeom prst="rect">
            <a:avLst/>
          </a:prstGeom>
          <a:noFill/>
          <a:ln/>
        </p:spPr>
        <p:txBody>
          <a:bodyPr wrap="square" lIns="0" tIns="0" rIns="0" bIns="0" rtlCol="0" anchor="ctr"/>
          <a:lstStyle/>
          <a:p>
            <a:pPr indent="0" marL="0">
              <a:buNone/>
            </a:pPr>
            <a:r>
              <a:rPr lang="en-US" sz="750" dirty="0">
                <a:solidFill>
                  <a:srgbClr val="1E2A44"/>
                </a:solidFill>
                <a:latin typeface="Aptos" pitchFamily="34" charset="0"/>
                <a:ea typeface="Aptos" pitchFamily="34" charset="-122"/>
                <a:cs typeface="Aptos" pitchFamily="34" charset="-120"/>
              </a:rPr>
              <a:t>After shipping: "This order has shipped and can no longer be cancelled. You can return it within 14 days of delivery under our Return policy."</a:t>
            </a:r>
            <a:endParaRPr lang="en-US" sz="750" dirty="0"/>
          </a:p>
        </p:txBody>
      </p:sp>
      <p:sp>
        <p:nvSpPr>
          <p:cNvPr id="18" name="Shape 16"/>
          <p:cNvSpPr/>
          <p:nvPr/>
        </p:nvSpPr>
        <p:spPr>
          <a:xfrm>
            <a:off x="411480" y="3520440"/>
            <a:ext cx="8321040" cy="329184"/>
          </a:xfrm>
          <a:prstGeom prst="roundRect">
            <a:avLst>
              <a:gd name="adj" fmla="val 16667"/>
            </a:avLst>
          </a:prstGeom>
          <a:solidFill>
            <a:srgbClr val="E6F0F8"/>
          </a:solidFill>
          <a:ln w="9525">
            <a:solidFill>
              <a:srgbClr val="0A5C8A"/>
            </a:solidFill>
            <a:prstDash val="solid"/>
          </a:ln>
        </p:spPr>
      </p:sp>
      <p:sp>
        <p:nvSpPr>
          <p:cNvPr id="19" name="Text 17"/>
          <p:cNvSpPr txBox="1"/>
          <p:nvPr/>
        </p:nvSpPr>
        <p:spPr>
          <a:xfrm>
            <a:off x="640080" y="3520440"/>
            <a:ext cx="1005840" cy="329184"/>
          </a:xfrm>
          <a:prstGeom prst="rect">
            <a:avLst/>
          </a:prstGeom>
          <a:noFill/>
          <a:ln/>
        </p:spPr>
        <p:txBody>
          <a:bodyPr wrap="square" lIns="0" tIns="0" rIns="0" bIns="0" rtlCol="0" anchor="ctr"/>
          <a:lstStyle/>
          <a:p>
            <a:pPr indent="0" marL="0">
              <a:buNone/>
            </a:pPr>
            <a:r>
              <a:rPr lang="en-US" sz="650" b="1" dirty="0">
                <a:solidFill>
                  <a:srgbClr val="0A5C8A"/>
                </a:solidFill>
                <a:latin typeface="Aptos" pitchFamily="34" charset="0"/>
                <a:ea typeface="Aptos" pitchFamily="34" charset="-122"/>
                <a:cs typeface="Aptos" pitchFamily="34" charset="-120"/>
              </a:rPr>
              <a:t>WHY</a:t>
            </a:r>
            <a:endParaRPr lang="en-US" sz="650" dirty="0"/>
          </a:p>
        </p:txBody>
      </p:sp>
      <p:sp>
        <p:nvSpPr>
          <p:cNvPr id="20" name="Text 18"/>
          <p:cNvSpPr txBox="1"/>
          <p:nvPr/>
        </p:nvSpPr>
        <p:spPr>
          <a:xfrm>
            <a:off x="1600200" y="3520440"/>
            <a:ext cx="6949440" cy="329184"/>
          </a:xfrm>
          <a:prstGeom prst="rect">
            <a:avLst/>
          </a:prstGeom>
          <a:noFill/>
          <a:ln/>
        </p:spPr>
        <p:txBody>
          <a:bodyPr wrap="square" lIns="0" tIns="0" rIns="0" bIns="0" rtlCol="0" anchor="ctr"/>
          <a:lstStyle/>
          <a:p>
            <a:pPr indent="0" marL="0">
              <a:buNone/>
            </a:pPr>
            <a:r>
              <a:rPr lang="en-US" sz="850" b="1" dirty="0">
                <a:solidFill>
                  <a:srgbClr val="0A5C8A"/>
                </a:solidFill>
                <a:latin typeface="Aptos" pitchFamily="34" charset="0"/>
                <a:ea typeface="Aptos" pitchFamily="34" charset="-122"/>
                <a:cs typeface="Aptos" pitchFamily="34" charset="-120"/>
              </a:rPr>
              <a:t>The owner’s concern: the CJ path feels like a hassle and the customer cannot see the odds. Saying it up front turns a surprise into an expectation.</a:t>
            </a:r>
            <a:endParaRPr lang="en-US" sz="850" dirty="0"/>
          </a:p>
        </p:txBody>
      </p:sp>
      <p:sp>
        <p:nvSpPr>
          <p:cNvPr id="21" name="Shape 19"/>
          <p:cNvSpPr/>
          <p:nvPr/>
        </p:nvSpPr>
        <p:spPr>
          <a:xfrm>
            <a:off x="411480" y="3931920"/>
            <a:ext cx="8321040" cy="329184"/>
          </a:xfrm>
          <a:prstGeom prst="roundRect">
            <a:avLst>
              <a:gd name="adj" fmla="val 16667"/>
            </a:avLst>
          </a:prstGeom>
          <a:solidFill>
            <a:srgbClr val="FFF4DF"/>
          </a:solidFill>
          <a:ln w="9525">
            <a:solidFill>
              <a:srgbClr val="B8720A"/>
            </a:solidFill>
            <a:prstDash val="solid"/>
          </a:ln>
        </p:spPr>
      </p:sp>
      <p:sp>
        <p:nvSpPr>
          <p:cNvPr id="22" name="Text 20"/>
          <p:cNvSpPr txBox="1"/>
          <p:nvPr/>
        </p:nvSpPr>
        <p:spPr>
          <a:xfrm>
            <a:off x="640080" y="3931920"/>
            <a:ext cx="1005840" cy="329184"/>
          </a:xfrm>
          <a:prstGeom prst="rect">
            <a:avLst/>
          </a:prstGeom>
          <a:noFill/>
          <a:ln/>
        </p:spPr>
        <p:txBody>
          <a:bodyPr wrap="square" lIns="0" tIns="0" rIns="0" bIns="0" rtlCol="0" anchor="ctr"/>
          <a:lstStyle/>
          <a:p>
            <a:pPr indent="0" marL="0">
              <a:buNone/>
            </a:pPr>
            <a:r>
              <a:rPr lang="en-US" sz="650" b="1" dirty="0">
                <a:solidFill>
                  <a:srgbClr val="B8720A"/>
                </a:solidFill>
                <a:latin typeface="Aptos" pitchFamily="34" charset="0"/>
                <a:ea typeface="Aptos" pitchFamily="34" charset="-122"/>
                <a:cs typeface="Aptos" pitchFamily="34" charset="-120"/>
              </a:rPr>
              <a:t>HONEST ODDS</a:t>
            </a:r>
            <a:endParaRPr lang="en-US" sz="650" dirty="0"/>
          </a:p>
        </p:txBody>
      </p:sp>
      <p:sp>
        <p:nvSpPr>
          <p:cNvPr id="23" name="Text 21"/>
          <p:cNvSpPr txBox="1"/>
          <p:nvPr/>
        </p:nvSpPr>
        <p:spPr>
          <a:xfrm>
            <a:off x="1600200" y="3931920"/>
            <a:ext cx="6949440" cy="329184"/>
          </a:xfrm>
          <a:prstGeom prst="rect">
            <a:avLst/>
          </a:prstGeom>
          <a:noFill/>
          <a:ln/>
        </p:spPr>
        <p:txBody>
          <a:bodyPr wrap="square" lIns="0" tIns="0" rIns="0" bIns="0" rtlCol="0" anchor="ctr"/>
          <a:lstStyle/>
          <a:p>
            <a:pPr indent="0" marL="0">
              <a:buNone/>
            </a:pPr>
            <a:r>
              <a:rPr lang="en-US" sz="850" b="1" dirty="0">
                <a:solidFill>
                  <a:srgbClr val="B8720A"/>
                </a:solidFill>
                <a:latin typeface="Aptos" pitchFamily="34" charset="0"/>
                <a:ea typeface="Aptos" pitchFamily="34" charset="-122"/>
                <a:cs typeface="Aptos" pitchFamily="34" charset="-120"/>
              </a:rPr>
              <a:t>Do not promise. Say "usually works". CJ policy grants it before warehouse processing; Sals3’s record is 5 of 5, but PROCESSING can still be refused.</a:t>
            </a:r>
            <a:endParaRPr lang="en-US" sz="850" dirty="0"/>
          </a:p>
        </p:txBody>
      </p:sp>
      <p:sp>
        <p:nvSpPr>
          <p:cNvPr id="24" name="Shape 22"/>
          <p:cNvSpPr/>
          <p:nvPr/>
        </p:nvSpPr>
        <p:spPr>
          <a:xfrm>
            <a:off x="411480" y="4343400"/>
            <a:ext cx="8321040" cy="329184"/>
          </a:xfrm>
          <a:prstGeom prst="roundRect">
            <a:avLst>
              <a:gd name="adj" fmla="val 16667"/>
            </a:avLst>
          </a:prstGeom>
          <a:solidFill>
            <a:srgbClr val="E3F6F0"/>
          </a:solidFill>
          <a:ln w="9525">
            <a:solidFill>
              <a:srgbClr val="0F8B6C"/>
            </a:solidFill>
            <a:prstDash val="solid"/>
          </a:ln>
        </p:spPr>
      </p:sp>
      <p:sp>
        <p:nvSpPr>
          <p:cNvPr id="25" name="Text 23"/>
          <p:cNvSpPr txBox="1"/>
          <p:nvPr/>
        </p:nvSpPr>
        <p:spPr>
          <a:xfrm>
            <a:off x="640080" y="4343400"/>
            <a:ext cx="1005840" cy="329184"/>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ADR-018</a:t>
            </a:r>
            <a:endParaRPr lang="en-US" sz="650" dirty="0"/>
          </a:p>
        </p:txBody>
      </p:sp>
      <p:sp>
        <p:nvSpPr>
          <p:cNvPr id="26" name="Text 24"/>
          <p:cNvSpPr txBox="1"/>
          <p:nvPr/>
        </p:nvSpPr>
        <p:spPr>
          <a:xfrm>
            <a:off x="1600200" y="4343400"/>
            <a:ext cx="6949440" cy="329184"/>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Cancellation rights text must match the Returns and Refunds policy page and the 14-day return window from the Item Problem SOP.</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MONEY</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Refund mechanics</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12</a:t>
            </a:r>
            <a:endParaRPr lang="en-US" sz="650" dirty="0"/>
          </a:p>
        </p:txBody>
      </p:sp>
      <p:sp>
        <p:nvSpPr>
          <p:cNvPr id="7" name="Shape 5"/>
          <p:cNvSpPr/>
          <p:nvPr/>
        </p:nvSpPr>
        <p:spPr>
          <a:xfrm>
            <a:off x="411480" y="1051560"/>
            <a:ext cx="4023360" cy="2606040"/>
          </a:xfrm>
          <a:prstGeom prst="roundRect">
            <a:avLst>
              <a:gd name="adj" fmla="val 2105"/>
            </a:avLst>
          </a:prstGeom>
          <a:solidFill>
            <a:srgbClr val="FFFFFF"/>
          </a:solidFill>
          <a:ln w="9525">
            <a:solidFill>
              <a:srgbClr val="D7DCE2"/>
            </a:solidFill>
            <a:prstDash val="solid"/>
          </a:ln>
        </p:spPr>
      </p:sp>
      <p:sp>
        <p:nvSpPr>
          <p:cNvPr id="8" name="Text 6"/>
          <p:cNvSpPr txBox="1"/>
          <p:nvPr/>
        </p:nvSpPr>
        <p:spPr>
          <a:xfrm>
            <a:off x="594360" y="1143000"/>
            <a:ext cx="365760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Customer side (Stripe)</a:t>
            </a:r>
            <a:endParaRPr lang="en-US" sz="1100" dirty="0"/>
          </a:p>
        </p:txBody>
      </p:sp>
      <p:sp>
        <p:nvSpPr>
          <p:cNvPr id="9" name="Text 7"/>
          <p:cNvSpPr txBox="1"/>
          <p:nvPr/>
        </p:nvSpPr>
        <p:spPr>
          <a:xfrm>
            <a:off x="594360" y="1463040"/>
            <a:ext cx="3657600" cy="210312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Full refund of the captured amount: items + shipping + any surcharge. No restocking fee for a cancellation.</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Refund to the original payment method only. Never store credit, never a different card.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Stripe refund id stored on the order and shown to the customer. payment_status → REFUNDED.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Partial refunds do not exist in this SOP. If part of an order shipped, it is a Return, not a cancellation.</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If a chargeback is already open (DISPUTED), do not refund; follow ADR-005.</a:t>
            </a:r>
            <a:endParaRPr lang="en-US" sz="800" dirty="0"/>
          </a:p>
        </p:txBody>
      </p:sp>
      <p:sp>
        <p:nvSpPr>
          <p:cNvPr id="10" name="Shape 8"/>
          <p:cNvSpPr/>
          <p:nvPr/>
        </p:nvSpPr>
        <p:spPr>
          <a:xfrm>
            <a:off x="4663440" y="1051560"/>
            <a:ext cx="4069080" cy="2606040"/>
          </a:xfrm>
          <a:prstGeom prst="roundRect">
            <a:avLst>
              <a:gd name="adj" fmla="val 2105"/>
            </a:avLst>
          </a:prstGeom>
          <a:solidFill>
            <a:srgbClr val="FFFFFF"/>
          </a:solidFill>
          <a:ln w="9525">
            <a:solidFill>
              <a:srgbClr val="D7DCE2"/>
            </a:solidFill>
            <a:prstDash val="solid"/>
          </a:ln>
        </p:spPr>
      </p:sp>
      <p:sp>
        <p:nvSpPr>
          <p:cNvPr id="11" name="Text 9"/>
          <p:cNvSpPr txBox="1"/>
          <p:nvPr/>
        </p:nvSpPr>
        <p:spPr>
          <a:xfrm>
            <a:off x="4846320" y="1143000"/>
            <a:ext cx="3703320" cy="274320"/>
          </a:xfrm>
          <a:prstGeom prst="rect">
            <a:avLst/>
          </a:prstGeom>
          <a:noFill/>
          <a:ln/>
        </p:spPr>
        <p:txBody>
          <a:bodyPr wrap="square" lIns="0" tIns="0" rIns="0" bIns="0" rtlCol="0" anchor="ctr"/>
          <a:lstStyle/>
          <a:p>
            <a:pPr indent="0" marL="0">
              <a:buNone/>
            </a:pPr>
            <a:r>
              <a:rPr lang="en-US" sz="1100" b="1" dirty="0">
                <a:solidFill>
                  <a:srgbClr val="13224A"/>
                </a:solidFill>
                <a:latin typeface="Aptos" pitchFamily="34" charset="0"/>
                <a:ea typeface="Aptos" pitchFamily="34" charset="-122"/>
                <a:cs typeface="Aptos" pitchFamily="34" charset="-120"/>
              </a:rPr>
              <a:t>Sals3 side (CJ wallet)</a:t>
            </a:r>
            <a:endParaRPr lang="en-US" sz="1100" dirty="0"/>
          </a:p>
        </p:txBody>
      </p:sp>
      <p:sp>
        <p:nvSpPr>
          <p:cNvPr id="12" name="Text 10"/>
          <p:cNvSpPr txBox="1"/>
          <p:nvPr/>
        </p:nvSpPr>
        <p:spPr>
          <a:xfrm>
            <a:off x="4846320" y="1463040"/>
            <a:ext cx="3703320" cy="210312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Hold window / CREATED / IN_CART / UNPAID: nothing to recover. Zero cost beyond Stripe fees.</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Paid UNSHIPPED cancelled via dispute: CJ credits the wallet (refundType 1) in 1–3 days, product + shipping. The worker records disputeId and refundAmount on the case.</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Late supply: Sals3 refunds first, then disputes at CJ. Recovery is tracked in a "CJ recovery" column; it is never the customer's problem.</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Stripe fees are not recoverable. Accept this as the cost of the hold window; measure it monthly.</a:t>
            </a:r>
            <a:endParaRPr lang="en-US" sz="800" dirty="0"/>
          </a:p>
        </p:txBody>
      </p:sp>
      <p:sp>
        <p:nvSpPr>
          <p:cNvPr id="13" name="Shape 11"/>
          <p:cNvSpPr/>
          <p:nvPr/>
        </p:nvSpPr>
        <p:spPr>
          <a:xfrm>
            <a:off x="411480" y="3794760"/>
            <a:ext cx="8321040" cy="329184"/>
          </a:xfrm>
          <a:prstGeom prst="roundRect">
            <a:avLst>
              <a:gd name="adj" fmla="val 16667"/>
            </a:avLst>
          </a:prstGeom>
          <a:solidFill>
            <a:srgbClr val="E3F6F0"/>
          </a:solidFill>
          <a:ln w="9525">
            <a:solidFill>
              <a:srgbClr val="0F8B6C"/>
            </a:solidFill>
            <a:prstDash val="solid"/>
          </a:ln>
        </p:spPr>
      </p:sp>
      <p:sp>
        <p:nvSpPr>
          <p:cNvPr id="14" name="Text 12"/>
          <p:cNvSpPr txBox="1"/>
          <p:nvPr/>
        </p:nvSpPr>
        <p:spPr>
          <a:xfrm>
            <a:off x="640080" y="3794760"/>
            <a:ext cx="1005840" cy="329184"/>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ONE RULE</a:t>
            </a:r>
            <a:endParaRPr lang="en-US" sz="650" dirty="0"/>
          </a:p>
        </p:txBody>
      </p:sp>
      <p:sp>
        <p:nvSpPr>
          <p:cNvPr id="15" name="Text 13"/>
          <p:cNvSpPr txBox="1"/>
          <p:nvPr/>
        </p:nvSpPr>
        <p:spPr>
          <a:xfrm>
            <a:off x="1600200" y="3794760"/>
            <a:ext cx="6949440" cy="329184"/>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Refund the customer first when the money is ours to refund. Chase CJ afterwards. Never make the customer wait on CJ for states 01–03 or late supply.</a:t>
            </a:r>
            <a:endParaRPr lang="en-US" sz="850" dirty="0"/>
          </a:p>
        </p:txBody>
      </p:sp>
      <p:sp>
        <p:nvSpPr>
          <p:cNvPr id="16" name="Shape 14"/>
          <p:cNvSpPr/>
          <p:nvPr/>
        </p:nvSpPr>
        <p:spPr>
          <a:xfrm>
            <a:off x="411480" y="4206240"/>
            <a:ext cx="8321040" cy="329184"/>
          </a:xfrm>
          <a:prstGeom prst="roundRect">
            <a:avLst>
              <a:gd name="adj" fmla="val 16667"/>
            </a:avLst>
          </a:prstGeom>
          <a:solidFill>
            <a:srgbClr val="E3F6F0"/>
          </a:solidFill>
          <a:ln w="9525">
            <a:solidFill>
              <a:srgbClr val="0F8B6C"/>
            </a:solidFill>
            <a:prstDash val="solid"/>
          </a:ln>
        </p:spPr>
      </p:sp>
      <p:sp>
        <p:nvSpPr>
          <p:cNvPr id="17" name="Text 15"/>
          <p:cNvSpPr txBox="1"/>
          <p:nvPr/>
        </p:nvSpPr>
        <p:spPr>
          <a:xfrm>
            <a:off x="640080" y="4206240"/>
            <a:ext cx="1005840" cy="329184"/>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CONFIRMED 10 SEP</a:t>
            </a:r>
            <a:endParaRPr lang="en-US" sz="650" dirty="0"/>
          </a:p>
        </p:txBody>
      </p:sp>
      <p:sp>
        <p:nvSpPr>
          <p:cNvPr id="18" name="Text 16"/>
          <p:cNvSpPr txBox="1"/>
          <p:nvPr/>
        </p:nvSpPr>
        <p:spPr>
          <a:xfrm>
            <a:off x="1600200" y="4206240"/>
            <a:ext cx="6949440" cy="329184"/>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CJ refunds product + shipping on Unfulfilled Order Cancellation disputes (Sals3: 5 of 5). Wallet-paid orders refund to the CJ Wallet in 1–3 days. Nothing left to confirm with CJ.</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DATA MODEL</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What gets recorded (aligned with the Customers module)</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13</a:t>
            </a:r>
            <a:endParaRPr lang="en-US" sz="6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1828800"/>
                <a:gridCol w="3931920"/>
                <a:gridCol w="2560320"/>
              </a:tblGrid>
              <a:tr h="457200">
                <a:tc>
                  <a:txBody>
                    <a:bodyPr/>
                    <a:lstStyle/>
                    <a:p>
                      <a:pPr indent="0" marL="0">
                        <a:buNone/>
                      </a:pPr>
                      <a:r>
                        <a:rPr lang="en-US" sz="700" b="1" dirty="0">
                          <a:solidFill>
                            <a:srgbClr val="FFFFFF"/>
                          </a:solidFill>
                          <a:latin typeface="Aptos" pitchFamily="34" charset="0"/>
                          <a:ea typeface="Aptos" pitchFamily="34" charset="-122"/>
                          <a:cs typeface="Aptos" pitchFamily="34" charset="-120"/>
                        </a:rPr>
                        <a:t>Object</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Fields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700" b="1" dirty="0">
                          <a:solidFill>
                            <a:srgbClr val="FFFFFF"/>
                          </a:solidFill>
                          <a:latin typeface="Aptos" pitchFamily="34" charset="0"/>
                          <a:ea typeface="Aptos" pitchFamily="34" charset="-122"/>
                          <a:cs typeface="Aptos" pitchFamily="34" charset="-120"/>
                        </a:rPr>
                        <a:t>Notes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r>
              <a:tr h="457200">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cancellation_requests (new)</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id · order_id · customer_id · requested_by (BUYER | SALS3) · reason_code · fulfilment_state_at_request · cj_order_id · decision (APPROVED | CJ_REQUESTED | DECLINED | CONVERTED_TO_RETURN) · decided_by · decided_at · stripe_refund_id · cj_reference · notes</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One row per request. A declined request stays as evidence. Feeds the Refunds tab on the customer profile.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57200">
                <a:tc>
                  <a:txBody>
                    <a:bodyPr/>
                    <a:lstStyle/>
                    <a:p>
                      <a:pPr indent="0" marL="0">
                        <a:buNone/>
                      </a:pPr>
                      <a:r>
                        <a:rPr lang="en-US" sz="700" dirty="0">
                          <a:solidFill>
                            <a:srgbClr val="1E2A44"/>
                          </a:solidFill>
                          <a:latin typeface="Aptos" pitchFamily="34" charset="0"/>
                          <a:ea typeface="Aptos" pitchFamily="34" charset="-122"/>
                          <a:cs typeface="Aptos" pitchFamily="34" charset="-120"/>
                        </a:rPr>
                        <a:t>sals3_orders.status (extend)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 CANCEL_REQUESTED · CANCELLED (already exists as parcel_state)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CANCEL_REQUESTED only for state 04 (paid, unshipped). Everything else goes straight to CANCELLED.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57200">
                <a:tc>
                  <a:txBody>
                    <a:bodyPr/>
                    <a:lstStyle/>
                    <a:p>
                      <a:pPr indent="0" marL="0">
                        <a:buNone/>
                      </a:pPr>
                      <a:r>
                        <a:rPr lang="en-US" sz="700" dirty="0">
                          <a:solidFill>
                            <a:srgbClr val="1E2A44"/>
                          </a:solidFill>
                          <a:latin typeface="Aptos" pitchFamily="34" charset="0"/>
                          <a:ea typeface="Aptos" pitchFamily="34" charset="-122"/>
                          <a:cs typeface="Aptos" pitchFamily="34" charset="-120"/>
                        </a:rPr>
                        <a:t>outbox job</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cancelled_at · cancelled_reason</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Hold-window cancel marks the FULFILL_ORDER job so the worker skips it. Worker re-checks order state before every CJ call.</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57200">
                <a:tc>
                  <a:txBody>
                    <a:bodyPr/>
                    <a:lstStyle/>
                    <a:p>
                      <a:pPr indent="0" marL="0">
                        <a:buNone/>
                      </a:pPr>
                      <a:r>
                        <a:rPr lang="en-US" sz="700" dirty="0">
                          <a:solidFill>
                            <a:srgbClr val="1E2A44"/>
                          </a:solidFill>
                          <a:latin typeface="Aptos" pitchFamily="34" charset="0"/>
                          <a:ea typeface="Aptos" pitchFamily="34" charset="-122"/>
                          <a:cs typeface="Aptos" pitchFamily="34" charset="-120"/>
                        </a:rPr>
                        <a:t>Customers module</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cancelledCount / % cancelled already computed from parcel_state = CANCELLED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No change to the metric. Add a requested_by split (buyer vs Sals3) to the profile tiles later.</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57200">
                <a:tc>
                  <a:txBody>
                    <a:bodyPr/>
                    <a:lstStyle/>
                    <a:p>
                      <a:pPr indent="0" marL="0">
                        <a:buNone/>
                      </a:pPr>
                      <a:r>
                        <a:rPr lang="en-US" sz="700" dirty="0">
                          <a:solidFill>
                            <a:srgbClr val="1E2A44"/>
                          </a:solidFill>
                          <a:latin typeface="Aptos" pitchFamily="34" charset="0"/>
                          <a:ea typeface="Aptos" pitchFamily="34" charset="-122"/>
                          <a:cs typeface="Aptos" pitchFamily="34" charset="-120"/>
                        </a:rPr>
                        <a:t>Audit</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who decided, when, which CJ reference, which Stripe refund</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700" dirty="0">
                          <a:solidFill>
                            <a:srgbClr val="1E2A44"/>
                          </a:solidFill>
                          <a:latin typeface="Aptos" pitchFamily="34" charset="0"/>
                          <a:ea typeface="Aptos" pitchFamily="34" charset="-122"/>
                          <a:cs typeface="Aptos" pitchFamily="34" charset="-120"/>
                        </a:rPr>
                        <a:t>Same pattern as customer_reveal_audit. No deletes, ever.</a:t>
                      </a:r>
                      <a:endParaRPr lang="en-US" sz="70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bl>
          </a:graphicData>
        </a:graphic>
      </p:graphicFrame>
      <p:sp>
        <p:nvSpPr>
          <p:cNvPr id="8" name="Shape 5"/>
          <p:cNvSpPr/>
          <p:nvPr/>
        </p:nvSpPr>
        <p:spPr>
          <a:xfrm>
            <a:off x="411480" y="3977640"/>
            <a:ext cx="8321040" cy="329184"/>
          </a:xfrm>
          <a:prstGeom prst="roundRect">
            <a:avLst>
              <a:gd name="adj" fmla="val 16667"/>
            </a:avLst>
          </a:prstGeom>
          <a:solidFill>
            <a:srgbClr val="E6F0F8"/>
          </a:solidFill>
          <a:ln w="9525">
            <a:solidFill>
              <a:srgbClr val="0A5C8A"/>
            </a:solidFill>
            <a:prstDash val="solid"/>
          </a:ln>
        </p:spPr>
      </p:sp>
      <p:sp>
        <p:nvSpPr>
          <p:cNvPr id="9" name="Text 6"/>
          <p:cNvSpPr txBox="1"/>
          <p:nvPr/>
        </p:nvSpPr>
        <p:spPr>
          <a:xfrm>
            <a:off x="640080" y="3977640"/>
            <a:ext cx="1005840" cy="329184"/>
          </a:xfrm>
          <a:prstGeom prst="rect">
            <a:avLst/>
          </a:prstGeom>
          <a:noFill/>
          <a:ln/>
        </p:spPr>
        <p:txBody>
          <a:bodyPr wrap="square" lIns="0" tIns="0" rIns="0" bIns="0" rtlCol="0" anchor="ctr"/>
          <a:lstStyle/>
          <a:p>
            <a:pPr indent="0" marL="0">
              <a:buNone/>
            </a:pPr>
            <a:r>
              <a:rPr lang="en-US" sz="650" b="1" dirty="0">
                <a:solidFill>
                  <a:srgbClr val="0A5C8A"/>
                </a:solidFill>
                <a:latin typeface="Aptos" pitchFamily="34" charset="0"/>
                <a:ea typeface="Aptos" pitchFamily="34" charset="-122"/>
                <a:cs typeface="Aptos" pitchFamily="34" charset="-120"/>
              </a:rPr>
              <a:t>CUSTOMER PROFILE</a:t>
            </a:r>
            <a:endParaRPr lang="en-US" sz="650" dirty="0"/>
          </a:p>
        </p:txBody>
      </p:sp>
      <p:sp>
        <p:nvSpPr>
          <p:cNvPr id="10" name="Text 7"/>
          <p:cNvSpPr txBox="1"/>
          <p:nvPr/>
        </p:nvSpPr>
        <p:spPr>
          <a:xfrm>
            <a:off x="1600200" y="3977640"/>
            <a:ext cx="6949440" cy="329184"/>
          </a:xfrm>
          <a:prstGeom prst="rect">
            <a:avLst/>
          </a:prstGeom>
          <a:noFill/>
          <a:ln/>
        </p:spPr>
        <p:txBody>
          <a:bodyPr wrap="square" lIns="0" tIns="0" rIns="0" bIns="0" rtlCol="0" anchor="ctr"/>
          <a:lstStyle/>
          <a:p>
            <a:pPr indent="0" marL="0">
              <a:buNone/>
            </a:pPr>
            <a:r>
              <a:rPr lang="en-US" sz="850" b="1" dirty="0">
                <a:solidFill>
                  <a:srgbClr val="0A5C8A"/>
                </a:solidFill>
                <a:latin typeface="Aptos" pitchFamily="34" charset="0"/>
                <a:ea typeface="Aptos" pitchFamily="34" charset="-122"/>
                <a:cs typeface="Aptos" pitchFamily="34" charset="-120"/>
              </a:rPr>
              <a:t>% cancelled on the Customers list is the abuse signal. A buyer above the WATCH threshold (proposal: 3 cancels in 30 days) keeps the hold-window right; support just sees the flag.</a:t>
            </a:r>
            <a:endParaRPr lang="en-US" sz="850" dirty="0"/>
          </a:p>
        </p:txBody>
      </p:sp>
      <p:sp>
        <p:nvSpPr>
          <p:cNvPr id="11" name="Shape 8"/>
          <p:cNvSpPr/>
          <p:nvPr/>
        </p:nvSpPr>
        <p:spPr>
          <a:xfrm>
            <a:off x="411480" y="4389120"/>
            <a:ext cx="8321040" cy="329184"/>
          </a:xfrm>
          <a:prstGeom prst="roundRect">
            <a:avLst>
              <a:gd name="adj" fmla="val 16667"/>
            </a:avLst>
          </a:prstGeom>
          <a:solidFill>
            <a:srgbClr val="E3F6F0"/>
          </a:solidFill>
          <a:ln w="9525">
            <a:solidFill>
              <a:srgbClr val="0F8B6C"/>
            </a:solidFill>
            <a:prstDash val="solid"/>
          </a:ln>
        </p:spPr>
      </p:sp>
      <p:sp>
        <p:nvSpPr>
          <p:cNvPr id="12" name="Text 9"/>
          <p:cNvSpPr txBox="1"/>
          <p:nvPr/>
        </p:nvSpPr>
        <p:spPr>
          <a:xfrm>
            <a:off x="640080" y="4389120"/>
            <a:ext cx="1005840" cy="329184"/>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BUILD ORDER</a:t>
            </a:r>
            <a:endParaRPr lang="en-US" sz="650" dirty="0"/>
          </a:p>
        </p:txBody>
      </p:sp>
      <p:sp>
        <p:nvSpPr>
          <p:cNvPr id="13" name="Text 10"/>
          <p:cNvSpPr txBox="1"/>
          <p:nvPr/>
        </p:nvSpPr>
        <p:spPr>
          <a:xfrm>
            <a:off x="1600200" y="4389120"/>
            <a:ext cx="6949440" cy="329184"/>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1) notBefore hold + cancel action  2) cancellation_requests + states  3) customer UI  4) CJ delete/cancel automation  5) late-supply emails.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GUARDRAILS</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Abuse, edge cases and what support may not do</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14</a:t>
            </a:r>
            <a:endParaRPr lang="en-US" sz="650" dirty="0"/>
          </a:p>
        </p:txBody>
      </p:sp>
      <p:sp>
        <p:nvSpPr>
          <p:cNvPr id="7" name="Shape 5"/>
          <p:cNvSpPr/>
          <p:nvPr/>
        </p:nvSpPr>
        <p:spPr>
          <a:xfrm>
            <a:off x="411480" y="1005840"/>
            <a:ext cx="2697480" cy="1737360"/>
          </a:xfrm>
          <a:prstGeom prst="roundRect">
            <a:avLst>
              <a:gd name="adj" fmla="val 3158"/>
            </a:avLst>
          </a:prstGeom>
          <a:solidFill>
            <a:srgbClr val="FFF4DF"/>
          </a:solidFill>
          <a:ln w="9525">
            <a:solidFill>
              <a:srgbClr val="B8720A"/>
            </a:solidFill>
            <a:prstDash val="solid"/>
          </a:ln>
        </p:spPr>
      </p:sp>
      <p:sp>
        <p:nvSpPr>
          <p:cNvPr id="8" name="Shape 6"/>
          <p:cNvSpPr/>
          <p:nvPr/>
        </p:nvSpPr>
        <p:spPr>
          <a:xfrm>
            <a:off x="576072" y="1161288"/>
            <a:ext cx="274320" cy="274320"/>
          </a:xfrm>
          <a:prstGeom prst="roundRect">
            <a:avLst>
              <a:gd name="adj" fmla="val 16667"/>
            </a:avLst>
          </a:prstGeom>
          <a:solidFill>
            <a:srgbClr val="B8720A"/>
          </a:solidFill>
          <a:ln w="12700">
            <a:solidFill>
              <a:srgbClr val="B8720A"/>
            </a:solidFill>
            <a:prstDash val="solid"/>
          </a:ln>
        </p:spPr>
      </p:sp>
      <p:sp>
        <p:nvSpPr>
          <p:cNvPr id="9" name="Text 7"/>
          <p:cNvSpPr txBox="1"/>
          <p:nvPr/>
        </p:nvSpPr>
        <p:spPr>
          <a:xfrm>
            <a:off x="576072" y="1161288"/>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A</a:t>
            </a:r>
            <a:endParaRPr lang="en-US" sz="650" dirty="0"/>
          </a:p>
        </p:txBody>
      </p:sp>
      <p:sp>
        <p:nvSpPr>
          <p:cNvPr id="10" name="Text 8"/>
          <p:cNvSpPr txBox="1"/>
          <p:nvPr/>
        </p:nvSpPr>
        <p:spPr>
          <a:xfrm>
            <a:off x="960120" y="1143000"/>
            <a:ext cx="2011680" cy="310896"/>
          </a:xfrm>
          <a:prstGeom prst="rect">
            <a:avLst/>
          </a:prstGeom>
          <a:noFill/>
          <a:ln/>
        </p:spPr>
        <p:txBody>
          <a:bodyPr wrap="square" lIns="0" tIns="0" rIns="0" bIns="0" rtlCol="0" anchor="ctr"/>
          <a:lstStyle/>
          <a:p>
            <a:pPr indent="0" marL="0">
              <a:buNone/>
            </a:pPr>
            <a:r>
              <a:rPr lang="en-US" sz="1100" b="1" dirty="0">
                <a:solidFill>
                  <a:srgbClr val="B8720A"/>
                </a:solidFill>
                <a:latin typeface="Aptos" pitchFamily="34" charset="0"/>
                <a:ea typeface="Aptos" pitchFamily="34" charset="-122"/>
                <a:cs typeface="Aptos" pitchFamily="34" charset="-120"/>
              </a:rPr>
              <a:t>Repeat cancellers</a:t>
            </a:r>
            <a:endParaRPr lang="en-US" sz="1100" dirty="0"/>
          </a:p>
        </p:txBody>
      </p:sp>
      <p:sp>
        <p:nvSpPr>
          <p:cNvPr id="11" name="Text 9"/>
          <p:cNvSpPr txBox="1"/>
          <p:nvPr/>
        </p:nvSpPr>
        <p:spPr>
          <a:xfrm>
            <a:off x="576072" y="1508760"/>
            <a:ext cx="2368296" cy="68580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Customers profile shows % cancelled and count. WATCH at 3 in 30 days, RESTRICTED at 5. Restricted buyers keep the hold-window right; support gets a flag on the request and the Fraud SOP decides on further orders.</a:t>
            </a:r>
            <a:endParaRPr lang="en-US" sz="780" dirty="0"/>
          </a:p>
        </p:txBody>
      </p:sp>
      <p:sp>
        <p:nvSpPr>
          <p:cNvPr id="12" name="Shape 10"/>
          <p:cNvSpPr/>
          <p:nvPr/>
        </p:nvSpPr>
        <p:spPr>
          <a:xfrm>
            <a:off x="576072" y="2286000"/>
            <a:ext cx="2368296" cy="292608"/>
          </a:xfrm>
          <a:prstGeom prst="roundRect">
            <a:avLst>
              <a:gd name="adj" fmla="val 15625"/>
            </a:avLst>
          </a:prstGeom>
          <a:solidFill>
            <a:srgbClr val="FFFFFF"/>
          </a:solidFill>
          <a:ln w="9525">
            <a:solidFill>
              <a:srgbClr val="B8720A"/>
            </a:solidFill>
            <a:prstDash val="solid"/>
          </a:ln>
        </p:spPr>
      </p:sp>
      <p:sp>
        <p:nvSpPr>
          <p:cNvPr id="13" name="Text 11"/>
          <p:cNvSpPr txBox="1"/>
          <p:nvPr/>
        </p:nvSpPr>
        <p:spPr>
          <a:xfrm>
            <a:off x="576072" y="2286000"/>
            <a:ext cx="2368296" cy="292608"/>
          </a:xfrm>
          <a:prstGeom prst="rect">
            <a:avLst/>
          </a:prstGeom>
          <a:noFill/>
          <a:ln/>
        </p:spPr>
        <p:txBody>
          <a:bodyPr wrap="square" lIns="0" tIns="0" rIns="0" bIns="0" rtlCol="0" anchor="ctr"/>
          <a:lstStyle/>
          <a:p>
            <a:pPr algn="ctr" indent="0" marL="0">
              <a:buNone/>
            </a:pPr>
            <a:r>
              <a:rPr lang="en-US" sz="750" b="1" dirty="0">
                <a:solidFill>
                  <a:srgbClr val="B8720A"/>
                </a:solidFill>
                <a:latin typeface="Aptos" pitchFamily="34" charset="0"/>
                <a:ea typeface="Aptos" pitchFamily="34" charset="-122"/>
                <a:cs typeface="Aptos" pitchFamily="34" charset="-120"/>
              </a:rPr>
              <a:t>Flag, never punish silently</a:t>
            </a:r>
            <a:endParaRPr lang="en-US" sz="750" dirty="0"/>
          </a:p>
        </p:txBody>
      </p:sp>
      <p:sp>
        <p:nvSpPr>
          <p:cNvPr id="14" name="Shape 12"/>
          <p:cNvSpPr/>
          <p:nvPr/>
        </p:nvSpPr>
        <p:spPr>
          <a:xfrm>
            <a:off x="3218688" y="1005840"/>
            <a:ext cx="2697480" cy="1737360"/>
          </a:xfrm>
          <a:prstGeom prst="roundRect">
            <a:avLst>
              <a:gd name="adj" fmla="val 3158"/>
            </a:avLst>
          </a:prstGeom>
          <a:solidFill>
            <a:srgbClr val="E6F0F8"/>
          </a:solidFill>
          <a:ln w="9525">
            <a:solidFill>
              <a:srgbClr val="0A5C8A"/>
            </a:solidFill>
            <a:prstDash val="solid"/>
          </a:ln>
        </p:spPr>
      </p:sp>
      <p:sp>
        <p:nvSpPr>
          <p:cNvPr id="15" name="Shape 13"/>
          <p:cNvSpPr/>
          <p:nvPr/>
        </p:nvSpPr>
        <p:spPr>
          <a:xfrm>
            <a:off x="3383280" y="1161288"/>
            <a:ext cx="274320" cy="274320"/>
          </a:xfrm>
          <a:prstGeom prst="roundRect">
            <a:avLst>
              <a:gd name="adj" fmla="val 16667"/>
            </a:avLst>
          </a:prstGeom>
          <a:solidFill>
            <a:srgbClr val="0A5C8A"/>
          </a:solidFill>
          <a:ln w="12700">
            <a:solidFill>
              <a:srgbClr val="0A5C8A"/>
            </a:solidFill>
            <a:prstDash val="solid"/>
          </a:ln>
        </p:spPr>
      </p:sp>
      <p:sp>
        <p:nvSpPr>
          <p:cNvPr id="16" name="Text 14"/>
          <p:cNvSpPr txBox="1"/>
          <p:nvPr/>
        </p:nvSpPr>
        <p:spPr>
          <a:xfrm>
            <a:off x="3383280" y="1161288"/>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B</a:t>
            </a:r>
            <a:endParaRPr lang="en-US" sz="650" dirty="0"/>
          </a:p>
        </p:txBody>
      </p:sp>
      <p:sp>
        <p:nvSpPr>
          <p:cNvPr id="17" name="Text 15"/>
          <p:cNvSpPr txBox="1"/>
          <p:nvPr/>
        </p:nvSpPr>
        <p:spPr>
          <a:xfrm>
            <a:off x="3767328" y="1143000"/>
            <a:ext cx="2011680" cy="310896"/>
          </a:xfrm>
          <a:prstGeom prst="rect">
            <a:avLst/>
          </a:prstGeom>
          <a:noFill/>
          <a:ln/>
        </p:spPr>
        <p:txBody>
          <a:bodyPr wrap="square" lIns="0" tIns="0" rIns="0" bIns="0" rtlCol="0" anchor="ctr"/>
          <a:lstStyle/>
          <a:p>
            <a:pPr indent="0" marL="0">
              <a:buNone/>
            </a:pPr>
            <a:r>
              <a:rPr lang="en-US" sz="1100" b="1" dirty="0">
                <a:solidFill>
                  <a:srgbClr val="0A5C8A"/>
                </a:solidFill>
                <a:latin typeface="Aptos" pitchFamily="34" charset="0"/>
                <a:ea typeface="Aptos" pitchFamily="34" charset="-122"/>
                <a:cs typeface="Aptos" pitchFamily="34" charset="-120"/>
              </a:rPr>
              <a:t>Race with the worker</a:t>
            </a:r>
            <a:endParaRPr lang="en-US" sz="1100" dirty="0"/>
          </a:p>
        </p:txBody>
      </p:sp>
      <p:sp>
        <p:nvSpPr>
          <p:cNvPr id="18" name="Text 16"/>
          <p:cNvSpPr txBox="1"/>
          <p:nvPr/>
        </p:nvSpPr>
        <p:spPr>
          <a:xfrm>
            <a:off x="3383280" y="1508760"/>
            <a:ext cx="2368296" cy="68580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Customer clicks cancel while the hold expires. The cancel action locks the order row, re-reads state, and only refunds if the worker has not passed PAY_BALANCE. Otherwise it falls through to the CJ-state rules.</a:t>
            </a:r>
            <a:endParaRPr lang="en-US" sz="780" dirty="0"/>
          </a:p>
        </p:txBody>
      </p:sp>
      <p:sp>
        <p:nvSpPr>
          <p:cNvPr id="19" name="Shape 17"/>
          <p:cNvSpPr/>
          <p:nvPr/>
        </p:nvSpPr>
        <p:spPr>
          <a:xfrm>
            <a:off x="3383280" y="2286000"/>
            <a:ext cx="2368296" cy="292608"/>
          </a:xfrm>
          <a:prstGeom prst="roundRect">
            <a:avLst>
              <a:gd name="adj" fmla="val 15625"/>
            </a:avLst>
          </a:prstGeom>
          <a:solidFill>
            <a:srgbClr val="FFFFFF"/>
          </a:solidFill>
          <a:ln w="9525">
            <a:solidFill>
              <a:srgbClr val="0A5C8A"/>
            </a:solidFill>
            <a:prstDash val="solid"/>
          </a:ln>
        </p:spPr>
      </p:sp>
      <p:sp>
        <p:nvSpPr>
          <p:cNvPr id="20" name="Text 18"/>
          <p:cNvSpPr txBox="1"/>
          <p:nvPr/>
        </p:nvSpPr>
        <p:spPr>
          <a:xfrm>
            <a:off x="3383280" y="2286000"/>
            <a:ext cx="2368296" cy="292608"/>
          </a:xfrm>
          <a:prstGeom prst="rect">
            <a:avLst/>
          </a:prstGeom>
          <a:noFill/>
          <a:ln/>
        </p:spPr>
        <p:txBody>
          <a:bodyPr wrap="square" lIns="0" tIns="0" rIns="0" bIns="0" rtlCol="0" anchor="ctr"/>
          <a:lstStyle/>
          <a:p>
            <a:pPr algn="ctr" indent="0" marL="0">
              <a:buNone/>
            </a:pPr>
            <a:r>
              <a:rPr lang="en-US" sz="750" b="1" dirty="0">
                <a:solidFill>
                  <a:srgbClr val="0A5C8A"/>
                </a:solidFill>
                <a:latin typeface="Aptos" pitchFamily="34" charset="0"/>
                <a:ea typeface="Aptos" pitchFamily="34" charset="-122"/>
                <a:cs typeface="Aptos" pitchFamily="34" charset="-120"/>
              </a:rPr>
              <a:t>No double refund, no orphan CJ order</a:t>
            </a:r>
            <a:endParaRPr lang="en-US" sz="750" dirty="0"/>
          </a:p>
        </p:txBody>
      </p:sp>
      <p:sp>
        <p:nvSpPr>
          <p:cNvPr id="21" name="Shape 19"/>
          <p:cNvSpPr/>
          <p:nvPr/>
        </p:nvSpPr>
        <p:spPr>
          <a:xfrm>
            <a:off x="6025896" y="1005840"/>
            <a:ext cx="2697480" cy="1737360"/>
          </a:xfrm>
          <a:prstGeom prst="roundRect">
            <a:avLst>
              <a:gd name="adj" fmla="val 3158"/>
            </a:avLst>
          </a:prstGeom>
          <a:solidFill>
            <a:srgbClr val="E6F0F8"/>
          </a:solidFill>
          <a:ln w="9525">
            <a:solidFill>
              <a:srgbClr val="0A5C8A"/>
            </a:solidFill>
            <a:prstDash val="solid"/>
          </a:ln>
        </p:spPr>
      </p:sp>
      <p:sp>
        <p:nvSpPr>
          <p:cNvPr id="22" name="Shape 20"/>
          <p:cNvSpPr/>
          <p:nvPr/>
        </p:nvSpPr>
        <p:spPr>
          <a:xfrm>
            <a:off x="6190488" y="1161288"/>
            <a:ext cx="274320" cy="274320"/>
          </a:xfrm>
          <a:prstGeom prst="roundRect">
            <a:avLst>
              <a:gd name="adj" fmla="val 16667"/>
            </a:avLst>
          </a:prstGeom>
          <a:solidFill>
            <a:srgbClr val="0A5C8A"/>
          </a:solidFill>
          <a:ln w="12700">
            <a:solidFill>
              <a:srgbClr val="0A5C8A"/>
            </a:solidFill>
            <a:prstDash val="solid"/>
          </a:ln>
        </p:spPr>
      </p:sp>
      <p:sp>
        <p:nvSpPr>
          <p:cNvPr id="23" name="Text 21"/>
          <p:cNvSpPr txBox="1"/>
          <p:nvPr/>
        </p:nvSpPr>
        <p:spPr>
          <a:xfrm>
            <a:off x="6190488" y="1161288"/>
            <a:ext cx="274320" cy="274320"/>
          </a:xfrm>
          <a:prstGeom prst="rect">
            <a:avLst/>
          </a:prstGeom>
          <a:noFill/>
          <a:ln/>
        </p:spPr>
        <p:txBody>
          <a:bodyPr wrap="square" lIns="0" tIns="0" rIns="0" bIns="0" rtlCol="0" anchor="ctr"/>
          <a:lstStyle/>
          <a:p>
            <a:pPr algn="ctr" indent="0" marL="0">
              <a:buNone/>
            </a:pPr>
            <a:r>
              <a:rPr lang="en-US" sz="650" b="1" dirty="0">
                <a:solidFill>
                  <a:srgbClr val="FFFFFF"/>
                </a:solidFill>
                <a:latin typeface="Aptos" pitchFamily="34" charset="0"/>
                <a:ea typeface="Aptos" pitchFamily="34" charset="-122"/>
                <a:cs typeface="Aptos" pitchFamily="34" charset="-120"/>
              </a:rPr>
              <a:t>C</a:t>
            </a:r>
            <a:endParaRPr lang="en-US" sz="650" dirty="0"/>
          </a:p>
        </p:txBody>
      </p:sp>
      <p:sp>
        <p:nvSpPr>
          <p:cNvPr id="24" name="Text 22"/>
          <p:cNvSpPr txBox="1"/>
          <p:nvPr/>
        </p:nvSpPr>
        <p:spPr>
          <a:xfrm>
            <a:off x="6574536" y="1143000"/>
            <a:ext cx="2011680" cy="310896"/>
          </a:xfrm>
          <a:prstGeom prst="rect">
            <a:avLst/>
          </a:prstGeom>
          <a:noFill/>
          <a:ln/>
        </p:spPr>
        <p:txBody>
          <a:bodyPr wrap="square" lIns="0" tIns="0" rIns="0" bIns="0" rtlCol="0" anchor="ctr"/>
          <a:lstStyle/>
          <a:p>
            <a:pPr indent="0" marL="0">
              <a:buNone/>
            </a:pPr>
            <a:r>
              <a:rPr lang="en-US" sz="1100" b="1" dirty="0">
                <a:solidFill>
                  <a:srgbClr val="0A5C8A"/>
                </a:solidFill>
                <a:latin typeface="Aptos" pitchFamily="34" charset="0"/>
                <a:ea typeface="Aptos" pitchFamily="34" charset="-122"/>
                <a:cs typeface="Aptos" pitchFamily="34" charset="-120"/>
              </a:rPr>
              <a:t>CJ ships after "cancel"</a:t>
            </a:r>
            <a:endParaRPr lang="en-US" sz="1100" dirty="0"/>
          </a:p>
        </p:txBody>
      </p:sp>
      <p:sp>
        <p:nvSpPr>
          <p:cNvPr id="25" name="Text 23"/>
          <p:cNvSpPr txBox="1"/>
          <p:nvPr/>
        </p:nvSpPr>
        <p:spPr>
          <a:xfrm>
            <a:off x="6190488" y="1508760"/>
            <a:ext cx="2368296" cy="685800"/>
          </a:xfrm>
          <a:prstGeom prst="rect">
            <a:avLst/>
          </a:prstGeom>
          <a:noFill/>
          <a:ln/>
        </p:spPr>
        <p:txBody>
          <a:bodyPr wrap="square" lIns="0" tIns="0" rIns="0" bIns="0" rtlCol="0" anchor="t"/>
          <a:lstStyle/>
          <a:p>
            <a:pPr indent="0" marL="0">
              <a:buNone/>
            </a:pPr>
            <a:r>
              <a:rPr lang="en-US" sz="780" dirty="0">
                <a:solidFill>
                  <a:srgbClr val="5B6472"/>
                </a:solidFill>
                <a:latin typeface="Aptos" pitchFamily="34" charset="0"/>
                <a:ea typeface="Aptos" pitchFamily="34" charset="-122"/>
                <a:cs typeface="Aptos" pitchFamily="34" charset="-120"/>
              </a:rPr>
              <a:t>CJ accepted the cancel request but the parcel still ships. Convert to return-on-arrival, prepaid label if Sals3 pays; the customer keeps the refund already issued.</a:t>
            </a:r>
            <a:endParaRPr lang="en-US" sz="780" dirty="0"/>
          </a:p>
        </p:txBody>
      </p:sp>
      <p:sp>
        <p:nvSpPr>
          <p:cNvPr id="26" name="Shape 24"/>
          <p:cNvSpPr/>
          <p:nvPr/>
        </p:nvSpPr>
        <p:spPr>
          <a:xfrm>
            <a:off x="6190488" y="2286000"/>
            <a:ext cx="2368296" cy="292608"/>
          </a:xfrm>
          <a:prstGeom prst="roundRect">
            <a:avLst>
              <a:gd name="adj" fmla="val 15625"/>
            </a:avLst>
          </a:prstGeom>
          <a:solidFill>
            <a:srgbClr val="FFFFFF"/>
          </a:solidFill>
          <a:ln w="9525">
            <a:solidFill>
              <a:srgbClr val="0A5C8A"/>
            </a:solidFill>
            <a:prstDash val="solid"/>
          </a:ln>
        </p:spPr>
      </p:sp>
      <p:sp>
        <p:nvSpPr>
          <p:cNvPr id="27" name="Text 25"/>
          <p:cNvSpPr txBox="1"/>
          <p:nvPr/>
        </p:nvSpPr>
        <p:spPr>
          <a:xfrm>
            <a:off x="6190488" y="2286000"/>
            <a:ext cx="2368296" cy="292608"/>
          </a:xfrm>
          <a:prstGeom prst="rect">
            <a:avLst/>
          </a:prstGeom>
          <a:noFill/>
          <a:ln/>
        </p:spPr>
        <p:txBody>
          <a:bodyPr wrap="square" lIns="0" tIns="0" rIns="0" bIns="0" rtlCol="0" anchor="ctr"/>
          <a:lstStyle/>
          <a:p>
            <a:pPr algn="ctr" indent="0" marL="0">
              <a:buNone/>
            </a:pPr>
            <a:r>
              <a:rPr lang="en-US" sz="750" b="1" dirty="0">
                <a:solidFill>
                  <a:srgbClr val="0A5C8A"/>
                </a:solidFill>
                <a:latin typeface="Aptos" pitchFamily="34" charset="0"/>
                <a:ea typeface="Aptos" pitchFamily="34" charset="-122"/>
                <a:cs typeface="Aptos" pitchFamily="34" charset="-120"/>
              </a:rPr>
              <a:t>Customer is never charged twice</a:t>
            </a:r>
            <a:endParaRPr lang="en-US" sz="750" dirty="0"/>
          </a:p>
        </p:txBody>
      </p:sp>
      <p:sp>
        <p:nvSpPr>
          <p:cNvPr id="28" name="Text 26"/>
          <p:cNvSpPr txBox="1"/>
          <p:nvPr/>
        </p:nvSpPr>
        <p:spPr>
          <a:xfrm>
            <a:off x="484632" y="2926080"/>
            <a:ext cx="3657600" cy="274320"/>
          </a:xfrm>
          <a:prstGeom prst="rect">
            <a:avLst/>
          </a:prstGeom>
          <a:noFill/>
          <a:ln/>
        </p:spPr>
        <p:txBody>
          <a:bodyPr wrap="square" lIns="0" tIns="0" rIns="0" bIns="0" rtlCol="0" anchor="ctr"/>
          <a:lstStyle/>
          <a:p>
            <a:pPr indent="0" marL="0">
              <a:buNone/>
            </a:pPr>
            <a:r>
              <a:rPr lang="en-US" sz="1100" b="1" dirty="0">
                <a:solidFill>
                  <a:srgbClr val="C8283C"/>
                </a:solidFill>
                <a:latin typeface="Aptos" pitchFamily="34" charset="0"/>
                <a:ea typeface="Aptos" pitchFamily="34" charset="-122"/>
                <a:cs typeface="Aptos" pitchFamily="34" charset="-120"/>
              </a:rPr>
              <a:t>Support may not</a:t>
            </a:r>
            <a:endParaRPr lang="en-US" sz="1100" dirty="0"/>
          </a:p>
        </p:txBody>
      </p:sp>
      <p:sp>
        <p:nvSpPr>
          <p:cNvPr id="29" name="Text 27"/>
          <p:cNvSpPr txBox="1"/>
          <p:nvPr/>
        </p:nvSpPr>
        <p:spPr>
          <a:xfrm>
            <a:off x="484632" y="3200400"/>
            <a:ext cx="3931920" cy="128016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Decline a cancel in states 01–03 for any reason.</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Ask the customer to "wait for CJ" before refunding in states 01–03 or late supply.</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Issue store credit instead of a card refund.</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Change or delete a cancellation_requests row.</a:t>
            </a:r>
            <a:endParaRPr lang="en-US" sz="800" dirty="0"/>
          </a:p>
        </p:txBody>
      </p:sp>
      <p:sp>
        <p:nvSpPr>
          <p:cNvPr id="30" name="Text 28"/>
          <p:cNvSpPr txBox="1"/>
          <p:nvPr/>
        </p:nvSpPr>
        <p:spPr>
          <a:xfrm>
            <a:off x="4663440" y="2926080"/>
            <a:ext cx="3657600" cy="274320"/>
          </a:xfrm>
          <a:prstGeom prst="rect">
            <a:avLst/>
          </a:prstGeom>
          <a:noFill/>
          <a:ln/>
        </p:spPr>
        <p:txBody>
          <a:bodyPr wrap="square" lIns="0" tIns="0" rIns="0" bIns="0" rtlCol="0" anchor="ctr"/>
          <a:lstStyle/>
          <a:p>
            <a:pPr indent="0" marL="0">
              <a:buNone/>
            </a:pPr>
            <a:r>
              <a:rPr lang="en-US" sz="1100" b="1" dirty="0">
                <a:solidFill>
                  <a:srgbClr val="0F8B6C"/>
                </a:solidFill>
                <a:latin typeface="Aptos" pitchFamily="34" charset="0"/>
                <a:ea typeface="Aptos" pitchFamily="34" charset="-122"/>
                <a:cs typeface="Aptos" pitchFamily="34" charset="-120"/>
              </a:rPr>
              <a:t>Support must</a:t>
            </a:r>
            <a:endParaRPr lang="en-US" sz="1100" dirty="0"/>
          </a:p>
        </p:txBody>
      </p:sp>
      <p:sp>
        <p:nvSpPr>
          <p:cNvPr id="31" name="Text 29"/>
          <p:cNvSpPr txBox="1"/>
          <p:nvPr/>
        </p:nvSpPr>
        <p:spPr>
          <a:xfrm>
            <a:off x="4663440" y="3200400"/>
            <a:ext cx="3931920" cy="128016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Answer a paid-unshipped request within 2 business days, with a yes or a return offer.</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Record the CJ reference and Stripe refund id on every closed request.</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Check the CJ wallet credit landed within 3 business days.</a:t>
            </a:r>
            <a:endParaRPr lang="en-US" sz="800" dirty="0"/>
          </a:p>
          <a:p>
            <a:pPr marL="127000" indent="-127000">
              <a:spcAft>
                <a:spcPts val="400"/>
              </a:spcAft>
              <a:buSzPct val="100000"/>
              <a:buChar char="•"/>
            </a:pPr>
            <a:r>
              <a:rPr lang="en-US" sz="800" dirty="0">
                <a:solidFill>
                  <a:srgbClr val="1E2A44"/>
                </a:solidFill>
                <a:latin typeface="Aptos" pitchFamily="34" charset="0"/>
                <a:ea typeface="Aptos" pitchFamily="34" charset="-122"/>
                <a:cs typeface="Aptos" pitchFamily="34" charset="-120"/>
              </a:rPr>
              <a:t>Read the Customers profile before deciding anything discretionary.</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DECISIONS</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The five open items, with a recommendation for each</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15</a:t>
            </a:r>
            <a:endParaRPr lang="en-US" sz="6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274320"/>
                <a:gridCol w="1737360"/>
                <a:gridCol w="2651760"/>
                <a:gridCol w="3657600"/>
              </a:tblGrid>
              <a:tr h="429768">
                <a:tc>
                  <a:txBody>
                    <a:bodyPr/>
                    <a:lstStyle/>
                    <a:p>
                      <a:pPr indent="0" marL="0">
                        <a:buNone/>
                      </a:pPr>
                      <a:r>
                        <a:rPr lang="en-US" sz="660" b="1" dirty="0">
                          <a:solidFill>
                            <a:srgbClr val="FFFFFF"/>
                          </a:solidFill>
                          <a:latin typeface="Aptos" pitchFamily="34" charset="0"/>
                          <a:ea typeface="Aptos" pitchFamily="34" charset="-122"/>
                          <a:cs typeface="Aptos" pitchFamily="34" charset="-120"/>
                        </a:rPr>
                        <a:t>#</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60" b="1" dirty="0">
                          <a:solidFill>
                            <a:srgbClr val="FFFFFF"/>
                          </a:solidFill>
                          <a:latin typeface="Aptos" pitchFamily="34" charset="0"/>
                          <a:ea typeface="Aptos" pitchFamily="34" charset="-122"/>
                          <a:cs typeface="Aptos" pitchFamily="34" charset="-120"/>
                        </a:rPr>
                        <a:t>Decision</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60" b="1" dirty="0">
                          <a:solidFill>
                            <a:srgbClr val="FFFFFF"/>
                          </a:solidFill>
                          <a:latin typeface="Aptos" pitchFamily="34" charset="0"/>
                          <a:ea typeface="Aptos" pitchFamily="34" charset="-122"/>
                          <a:cs typeface="Aptos" pitchFamily="34" charset="-120"/>
                        </a:rPr>
                        <a:t>Recommendation</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c>
                  <a:txBody>
                    <a:bodyPr/>
                    <a:lstStyle/>
                    <a:p>
                      <a:pPr indent="0" marL="0">
                        <a:buNone/>
                      </a:pPr>
                      <a:r>
                        <a:rPr lang="en-US" sz="660" b="1" dirty="0">
                          <a:solidFill>
                            <a:srgbClr val="FFFFFF"/>
                          </a:solidFill>
                          <a:latin typeface="Aptos" pitchFamily="34" charset="0"/>
                          <a:ea typeface="Aptos" pitchFamily="34" charset="-122"/>
                          <a:cs typeface="Aptos" pitchFamily="34" charset="-120"/>
                        </a:rPr>
                        <a:t>Why (evidence)</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13224A"/>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1</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Hold window length</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60 minutes, configurable per channel</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Most regret cancels happen in the first hour. CJ needs 24–48 h to generate tracking, so an hour costs no delivery time. Longer adds little because the CJ dispute path covers it anyway.</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2</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Stripe: capture now, or authorise now and capture after the hold?</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Capture now (phase 1). Revisit auth-and-capture when hold-window refunds cost more than ~AUD 50 a month in lost Stripe fees</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Stripe keeps its fee on refunds (~1.7% + 30c). At current volume that is cents per month. Auth-only adds capture failures and a worker code path for no real saving yet.</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3</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Late-supply day count</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7 calendar days from payment without a CJ SHIPPED event</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CJ promises tracking within 24–48 h; 7 days is three times that with weekend slack. A dispute at PROCESSING needs no evidence, so Sals3 recovers the wallet payment. Beats the ACL / NZ CGA "reasonable time" test.</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4</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Paid-unshipped path at CJ</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Automate: the worker opens the dispute by API (reason Unfulfilled Order Cancellation, refund to wallet), polls getDisputeDetail, refunds Stripe on finallyDeal = 1</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Documented in CJ policy §5 and the API. No evidence required at Pending / Processing. Sals3 record 5 of 5 refunded at 100%. No dashboard work, no account-manager call.</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5</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Who approves state 04?</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Nobody. PENDING: refund the customer immediately, the dispute recovers the wallet. PROCESSING: refund when CJ confirms; support touches it only on a rejection (finallyDeal = 3)</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Removes the 2-day SLA and the human queue. Risk is bounded: a rejected dispute at PROCESSING means the parcel ships and becomes a normal return.</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6</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Abuse thresholds</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WATCH 3 / RESTRICTED 5 cancels in 30 days; review after 90 days of Customers data</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Placeholders. The Customers list already shows % cancelled, so the flag costs nothing to add.</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r h="429768">
                <a:tc>
                  <a:txBody>
                    <a:bodyPr/>
                    <a:lstStyle/>
                    <a:p>
                      <a:pPr indent="0" marL="0">
                        <a:buNone/>
                      </a:pPr>
                      <a:r>
                        <a:rPr lang="en-US" sz="660" dirty="0">
                          <a:solidFill>
                            <a:srgbClr val="1E2A44"/>
                          </a:solidFill>
                          <a:latin typeface="Aptos" pitchFamily="34" charset="0"/>
                          <a:ea typeface="Aptos" pitchFamily="34" charset="-122"/>
                          <a:cs typeface="Aptos" pitchFamily="34" charset="-120"/>
                        </a:rPr>
                        <a:t>7</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AWAITING_SUPPLIER_FUNDS &gt; 2 business days</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Escalate to owner; do not auto-cancel</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c>
                  <a:txBody>
                    <a:bodyPr/>
                    <a:lstStyle/>
                    <a:p>
                      <a:pPr indent="0" marL="0">
                        <a:buNone/>
                      </a:pPr>
                      <a:r>
                        <a:rPr lang="en-US" sz="660" dirty="0">
                          <a:solidFill>
                            <a:srgbClr val="1E2A44"/>
                          </a:solidFill>
                          <a:latin typeface="Aptos" pitchFamily="34" charset="0"/>
                          <a:ea typeface="Aptos" pitchFamily="34" charset="-122"/>
                          <a:cs typeface="Aptos" pitchFamily="34" charset="-120"/>
                        </a:rPr>
                        <a:t>Customer sees "Processing"; if it reaches day 7 the late-supply rule refunds them anyway.</a:t>
                      </a:r>
                      <a:endParaRPr lang="en-US" sz="660" dirty="0">
                        <a:latin typeface="Aptos" charset="0"/>
                        <a:ea typeface="Aptos" charset="0"/>
                        <a:cs typeface="Aptos" charset="0"/>
                      </a:endParaRPr>
                    </a:p>
                  </a:txBody>
                  <a:tcPr marL="45720" marR="45720" marT="45720" marB="45720" anchor="ctr">
                    <a:lnL w="7620" cap="flat" cmpd="sng" algn="ctr">
                      <a:solidFill>
                        <a:srgbClr val="D7DCE2"/>
                      </a:solidFill>
                      <a:prstDash val="solid"/>
                      <a:round/>
                      <a:headEnd type="none" w="med" len="med"/>
                      <a:tailEnd type="none" w="med" len="med"/>
                    </a:lnL>
                    <a:lnR w="7620" cap="flat" cmpd="sng" algn="ctr">
                      <a:solidFill>
                        <a:srgbClr val="D7DCE2"/>
                      </a:solidFill>
                      <a:prstDash val="solid"/>
                      <a:round/>
                      <a:headEnd type="none" w="med" len="med"/>
                      <a:tailEnd type="none" w="med" len="med"/>
                    </a:lnR>
                    <a:lnT w="7620" cap="flat" cmpd="sng" algn="ctr">
                      <a:solidFill>
                        <a:srgbClr val="D7DCE2"/>
                      </a:solidFill>
                      <a:prstDash val="solid"/>
                      <a:round/>
                      <a:headEnd type="none" w="med" len="med"/>
                      <a:tailEnd type="none" w="med" len="med"/>
                    </a:lnT>
                    <a:lnB w="7620" cap="flat" cmpd="sng" algn="ctr">
                      <a:solidFill>
                        <a:srgbClr val="D7DCE2"/>
                      </a:solidFill>
                      <a:prstDash val="solid"/>
                      <a:round/>
                      <a:headEnd type="none" w="med" len="med"/>
                      <a:tailEnd type="none" w="med" len="med"/>
                    </a:lnB>
                    <a:solidFill>
                      <a:srgbClr val="FFFFFF"/>
                    </a:solidFill>
                  </a:tcPr>
                </a:tc>
              </a:tr>
            </a:tbl>
          </a:graphicData>
        </a:graphic>
      </p:graphicFrame>
      <p:sp>
        <p:nvSpPr>
          <p:cNvPr id="8" name="Shape 5"/>
          <p:cNvSpPr/>
          <p:nvPr/>
        </p:nvSpPr>
        <p:spPr>
          <a:xfrm>
            <a:off x="411480" y="4526280"/>
            <a:ext cx="8321040" cy="274320"/>
          </a:xfrm>
          <a:prstGeom prst="roundRect">
            <a:avLst>
              <a:gd name="adj" fmla="val 20000"/>
            </a:avLst>
          </a:prstGeom>
          <a:solidFill>
            <a:srgbClr val="E3F6F0"/>
          </a:solidFill>
          <a:ln w="9525">
            <a:solidFill>
              <a:srgbClr val="0F8B6C"/>
            </a:solidFill>
            <a:prstDash val="solid"/>
          </a:ln>
        </p:spPr>
      </p:sp>
      <p:sp>
        <p:nvSpPr>
          <p:cNvPr id="9" name="Text 6"/>
          <p:cNvSpPr txBox="1"/>
          <p:nvPr/>
        </p:nvSpPr>
        <p:spPr>
          <a:xfrm>
            <a:off x="640080" y="4526280"/>
            <a:ext cx="1005840" cy="274320"/>
          </a:xfrm>
          <a:prstGeom prst="rect">
            <a:avLst/>
          </a:prstGeom>
          <a:noFill/>
          <a:ln/>
        </p:spPr>
        <p:txBody>
          <a:bodyPr wrap="square" lIns="0" tIns="0" rIns="0" bIns="0" rtlCol="0" anchor="ctr"/>
          <a:lstStyle/>
          <a:p>
            <a:pPr indent="0" marL="0">
              <a:buNone/>
            </a:pPr>
            <a:r>
              <a:rPr lang="en-US" sz="650" b="1" dirty="0">
                <a:solidFill>
                  <a:srgbClr val="0F8B6C"/>
                </a:solidFill>
                <a:latin typeface="Aptos" pitchFamily="34" charset="0"/>
                <a:ea typeface="Aptos" pitchFamily="34" charset="-122"/>
                <a:cs typeface="Aptos" pitchFamily="34" charset="-120"/>
              </a:rPr>
              <a:t>IF AGREED</a:t>
            </a:r>
            <a:endParaRPr lang="en-US" sz="650" dirty="0"/>
          </a:p>
        </p:txBody>
      </p:sp>
      <p:sp>
        <p:nvSpPr>
          <p:cNvPr id="10" name="Text 7"/>
          <p:cNvSpPr txBox="1"/>
          <p:nvPr/>
        </p:nvSpPr>
        <p:spPr>
          <a:xfrm>
            <a:off x="1600200" y="4526280"/>
            <a:ext cx="6949440" cy="274320"/>
          </a:xfrm>
          <a:prstGeom prst="rect">
            <a:avLst/>
          </a:prstGeom>
          <a:noFill/>
          <a:ln/>
        </p:spPr>
        <p:txBody>
          <a:bodyPr wrap="square" lIns="0" tIns="0" rIns="0" bIns="0" rtlCol="0" anchor="ctr"/>
          <a:lstStyle/>
          <a:p>
            <a:pPr indent="0" marL="0">
              <a:buNone/>
            </a:pPr>
            <a:r>
              <a:rPr lang="en-US" sz="850" b="1" dirty="0">
                <a:solidFill>
                  <a:srgbClr val="0F8B6C"/>
                </a:solidFill>
                <a:latin typeface="Aptos" pitchFamily="34" charset="0"/>
                <a:ea typeface="Aptos" pitchFamily="34" charset="-122"/>
                <a:cs typeface="Aptos" pitchFamily="34" charset="-120"/>
              </a:rPr>
              <a:t>This slide becomes the acceptance criteria for the Cancellation build in sals3-portal and the storefront.</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484632" y="274320"/>
            <a:ext cx="6400800" cy="182880"/>
          </a:xfrm>
          <a:prstGeom prst="rect">
            <a:avLst/>
          </a:prstGeom>
          <a:noFill/>
          <a:ln/>
        </p:spPr>
        <p:txBody>
          <a:bodyPr wrap="square" lIns="0" tIns="0" rIns="0" bIns="0" rtlCol="0" anchor="ctr"/>
          <a:lstStyle/>
          <a:p>
            <a:pPr indent="0" marL="0">
              <a:buNone/>
            </a:pPr>
            <a:r>
              <a:rPr lang="en-US" sz="700" b="1" dirty="0">
                <a:solidFill>
                  <a:srgbClr val="0F8B6C"/>
                </a:solidFill>
                <a:latin typeface="Aptos" pitchFamily="34" charset="0"/>
                <a:ea typeface="Aptos" pitchFamily="34" charset="-122"/>
                <a:cs typeface="Aptos" pitchFamily="34" charset="-120"/>
              </a:rPr>
              <a:t>SUMMARY</a:t>
            </a:r>
            <a:endParaRPr lang="en-US" sz="700" dirty="0"/>
          </a:p>
        </p:txBody>
      </p:sp>
      <p:sp>
        <p:nvSpPr>
          <p:cNvPr id="3" name="Text 1"/>
          <p:cNvSpPr txBox="1"/>
          <p:nvPr/>
        </p:nvSpPr>
        <p:spPr>
          <a:xfrm>
            <a:off x="8412480" y="274320"/>
            <a:ext cx="365760" cy="320040"/>
          </a:xfrm>
          <a:prstGeom prst="rect">
            <a:avLst/>
          </a:prstGeom>
          <a:noFill/>
          <a:ln/>
        </p:spPr>
        <p:txBody>
          <a:bodyPr wrap="square" lIns="0" tIns="0" rIns="0" bIns="0" rtlCol="0" anchor="ctr"/>
          <a:lstStyle/>
          <a:p>
            <a:pPr algn="ctr" indent="0" marL="0">
              <a:buNone/>
            </a:pPr>
            <a:r>
              <a:rPr lang="en-US" sz="1800" b="1" dirty="0">
                <a:solidFill>
                  <a:srgbClr val="0F8B6C"/>
                </a:solidFill>
                <a:latin typeface="Aptos Display" pitchFamily="34" charset="0"/>
                <a:ea typeface="Aptos Display" pitchFamily="34" charset="-122"/>
                <a:cs typeface="Aptos Display" pitchFamily="34" charset="-120"/>
              </a:rPr>
              <a:t>S</a:t>
            </a:r>
            <a:endParaRPr lang="en-US" sz="1800" dirty="0"/>
          </a:p>
        </p:txBody>
      </p:sp>
      <p:sp>
        <p:nvSpPr>
          <p:cNvPr id="4" name="Text 2"/>
          <p:cNvSpPr txBox="1"/>
          <p:nvPr/>
        </p:nvSpPr>
        <p:spPr>
          <a:xfrm>
            <a:off x="484632" y="457200"/>
            <a:ext cx="7863840" cy="457200"/>
          </a:xfrm>
          <a:prstGeom prst="rect">
            <a:avLst/>
          </a:prstGeom>
          <a:noFill/>
          <a:ln/>
        </p:spPr>
        <p:txBody>
          <a:bodyPr wrap="square" lIns="0" tIns="0" rIns="0" bIns="0" rtlCol="0" anchor="ctr"/>
          <a:lstStyle/>
          <a:p>
            <a:pPr indent="0" marL="0">
              <a:buNone/>
            </a:pPr>
            <a:r>
              <a:rPr lang="en-US" sz="2000" b="1" dirty="0">
                <a:solidFill>
                  <a:srgbClr val="13224A"/>
                </a:solidFill>
                <a:latin typeface="Aptos Display" pitchFamily="34" charset="0"/>
                <a:ea typeface="Aptos Display" pitchFamily="34" charset="-122"/>
                <a:cs typeface="Aptos Display" pitchFamily="34" charset="-120"/>
              </a:rPr>
              <a:t>v4 in one slide</a:t>
            </a:r>
            <a:endParaRPr lang="en-US" sz="2000" dirty="0"/>
          </a:p>
        </p:txBody>
      </p:sp>
      <p:sp>
        <p:nvSpPr>
          <p:cNvPr id="5" name="Text 3"/>
          <p:cNvSpPr txBox="1"/>
          <p:nvPr/>
        </p:nvSpPr>
        <p:spPr>
          <a:xfrm>
            <a:off x="484632" y="4846320"/>
            <a:ext cx="5486400" cy="182880"/>
          </a:xfrm>
          <a:prstGeom prst="rect">
            <a:avLst/>
          </a:prstGeom>
          <a:noFill/>
          <a:ln/>
        </p:spPr>
        <p:txBody>
          <a:bodyPr wrap="square" lIns="0" tIns="0" rIns="0" bIns="0" rtlCol="0" anchor="ctr"/>
          <a:lstStyle/>
          <a:p>
            <a:pPr indent="0" marL="0">
              <a:buNone/>
            </a:pPr>
            <a:r>
              <a:rPr lang="en-US" sz="650" dirty="0">
                <a:solidFill>
                  <a:srgbClr val="5B6472"/>
                </a:solidFill>
                <a:latin typeface="Aptos" pitchFamily="34" charset="0"/>
                <a:ea typeface="Aptos" pitchFamily="34" charset="-122"/>
                <a:cs typeface="Aptos" pitchFamily="34" charset="-120"/>
              </a:rPr>
              <a:t>Internal SOP draft v4.1 — not legal advice or final launch copy.</a:t>
            </a:r>
            <a:endParaRPr lang="en-US" sz="650" dirty="0"/>
          </a:p>
        </p:txBody>
      </p:sp>
      <p:sp>
        <p:nvSpPr>
          <p:cNvPr id="6" name="Text 4"/>
          <p:cNvSpPr txBox="1"/>
          <p:nvPr/>
        </p:nvSpPr>
        <p:spPr>
          <a:xfrm>
            <a:off x="8229600" y="4846320"/>
            <a:ext cx="457200" cy="182880"/>
          </a:xfrm>
          <a:prstGeom prst="rect">
            <a:avLst/>
          </a:prstGeom>
          <a:noFill/>
          <a:ln/>
        </p:spPr>
        <p:txBody>
          <a:bodyPr wrap="square" lIns="0" tIns="0" rIns="0" bIns="0" rtlCol="0" anchor="ctr"/>
          <a:lstStyle/>
          <a:p>
            <a:pPr algn="r" indent="0" marL="0">
              <a:buNone/>
            </a:pPr>
            <a:r>
              <a:rPr lang="en-US" sz="650" b="1" dirty="0">
                <a:solidFill>
                  <a:srgbClr val="0F8B6C"/>
                </a:solidFill>
                <a:latin typeface="Aptos" pitchFamily="34" charset="0"/>
                <a:ea typeface="Aptos" pitchFamily="34" charset="-122"/>
                <a:cs typeface="Aptos" pitchFamily="34" charset="-120"/>
              </a:rPr>
              <a:t>16</a:t>
            </a:r>
            <a:endParaRPr lang="en-US" sz="650" dirty="0"/>
          </a:p>
        </p:txBody>
      </p:sp>
      <p:sp>
        <p:nvSpPr>
          <p:cNvPr id="7" name="Shape 5"/>
          <p:cNvSpPr/>
          <p:nvPr/>
        </p:nvSpPr>
        <p:spPr>
          <a:xfrm>
            <a:off x="411480" y="1051560"/>
            <a:ext cx="4069080" cy="932688"/>
          </a:xfrm>
          <a:prstGeom prst="roundRect">
            <a:avLst>
              <a:gd name="adj" fmla="val 5882"/>
            </a:avLst>
          </a:prstGeom>
          <a:solidFill>
            <a:srgbClr val="E3F6F0"/>
          </a:solidFill>
          <a:ln w="9525">
            <a:solidFill>
              <a:srgbClr val="0F8B6C"/>
            </a:solidFill>
            <a:prstDash val="solid"/>
          </a:ln>
        </p:spPr>
      </p:sp>
      <p:sp>
        <p:nvSpPr>
          <p:cNvPr id="8" name="Text 6"/>
          <p:cNvSpPr txBox="1"/>
          <p:nvPr/>
        </p:nvSpPr>
        <p:spPr>
          <a:xfrm>
            <a:off x="594360" y="1143000"/>
            <a:ext cx="3749040" cy="274320"/>
          </a:xfrm>
          <a:prstGeom prst="rect">
            <a:avLst/>
          </a:prstGeom>
          <a:noFill/>
          <a:ln/>
        </p:spPr>
        <p:txBody>
          <a:bodyPr wrap="square" lIns="0" tIns="0" rIns="0" bIns="0" rtlCol="0" anchor="ctr"/>
          <a:lstStyle/>
          <a:p>
            <a:pPr indent="0" marL="0">
              <a:buNone/>
            </a:pPr>
            <a:r>
              <a:rPr lang="en-US" sz="1050" b="1" dirty="0">
                <a:solidFill>
                  <a:srgbClr val="0F8B6C"/>
                </a:solidFill>
                <a:latin typeface="Aptos" pitchFamily="34" charset="0"/>
                <a:ea typeface="Aptos" pitchFamily="34" charset="-122"/>
                <a:cs typeface="Aptos" pitchFamily="34" charset="-120"/>
              </a:rPr>
              <a:t>Hold window first</a:t>
            </a:r>
            <a:endParaRPr lang="en-US" sz="1050" dirty="0"/>
          </a:p>
        </p:txBody>
      </p:sp>
      <p:sp>
        <p:nvSpPr>
          <p:cNvPr id="9" name="Text 7"/>
          <p:cNvSpPr txBox="1"/>
          <p:nvPr/>
        </p:nvSpPr>
        <p:spPr>
          <a:xfrm>
            <a:off x="594360" y="1435608"/>
            <a:ext cx="3749040" cy="502920"/>
          </a:xfrm>
          <a:prstGeom prst="rect">
            <a:avLst/>
          </a:prstGeom>
          <a:noFill/>
          <a:ln/>
        </p:spPr>
        <p:txBody>
          <a:bodyPr wrap="square" lIns="0" tIns="0" rIns="0" bIns="0" rtlCol="0" anchor="t"/>
          <a:lstStyle/>
          <a:p>
            <a:pPr indent="0" marL="0">
              <a:buNone/>
            </a:pPr>
            <a:r>
              <a:rPr lang="en-US" sz="800" dirty="0">
                <a:solidFill>
                  <a:srgbClr val="1E2A44"/>
                </a:solidFill>
                <a:latin typeface="Aptos" pitchFamily="34" charset="0"/>
                <a:ea typeface="Aptos" pitchFamily="34" charset="-122"/>
                <a:cs typeface="Aptos" pitchFamily="34" charset="-120"/>
              </a:rPr>
              <a:t>Every paid order waits 60 min before CJ. Cancel is a right during the hold.</a:t>
            </a:r>
            <a:endParaRPr lang="en-US" sz="800" dirty="0"/>
          </a:p>
        </p:txBody>
      </p:sp>
      <p:sp>
        <p:nvSpPr>
          <p:cNvPr id="10" name="Shape 8"/>
          <p:cNvSpPr/>
          <p:nvPr/>
        </p:nvSpPr>
        <p:spPr>
          <a:xfrm>
            <a:off x="4663440" y="1051560"/>
            <a:ext cx="4069080" cy="932688"/>
          </a:xfrm>
          <a:prstGeom prst="roundRect">
            <a:avLst>
              <a:gd name="adj" fmla="val 5882"/>
            </a:avLst>
          </a:prstGeom>
          <a:solidFill>
            <a:srgbClr val="E3F6F0"/>
          </a:solidFill>
          <a:ln w="9525">
            <a:solidFill>
              <a:srgbClr val="0F8B6C"/>
            </a:solidFill>
            <a:prstDash val="solid"/>
          </a:ln>
        </p:spPr>
      </p:sp>
      <p:sp>
        <p:nvSpPr>
          <p:cNvPr id="11" name="Text 9"/>
          <p:cNvSpPr txBox="1"/>
          <p:nvPr/>
        </p:nvSpPr>
        <p:spPr>
          <a:xfrm>
            <a:off x="4846320" y="1143000"/>
            <a:ext cx="3749040" cy="274320"/>
          </a:xfrm>
          <a:prstGeom prst="rect">
            <a:avLst/>
          </a:prstGeom>
          <a:noFill/>
          <a:ln/>
        </p:spPr>
        <p:txBody>
          <a:bodyPr wrap="square" lIns="0" tIns="0" rIns="0" bIns="0" rtlCol="0" anchor="ctr"/>
          <a:lstStyle/>
          <a:p>
            <a:pPr indent="0" marL="0">
              <a:buNone/>
            </a:pPr>
            <a:r>
              <a:rPr lang="en-US" sz="1050" b="1" dirty="0">
                <a:solidFill>
                  <a:srgbClr val="0F8B6C"/>
                </a:solidFill>
                <a:latin typeface="Aptos" pitchFamily="34" charset="0"/>
                <a:ea typeface="Aptos" pitchFamily="34" charset="-122"/>
                <a:cs typeface="Aptos" pitchFamily="34" charset="-120"/>
              </a:rPr>
              <a:t>CJ dispute after, automated</a:t>
            </a:r>
            <a:endParaRPr lang="en-US" sz="1050" dirty="0"/>
          </a:p>
        </p:txBody>
      </p:sp>
      <p:sp>
        <p:nvSpPr>
          <p:cNvPr id="12" name="Text 10"/>
          <p:cNvSpPr txBox="1"/>
          <p:nvPr/>
        </p:nvSpPr>
        <p:spPr>
          <a:xfrm>
            <a:off x="4846320" y="1435608"/>
            <a:ext cx="3749040" cy="502920"/>
          </a:xfrm>
          <a:prstGeom prst="rect">
            <a:avLst/>
          </a:prstGeom>
          <a:noFill/>
          <a:ln/>
        </p:spPr>
        <p:txBody>
          <a:bodyPr wrap="square" lIns="0" tIns="0" rIns="0" bIns="0" rtlCol="0" anchor="t"/>
          <a:lstStyle/>
          <a:p>
            <a:pPr indent="0" marL="0">
              <a:buNone/>
            </a:pPr>
            <a:r>
              <a:rPr lang="en-US" sz="800" dirty="0">
                <a:solidFill>
                  <a:srgbClr val="1E2A44"/>
                </a:solidFill>
                <a:latin typeface="Aptos" pitchFamily="34" charset="0"/>
                <a:ea typeface="Aptos" pitchFamily="34" charset="-122"/>
                <a:cs typeface="Aptos" pitchFamily="34" charset="-120"/>
              </a:rPr>
              <a:t>CREATED / IN_CART / UNPAID: cancel, no cost. Paid unshipped: API dispute; refund now at PENDING, on CJ confirm at PROCESSING. Shipped: return instead.</a:t>
            </a:r>
            <a:endParaRPr lang="en-US" sz="800" dirty="0"/>
          </a:p>
        </p:txBody>
      </p:sp>
      <p:sp>
        <p:nvSpPr>
          <p:cNvPr id="13" name="Shape 11"/>
          <p:cNvSpPr/>
          <p:nvPr/>
        </p:nvSpPr>
        <p:spPr>
          <a:xfrm>
            <a:off x="411480" y="2103120"/>
            <a:ext cx="4069080" cy="932688"/>
          </a:xfrm>
          <a:prstGeom prst="roundRect">
            <a:avLst>
              <a:gd name="adj" fmla="val 5882"/>
            </a:avLst>
          </a:prstGeom>
          <a:solidFill>
            <a:srgbClr val="FFF4DF"/>
          </a:solidFill>
          <a:ln w="9525">
            <a:solidFill>
              <a:srgbClr val="B8720A"/>
            </a:solidFill>
            <a:prstDash val="solid"/>
          </a:ln>
        </p:spPr>
      </p:sp>
      <p:sp>
        <p:nvSpPr>
          <p:cNvPr id="14" name="Text 12"/>
          <p:cNvSpPr txBox="1"/>
          <p:nvPr/>
        </p:nvSpPr>
        <p:spPr>
          <a:xfrm>
            <a:off x="594360" y="2194560"/>
            <a:ext cx="3749040" cy="274320"/>
          </a:xfrm>
          <a:prstGeom prst="rect">
            <a:avLst/>
          </a:prstGeom>
          <a:noFill/>
          <a:ln/>
        </p:spPr>
        <p:txBody>
          <a:bodyPr wrap="square" lIns="0" tIns="0" rIns="0" bIns="0" rtlCol="0" anchor="ctr"/>
          <a:lstStyle/>
          <a:p>
            <a:pPr indent="0" marL="0">
              <a:buNone/>
            </a:pPr>
            <a:r>
              <a:rPr lang="en-US" sz="1050" b="1" dirty="0">
                <a:solidFill>
                  <a:srgbClr val="B8720A"/>
                </a:solidFill>
                <a:latin typeface="Aptos" pitchFamily="34" charset="0"/>
                <a:ea typeface="Aptos" pitchFamily="34" charset="-122"/>
                <a:cs typeface="Aptos" pitchFamily="34" charset="-120"/>
              </a:rPr>
              <a:t>Late supply escape</a:t>
            </a:r>
            <a:endParaRPr lang="en-US" sz="1050" dirty="0"/>
          </a:p>
        </p:txBody>
      </p:sp>
      <p:sp>
        <p:nvSpPr>
          <p:cNvPr id="15" name="Text 13"/>
          <p:cNvSpPr txBox="1"/>
          <p:nvPr/>
        </p:nvSpPr>
        <p:spPr>
          <a:xfrm>
            <a:off x="594360" y="2487168"/>
            <a:ext cx="3749040" cy="502920"/>
          </a:xfrm>
          <a:prstGeom prst="rect">
            <a:avLst/>
          </a:prstGeom>
          <a:noFill/>
          <a:ln/>
        </p:spPr>
        <p:txBody>
          <a:bodyPr wrap="square" lIns="0" tIns="0" rIns="0" bIns="0" rtlCol="0" anchor="t"/>
          <a:lstStyle/>
          <a:p>
            <a:pPr indent="0" marL="0">
              <a:buNone/>
            </a:pPr>
            <a:r>
              <a:rPr lang="en-US" sz="800" dirty="0">
                <a:solidFill>
                  <a:srgbClr val="1E2A44"/>
                </a:solidFill>
                <a:latin typeface="Aptos" pitchFamily="34" charset="0"/>
                <a:ea typeface="Aptos" pitchFamily="34" charset="-122"/>
                <a:cs typeface="Aptos" pitchFamily="34" charset="-120"/>
              </a:rPr>
              <a:t>Unshipped by day 7: customer may cancel for a full refund; CJ recovery is ours.</a:t>
            </a:r>
            <a:endParaRPr lang="en-US" sz="800" dirty="0"/>
          </a:p>
        </p:txBody>
      </p:sp>
      <p:sp>
        <p:nvSpPr>
          <p:cNvPr id="16" name="Shape 14"/>
          <p:cNvSpPr/>
          <p:nvPr/>
        </p:nvSpPr>
        <p:spPr>
          <a:xfrm>
            <a:off x="4663440" y="2103120"/>
            <a:ext cx="4069080" cy="932688"/>
          </a:xfrm>
          <a:prstGeom prst="roundRect">
            <a:avLst>
              <a:gd name="adj" fmla="val 5882"/>
            </a:avLst>
          </a:prstGeom>
          <a:solidFill>
            <a:srgbClr val="E6F0F8"/>
          </a:solidFill>
          <a:ln w="9525">
            <a:solidFill>
              <a:srgbClr val="0A5C8A"/>
            </a:solidFill>
            <a:prstDash val="solid"/>
          </a:ln>
        </p:spPr>
      </p:sp>
      <p:sp>
        <p:nvSpPr>
          <p:cNvPr id="17" name="Text 15"/>
          <p:cNvSpPr txBox="1"/>
          <p:nvPr/>
        </p:nvSpPr>
        <p:spPr>
          <a:xfrm>
            <a:off x="4846320" y="2194560"/>
            <a:ext cx="3749040" cy="274320"/>
          </a:xfrm>
          <a:prstGeom prst="rect">
            <a:avLst/>
          </a:prstGeom>
          <a:noFill/>
          <a:ln/>
        </p:spPr>
        <p:txBody>
          <a:bodyPr wrap="square" lIns="0" tIns="0" rIns="0" bIns="0" rtlCol="0" anchor="ctr"/>
          <a:lstStyle/>
          <a:p>
            <a:pPr indent="0" marL="0">
              <a:buNone/>
            </a:pPr>
            <a:r>
              <a:rPr lang="en-US" sz="1050" b="1" dirty="0">
                <a:solidFill>
                  <a:srgbClr val="0A5C8A"/>
                </a:solidFill>
                <a:latin typeface="Aptos" pitchFamily="34" charset="0"/>
                <a:ea typeface="Aptos" pitchFamily="34" charset="-122"/>
                <a:cs typeface="Aptos" pitchFamily="34" charset="-120"/>
              </a:rPr>
              <a:t>Sals3-initiated cancels</a:t>
            </a:r>
            <a:endParaRPr lang="en-US" sz="1050" dirty="0"/>
          </a:p>
        </p:txBody>
      </p:sp>
      <p:sp>
        <p:nvSpPr>
          <p:cNvPr id="18" name="Text 16"/>
          <p:cNvSpPr txBox="1"/>
          <p:nvPr/>
        </p:nvSpPr>
        <p:spPr>
          <a:xfrm>
            <a:off x="4846320" y="2487168"/>
            <a:ext cx="3749040" cy="502920"/>
          </a:xfrm>
          <a:prstGeom prst="rect">
            <a:avLst/>
          </a:prstGeom>
          <a:noFill/>
          <a:ln/>
        </p:spPr>
        <p:txBody>
          <a:bodyPr wrap="square" lIns="0" tIns="0" rIns="0" bIns="0" rtlCol="0" anchor="t"/>
          <a:lstStyle/>
          <a:p>
            <a:pPr indent="0" marL="0">
              <a:buNone/>
            </a:pPr>
            <a:r>
              <a:rPr lang="en-US" sz="800" dirty="0">
                <a:solidFill>
                  <a:srgbClr val="1E2A44"/>
                </a:solidFill>
                <a:latin typeface="Aptos" pitchFamily="34" charset="0"/>
                <a:ea typeface="Aptos" pitchFamily="34" charset="-122"/>
                <a:cs typeface="Aptos" pitchFamily="34" charset="-120"/>
              </a:rPr>
              <a:t>Worker failures, stock, price, address, fraud: refund fast, record why, do not blame the customer.</a:t>
            </a:r>
            <a:endParaRPr lang="en-US" sz="800" dirty="0"/>
          </a:p>
        </p:txBody>
      </p:sp>
      <p:sp>
        <p:nvSpPr>
          <p:cNvPr id="19" name="Shape 17"/>
          <p:cNvSpPr/>
          <p:nvPr/>
        </p:nvSpPr>
        <p:spPr>
          <a:xfrm>
            <a:off x="411480" y="3154680"/>
            <a:ext cx="4069080" cy="932688"/>
          </a:xfrm>
          <a:prstGeom prst="roundRect">
            <a:avLst>
              <a:gd name="adj" fmla="val 5882"/>
            </a:avLst>
          </a:prstGeom>
          <a:solidFill>
            <a:srgbClr val="E6F0F8"/>
          </a:solidFill>
          <a:ln w="9525">
            <a:solidFill>
              <a:srgbClr val="0A5C8A"/>
            </a:solidFill>
            <a:prstDash val="solid"/>
          </a:ln>
        </p:spPr>
      </p:sp>
      <p:sp>
        <p:nvSpPr>
          <p:cNvPr id="20" name="Text 18"/>
          <p:cNvSpPr txBox="1"/>
          <p:nvPr/>
        </p:nvSpPr>
        <p:spPr>
          <a:xfrm>
            <a:off x="594360" y="3246120"/>
            <a:ext cx="3749040" cy="274320"/>
          </a:xfrm>
          <a:prstGeom prst="rect">
            <a:avLst/>
          </a:prstGeom>
          <a:noFill/>
          <a:ln/>
        </p:spPr>
        <p:txBody>
          <a:bodyPr wrap="square" lIns="0" tIns="0" rIns="0" bIns="0" rtlCol="0" anchor="ctr"/>
          <a:lstStyle/>
          <a:p>
            <a:pPr indent="0" marL="0">
              <a:buNone/>
            </a:pPr>
            <a:r>
              <a:rPr lang="en-US" sz="1050" b="1" dirty="0">
                <a:solidFill>
                  <a:srgbClr val="0A5C8A"/>
                </a:solidFill>
                <a:latin typeface="Aptos" pitchFamily="34" charset="0"/>
                <a:ea typeface="Aptos" pitchFamily="34" charset="-122"/>
                <a:cs typeface="Aptos" pitchFamily="34" charset="-120"/>
              </a:rPr>
              <a:t>Always a refund</a:t>
            </a:r>
            <a:endParaRPr lang="en-US" sz="1050" dirty="0"/>
          </a:p>
        </p:txBody>
      </p:sp>
      <p:sp>
        <p:nvSpPr>
          <p:cNvPr id="21" name="Text 19"/>
          <p:cNvSpPr txBox="1"/>
          <p:nvPr/>
        </p:nvSpPr>
        <p:spPr>
          <a:xfrm>
            <a:off x="594360" y="3538728"/>
            <a:ext cx="3749040" cy="502920"/>
          </a:xfrm>
          <a:prstGeom prst="rect">
            <a:avLst/>
          </a:prstGeom>
          <a:noFill/>
          <a:ln/>
        </p:spPr>
        <p:txBody>
          <a:bodyPr wrap="square" lIns="0" tIns="0" rIns="0" bIns="0" rtlCol="0" anchor="t"/>
          <a:lstStyle/>
          <a:p>
            <a:pPr indent="0" marL="0">
              <a:buNone/>
            </a:pPr>
            <a:r>
              <a:rPr lang="en-US" sz="800" dirty="0">
                <a:solidFill>
                  <a:srgbClr val="1E2A44"/>
                </a:solidFill>
                <a:latin typeface="Aptos" pitchFamily="34" charset="0"/>
                <a:ea typeface="Aptos" pitchFamily="34" charset="-122"/>
                <a:cs typeface="Aptos" pitchFamily="34" charset="-120"/>
              </a:rPr>
              <a:t>Stripe captures at checkout. Every cancel is a refund to the original card, 3–10 days.</a:t>
            </a:r>
            <a:endParaRPr lang="en-US" sz="800" dirty="0"/>
          </a:p>
        </p:txBody>
      </p:sp>
      <p:sp>
        <p:nvSpPr>
          <p:cNvPr id="22" name="Shape 20"/>
          <p:cNvSpPr/>
          <p:nvPr/>
        </p:nvSpPr>
        <p:spPr>
          <a:xfrm>
            <a:off x="4663440" y="3154680"/>
            <a:ext cx="4069080" cy="932688"/>
          </a:xfrm>
          <a:prstGeom prst="roundRect">
            <a:avLst>
              <a:gd name="adj" fmla="val 5882"/>
            </a:avLst>
          </a:prstGeom>
          <a:solidFill>
            <a:srgbClr val="E3F6F0"/>
          </a:solidFill>
          <a:ln w="9525">
            <a:solidFill>
              <a:srgbClr val="0F8B6C"/>
            </a:solidFill>
            <a:prstDash val="solid"/>
          </a:ln>
        </p:spPr>
      </p:sp>
      <p:sp>
        <p:nvSpPr>
          <p:cNvPr id="23" name="Text 21"/>
          <p:cNvSpPr txBox="1"/>
          <p:nvPr/>
        </p:nvSpPr>
        <p:spPr>
          <a:xfrm>
            <a:off x="4846320" y="3246120"/>
            <a:ext cx="3749040" cy="274320"/>
          </a:xfrm>
          <a:prstGeom prst="rect">
            <a:avLst/>
          </a:prstGeom>
          <a:noFill/>
          <a:ln/>
        </p:spPr>
        <p:txBody>
          <a:bodyPr wrap="square" lIns="0" tIns="0" rIns="0" bIns="0" rtlCol="0" anchor="ctr"/>
          <a:lstStyle/>
          <a:p>
            <a:pPr indent="0" marL="0">
              <a:buNone/>
            </a:pPr>
            <a:r>
              <a:rPr lang="en-US" sz="1050" b="1" dirty="0">
                <a:solidFill>
                  <a:srgbClr val="0F8B6C"/>
                </a:solidFill>
                <a:latin typeface="Aptos" pitchFamily="34" charset="0"/>
                <a:ea typeface="Aptos" pitchFamily="34" charset="-122"/>
                <a:cs typeface="Aptos" pitchFamily="34" charset="-120"/>
              </a:rPr>
              <a:t>Recorded and visible</a:t>
            </a:r>
            <a:endParaRPr lang="en-US" sz="1050" dirty="0"/>
          </a:p>
        </p:txBody>
      </p:sp>
      <p:sp>
        <p:nvSpPr>
          <p:cNvPr id="24" name="Text 22"/>
          <p:cNvSpPr txBox="1"/>
          <p:nvPr/>
        </p:nvSpPr>
        <p:spPr>
          <a:xfrm>
            <a:off x="4846320" y="3538728"/>
            <a:ext cx="3749040" cy="502920"/>
          </a:xfrm>
          <a:prstGeom prst="rect">
            <a:avLst/>
          </a:prstGeom>
          <a:noFill/>
          <a:ln/>
        </p:spPr>
        <p:txBody>
          <a:bodyPr wrap="square" lIns="0" tIns="0" rIns="0" bIns="0" rtlCol="0" anchor="t"/>
          <a:lstStyle/>
          <a:p>
            <a:pPr indent="0" marL="0">
              <a:buNone/>
            </a:pPr>
            <a:r>
              <a:rPr lang="en-US" sz="800" dirty="0">
                <a:solidFill>
                  <a:srgbClr val="1E2A44"/>
                </a:solidFill>
                <a:latin typeface="Aptos" pitchFamily="34" charset="0"/>
                <a:ea typeface="Aptos" pitchFamily="34" charset="-122"/>
                <a:cs typeface="Aptos" pitchFamily="34" charset="-120"/>
              </a:rPr>
              <a:t>cancellation_requests + CANCEL_REQUESTED / CANCELLED; % cancelled on the Customers list.</a:t>
            </a:r>
            <a:endParaRPr lang="en-US" sz="800" dirty="0"/>
          </a:p>
        </p:txBody>
      </p:sp>
      <p:sp>
        <p:nvSpPr>
          <p:cNvPr id="25" name="Text 23"/>
          <p:cNvSpPr txBox="1"/>
          <p:nvPr/>
        </p:nvSpPr>
        <p:spPr>
          <a:xfrm>
            <a:off x="411480" y="4297680"/>
            <a:ext cx="8321040" cy="274320"/>
          </a:xfrm>
          <a:prstGeom prst="rect">
            <a:avLst/>
          </a:prstGeom>
          <a:noFill/>
          <a:ln/>
        </p:spPr>
        <p:txBody>
          <a:bodyPr wrap="square" lIns="0" tIns="0" rIns="0" bIns="0" rtlCol="0" anchor="ctr"/>
          <a:lstStyle/>
          <a:p>
            <a:pPr algn="ctr" indent="0" marL="0">
              <a:buNone/>
            </a:pPr>
            <a:r>
              <a:rPr lang="en-US" sz="800" dirty="0">
                <a:solidFill>
                  <a:srgbClr val="5B6472"/>
                </a:solidFill>
                <a:latin typeface="Aptos" pitchFamily="34" charset="0"/>
                <a:ea typeface="Aptos" pitchFamily="34" charset="-122"/>
                <a:cs typeface="Aptos" pitchFamily="34" charset="-120"/>
              </a:rPr>
              <a:t>Customer entry point:  My Orders → Order → Request Cancellation   ·   Portal: Orders → parcel → Cancellation panel; Customers → profile → Refunds tab</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Sals3 Order Cancellation SOP v4</dc:title>
  <dc:subject>PptxGenJS Presentation</dc:subject>
  <dc:creator>PptxGenJS</dc:creator>
  <cp:lastModifiedBy>PptxGenJS</cp:lastModifiedBy>
  <cp:revision>1</cp:revision>
  <dcterms:created xsi:type="dcterms:W3CDTF">2026-09-09T16:11:28Z</dcterms:created>
  <dcterms:modified xsi:type="dcterms:W3CDTF">2026-09-09T16:11:28Z</dcterms:modified>
</cp:coreProperties>
</file>