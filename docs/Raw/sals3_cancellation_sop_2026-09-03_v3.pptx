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e3cfe42ab64976" /><Relationship Type="http://schemas.openxmlformats.org/officeDocument/2006/relationships/extended-properties" Target="/docProps/app.xml" Id="R5efb9ede65d04372" /><Relationship Type="http://schemas.openxmlformats.org/officeDocument/2006/relationships/officeDocument" Target="/ppt/presentation.xml" Id="Rc6b7d37f2cf8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900d9a465c4e0c"/>
  </p:sldMasterIdLst>
  <p:notesMasterIdLst>
    <p:notesMasterId xmlns:r="http://schemas.openxmlformats.org/officeDocument/2006/relationships" r:id="Rb02afac24de2401e"/>
  </p:notesMasterIdLst>
  <p:sldIdLst>
    <p:sldId xmlns:r="http://schemas.openxmlformats.org/officeDocument/2006/relationships" id="256" r:id="Rbc600c5791f84753"/>
    <p:sldId xmlns:r="http://schemas.openxmlformats.org/officeDocument/2006/relationships" id="257" r:id="R44d464f661384bfe"/>
    <p:sldId xmlns:r="http://schemas.openxmlformats.org/officeDocument/2006/relationships" id="258" r:id="Ra5dd3703123d42a9"/>
    <p:sldId xmlns:r="http://schemas.openxmlformats.org/officeDocument/2006/relationships" id="259" r:id="Rbe709b0e418a4de6"/>
    <p:sldId xmlns:r="http://schemas.openxmlformats.org/officeDocument/2006/relationships" id="260" r:id="R721e2ba648d545ff"/>
    <p:sldId xmlns:r="http://schemas.openxmlformats.org/officeDocument/2006/relationships" id="261" r:id="Rce5c209bd2434853"/>
    <p:sldId xmlns:r="http://schemas.openxmlformats.org/officeDocument/2006/relationships" id="262" r:id="R919f87d36dcc4e8d"/>
    <p:sldId xmlns:r="http://schemas.openxmlformats.org/officeDocument/2006/relationships" id="263" r:id="R70cb323c62484066"/>
    <p:sldId xmlns:r="http://schemas.openxmlformats.org/officeDocument/2006/relationships" id="264" r:id="R68a727cf87bc4a9f"/>
    <p:sldId xmlns:r="http://schemas.openxmlformats.org/officeDocument/2006/relationships" id="265" r:id="Rbc9cecb7d63d4a7c"/>
    <p:sldId xmlns:r="http://schemas.openxmlformats.org/officeDocument/2006/relationships" id="266" r:id="Rfc949453516c4465"/>
    <p:sldId xmlns:r="http://schemas.openxmlformats.org/officeDocument/2006/relationships" id="267" r:id="Raf5583a92f7c40f3"/>
    <p:sldId xmlns:r="http://schemas.openxmlformats.org/officeDocument/2006/relationships" id="268" r:id="R9ee0f6afe4f147e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00774f2c444a3a" /><Relationship Type="http://schemas.openxmlformats.org/officeDocument/2006/relationships/slideMaster" Target="/ppt/slideMasters/slideMaster1.xml" Id="R21900d9a465c4e0c" /><Relationship Type="http://schemas.openxmlformats.org/officeDocument/2006/relationships/notesMaster" Target="/ppt/notesMasters/notesMaster1.xml" Id="Rb02afac24de2401e" /><Relationship Type="http://schemas.openxmlformats.org/officeDocument/2006/relationships/presProps" Target="/ppt/presProps.xml" Id="Rff4f5932d59d44b6" /><Relationship Type="http://schemas.openxmlformats.org/officeDocument/2006/relationships/tableStyles" Target="/ppt/tableStyles.xml" Id="R1066f09d331c40d3" /><Relationship Type="http://schemas.openxmlformats.org/officeDocument/2006/relationships/slide" Target="/ppt/slides/slide1.xml" Id="Rbc600c5791f84753" /><Relationship Type="http://schemas.openxmlformats.org/officeDocument/2006/relationships/slide" Target="/ppt/slides/slide2.xml" Id="R44d464f661384bfe" /><Relationship Type="http://schemas.openxmlformats.org/officeDocument/2006/relationships/slide" Target="/ppt/slides/slide3.xml" Id="Ra5dd3703123d42a9" /><Relationship Type="http://schemas.openxmlformats.org/officeDocument/2006/relationships/slide" Target="/ppt/slides/slide4.xml" Id="Rbe709b0e418a4de6" /><Relationship Type="http://schemas.openxmlformats.org/officeDocument/2006/relationships/slide" Target="/ppt/slides/slide5.xml" Id="R721e2ba648d545ff" /><Relationship Type="http://schemas.openxmlformats.org/officeDocument/2006/relationships/slide" Target="/ppt/slides/slide6.xml" Id="Rce5c209bd2434853" /><Relationship Type="http://schemas.openxmlformats.org/officeDocument/2006/relationships/slide" Target="/ppt/slides/slide7.xml" Id="R919f87d36dcc4e8d" /><Relationship Type="http://schemas.openxmlformats.org/officeDocument/2006/relationships/slide" Target="/ppt/slides/slide8.xml" Id="R70cb323c62484066" /><Relationship Type="http://schemas.openxmlformats.org/officeDocument/2006/relationships/slide" Target="/ppt/slides/slide9.xml" Id="R68a727cf87bc4a9f" /><Relationship Type="http://schemas.openxmlformats.org/officeDocument/2006/relationships/slide" Target="/ppt/slides/slide10.xml" Id="Rbc9cecb7d63d4a7c" /><Relationship Type="http://schemas.openxmlformats.org/officeDocument/2006/relationships/slide" Target="/ppt/slides/slide11.xml" Id="Rfc949453516c4465" /><Relationship Type="http://schemas.openxmlformats.org/officeDocument/2006/relationships/slide" Target="/ppt/slides/slide12.xml" Id="Raf5583a92f7c40f3" /><Relationship Type="http://schemas.openxmlformats.org/officeDocument/2006/relationships/slide" Target="/ppt/slides/slide13.xml" Id="R9ee0f6afe4f147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0aca46db3b49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Sals3 SOP">
      <a:dk1>
        <a:srgbClr val="000000"/>
      </a:dk1>
      <a:lt1>
        <a:srgbClr val="FFFFFF"/>
      </a:lt1>
      <a:dk2>
        <a:srgbClr val="17245A"/>
      </a:dk2>
      <a:lt2>
        <a:srgbClr val="D8E0EC"/>
      </a:lt2>
      <a:accent1>
        <a:srgbClr val="009879"/>
      </a:accent1>
      <a:accent2>
        <a:srgbClr val="C8324D"/>
      </a:accent2>
      <a:accent3>
        <a:srgbClr val="B66A00"/>
      </a:accent3>
      <a:accent4>
        <a:srgbClr val="8064A2"/>
      </a:accent4>
      <a:accent5>
        <a:srgbClr val="4BACC6"/>
      </a:accent5>
      <a:accent6>
        <a:srgbClr val="F79646"/>
      </a:accent6>
      <a:hlink>
        <a:srgbClr val="009879"/>
      </a:hlink>
      <a:folHlink>
        <a:srgbClr val="0098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ls3 S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d54989763aa4363" /><Relationship Type="http://schemas.openxmlformats.org/officeDocument/2006/relationships/notesMaster" Target="/ppt/notesMasters/notesMaster1.xml" Id="R2cd22337646048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5ad4787ab814fc2" /><Relationship Type="http://schemas.openxmlformats.org/officeDocument/2006/relationships/notesMaster" Target="/ppt/notesMasters/notesMaster1.xml" Id="Rdf9a2139fa1649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55d8293b9e4d60" /><Relationship Type="http://schemas.openxmlformats.org/officeDocument/2006/relationships/notesMaster" Target="/ppt/notesMasters/notesMaster1.xml" Id="R48103a26321b49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a7c7f87abc4149" /><Relationship Type="http://schemas.openxmlformats.org/officeDocument/2006/relationships/notesMaster" Target="/ppt/notesMasters/notesMaster1.xml" Id="R522b5adc01df40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d4c1c1324f4432c" /><Relationship Type="http://schemas.openxmlformats.org/officeDocument/2006/relationships/notesMaster" Target="/ppt/notesMasters/notesMaster1.xml" Id="R8b665091af1642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535ab32fecf4e32" /><Relationship Type="http://schemas.openxmlformats.org/officeDocument/2006/relationships/notesMaster" Target="/ppt/notesMasters/notesMaster1.xml" Id="R93d8715b1ae24c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48bd2549f4e46c8" /><Relationship Type="http://schemas.openxmlformats.org/officeDocument/2006/relationships/notesMaster" Target="/ppt/notesMasters/notesMaster1.xml" Id="R3517b5bfceb247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4232ecd07d4b6d" /><Relationship Type="http://schemas.openxmlformats.org/officeDocument/2006/relationships/notesMaster" Target="/ppt/notesMasters/notesMaster1.xml" Id="Rcb8a76f07b9c41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75aa7413d44891" /><Relationship Type="http://schemas.openxmlformats.org/officeDocument/2006/relationships/notesMaster" Target="/ppt/notesMasters/notesMaster1.xml" Id="R217db07639534b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30fa8225d1348f7" /><Relationship Type="http://schemas.openxmlformats.org/officeDocument/2006/relationships/notesMaster" Target="/ppt/notesMasters/notesMaster1.xml" Id="R66e2bce02cc043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a94f3a2c254e9c" /><Relationship Type="http://schemas.openxmlformats.org/officeDocument/2006/relationships/notesMaster" Target="/ppt/notesMasters/notesMaster1.xml" Id="R56198df7f56e4c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92b3d4422d84549" /><Relationship Type="http://schemas.openxmlformats.org/officeDocument/2006/relationships/notesMaster" Target="/ppt/notesMasters/notesMaster1.xml" Id="R2970394d2aa447e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a3ec4b6d364898" /><Relationship Type="http://schemas.openxmlformats.org/officeDocument/2006/relationships/notesMaster" Target="/ppt/notesMasters/notesMaster1.xml" Id="R2e1167b14a9741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Cancellation is binary: if no CJ order exists yet or CJ is still CREATED / IN_CART, cancel. Once CJ has moved beyond those statuses, cancellation is closed.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SOP uses one gate: no CJ order yet, or CJ CREATED / IN_CART. Beyond that, decline cancellation.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cancellation SOP only covers pre-CJ orders and CJ CREATED / IN_CART. Everything after that is not a cancellation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CJ UNPAID is red/no-cancel because it is already outside the CJ delete/cancel window.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Layout fixed. The open-window label fits, and the closed window starts at CJ UNPAID.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Because the SOP is binary, the key evidence is CJ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Approval tiers removed. Status is the only gate for cancellation.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Agent action is procedural: if allowed, do it; if beyond gate, decline.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status rules replace approval or profile thresholds.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advise refusal by default. If doorstep delivery happens, tell the buyer to keep it unopened and contact Support.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Decision table uses hard gates. UNPAID and later decline cancellation.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Beyond status gate, route only. Do not create cancellation exceptions through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guardrails: no approval for cancellation, no exceptions past CJ CREATED / IN_CART.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CJ Introduction: https://developers.cjdropshipping.com/en/api/introduction.html</a:t>
            </a:r>
          </a:p>
          <a:p xmlns:a="http://schemas.openxmlformats.org/drawingml/2006/main">
            <a:r>
              <a:t>CJ Shopping API order status table and Order Delete rule: https://developers.cjdropshipping.com/en/api/api2/api/shopping.html</a:t>
            </a:r>
          </a:p>
          <a:p xmlns:a="http://schemas.openxmlformats.org/drawingml/2006/main">
            <a:r>
              <a:t>CJ Orders Synchronization Processing: https://developers.cjdropshipping.com/en/api/start/Orders-Synchronization-Processing.html</a:t>
            </a:r>
          </a:p>
          <a:p xmlns:a="http://schemas.openxmlformats.org/drawingml/2006/main">
            <a:r>
              <a:t>CJ Refund, Resend and Returns Policy: https://www.cjdropshipping.com/dispute-policy.html</a:t>
            </a:r>
          </a:p>
          <a:p xmlns:a="http://schemas.openxmlformats.org/drawingml/2006/main">
            <a:r>
              <a:t>Sals3 ADR-004: E:/sals3-ecommerce/docs/Wiki/wiki/ADR-004-cj-ordering-tracking-and-fulfillment.md</a:t>
            </a:r>
          </a:p>
          <a:p xmlns:a="http://schemas.openxmlformats.org/drawingml/2006/main">
            <a:r>
              <a:t>Sals3 ADR-005: E:/sals3-ecommerce/docs/Wiki/wiki/ADR-005-payment-settlement-refunds-and-cod.md</a:t>
            </a:r>
          </a:p>
          <a:p xmlns:a="http://schemas.openxmlformats.org/drawingml/2006/main">
            <a:r>
              <a:t>Sals3 ADR-018: E:/sals3-ecommerce/docs/Wiki/wiki/ADR-018-phase-1-returns-refunds-and-no-warehouse-cj-recovery.md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0112a0ad3849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0adf44efc4598" /><Relationship Type="http://schemas.openxmlformats.org/officeDocument/2006/relationships/slideLayout" Target="/ppt/slideLayouts/slideLayout1.xml" Id="R40c295a37a6948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c295a37a6948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Sals3 SOP">
      <a:dk1>
        <a:srgbClr val="000000"/>
      </a:dk1>
      <a:lt1>
        <a:srgbClr val="FFFFFF"/>
      </a:lt1>
      <a:dk2>
        <a:srgbClr val="17245A"/>
      </a:dk2>
      <a:lt2>
        <a:srgbClr val="D8E0EC"/>
      </a:lt2>
      <a:accent1>
        <a:srgbClr val="009879"/>
      </a:accent1>
      <a:accent2>
        <a:srgbClr val="C8324D"/>
      </a:accent2>
      <a:accent3>
        <a:srgbClr val="B66A00"/>
      </a:accent3>
      <a:accent4>
        <a:srgbClr val="8064A2"/>
      </a:accent4>
      <a:accent5>
        <a:srgbClr val="4BACC6"/>
      </a:accent5>
      <a:accent6>
        <a:srgbClr val="F79646"/>
      </a:accent6>
      <a:hlink>
        <a:srgbClr val="009879"/>
      </a:hlink>
      <a:folHlink>
        <a:srgbClr val="0098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ls3 S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cb2c4c44f425f" /><Relationship Type="http://schemas.openxmlformats.org/officeDocument/2006/relationships/notesSlide" Target="/ppt/notesSlides/notesSlide1.xml" Id="R3093c12fcefa4c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9faba2aaa64783" /><Relationship Type="http://schemas.openxmlformats.org/officeDocument/2006/relationships/notesSlide" Target="/ppt/notesSlides/notesSlide2.xml" Id="R0e262b1398f446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de24765024036" /><Relationship Type="http://schemas.openxmlformats.org/officeDocument/2006/relationships/notesSlide" Target="/ppt/notesSlides/notesSlide3.xml" Id="Rd9faf225719d45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60970d0e74cc0" /><Relationship Type="http://schemas.openxmlformats.org/officeDocument/2006/relationships/notesSlide" Target="/ppt/notesSlides/notesSlide4.xml" Id="R37e2c2b0b03b416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a1d6f2900440f" /><Relationship Type="http://schemas.openxmlformats.org/officeDocument/2006/relationships/notesSlide" Target="/ppt/notesSlides/notesSlide5.xml" Id="R647e132bb39b44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5bdbe207243d2" /><Relationship Type="http://schemas.openxmlformats.org/officeDocument/2006/relationships/notesSlide" Target="/ppt/notesSlides/notesSlide6.xml" Id="R1e41310791d243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abc51e0ba3470e" /><Relationship Type="http://schemas.openxmlformats.org/officeDocument/2006/relationships/notesSlide" Target="/ppt/notesSlides/notesSlide7.xml" Id="R767a54bd6aa247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196f643f44268" /><Relationship Type="http://schemas.openxmlformats.org/officeDocument/2006/relationships/notesSlide" Target="/ppt/notesSlides/notesSlide8.xml" Id="R6b3b0087598247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a24c73a52435c" /><Relationship Type="http://schemas.openxmlformats.org/officeDocument/2006/relationships/notesSlide" Target="/ppt/notesSlides/notesSlide9.xml" Id="Raff0028f965b40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2bab607e14980" /><Relationship Type="http://schemas.openxmlformats.org/officeDocument/2006/relationships/notesSlide" Target="/ppt/notesSlides/notesSlide10.xml" Id="R658717d5dadf49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febe17d6124a54" /><Relationship Type="http://schemas.openxmlformats.org/officeDocument/2006/relationships/notesSlide" Target="/ppt/notesSlides/notesSlide11.xml" Id="Rd890c68008ae478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8743da6c3b410d" /><Relationship Type="http://schemas.openxmlformats.org/officeDocument/2006/relationships/notesSlide" Target="/ppt/notesSlides/notesSlide12.xml" Id="Rea8133b790a74e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29625443f4c80" /><Relationship Type="http://schemas.openxmlformats.org/officeDocument/2006/relationships/notesSlide" Target="/ppt/notesSlides/notesSlide13.xml" Id="Rd5ade032d18a43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B564D-9ADD-4D58-A0FE-6B6567321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819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09879"/>
                </a:solidFill>
              </a:defRPr>
            </a:pPr>
            <a:r>
              <a:rPr sz="825" b="1">
                <a:solidFill>
                  <a:srgbClr val="009879"/>
                </a:solidFill>
              </a:rPr>
              <a:t>SALS3 · CUSTOMER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8E6708-0C85-4CA1-B382-09B1D2EE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43150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45A"/>
                </a:solidFill>
              </a:defRPr>
            </a:pPr>
            <a:r>
              <a:rPr sz="4350" b="1">
                <a:solidFill>
                  <a:srgbClr val="17245A"/>
                </a:solidFill>
              </a:rPr>
              <a:t>Cancellation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CCF88-74EA-49FB-9C91-2278CD8F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3847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45A"/>
                </a:solidFill>
              </a:defRPr>
            </a:pPr>
            <a:r>
              <a:rPr sz="4350" b="1">
                <a:solidFill>
                  <a:srgbClr val="17245A"/>
                </a:solidFill>
              </a:rPr>
              <a:t>Order Cancellation SOP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65595-714B-4312-8426-F01DE660B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95725"/>
            <a:ext cx="895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F5E7C"/>
                </a:solidFill>
              </a:defRPr>
            </a:pPr>
            <a:r>
              <a:rPr sz="1350" b="0">
                <a:solidFill>
                  <a:srgbClr val="4F5E7C"/>
                </a:solidFill>
              </a:rPr>
              <a:t>Phase 1 internal SOP  ·  CJ-only fulfilment  ·  Stripe refunds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343A22-3205-4903-BCD3-D2B29866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936D9-25A9-4D7F-8BE6-77812EE2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386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Auto-cancel window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DDB64-26FF-4430-8592-D977713B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57200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D6C15-62DE-4B9D-90B3-B8ABE8B8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386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CJ status decides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018DD-5090-4B4B-9273-BE633919B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572000"/>
            <a:ext cx="2381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D77A83-3335-4709-B987-A27E64B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386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Beyond window = no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41E09D-7243-4816-87D9-AAB80A9F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Draft 03 Sep 2026  ·  v3.0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539AE-5E95-4623-B107-C9606C0A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305550"/>
            <a:ext cx="6029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Customer entry point:  My Orders → Order → Request Cancellation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0795E-F99E-4624-9DBD-E6967BB35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66775"/>
            <a:ext cx="838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009879"/>
                </a:solidFill>
              </a:defRPr>
            </a:pPr>
            <a:r>
              <a:rPr sz="3300" b="1">
                <a:solidFill>
                  <a:srgbClr val="009879"/>
                </a:solidFill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0731873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744ACD-4225-4F32-90CE-97E9505F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HOW THIS SOP WORKS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74129-CF7E-4445-9E86-4360C9AE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One request, one status gate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74466A-8373-4E30-BBFF-841A6DD5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18C43-C599-4D99-A962-3BDA9974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A8A8A-BE87-4CB7-BBFA-879515C86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225C9-3073-40A9-960D-E01E5C52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3524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8F92F-A4F7-4D8F-B967-A9806FB8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04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E2513F-4292-49E0-8F9B-7F855F2B4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09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72BE43-340F-4D5B-8939-EDA13C5B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72402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Customer asks to cancel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D3B876-4F5E-47A1-B3BC-00392D3FB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002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My Orders → Order → Request Cancellation.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2BFBC5-DFB8-4388-B610-88A17577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85900"/>
            <a:ext cx="3524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CA557E-3024-4A3D-B3D8-0BA698EE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04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9CA7F-5781-48EE-9F68-BC4F6A67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809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86F0D2-C108-45F4-AF4B-CC8D316D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72402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Check Sals3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D8E1C-4BCC-4587-A288-5A21A027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02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If no CJ order exists yet, stop the worker.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BB66D1-05CA-4F27-8556-8B604885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85900"/>
            <a:ext cx="3524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B9032-B663-49A5-B794-62EEAD27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049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6175CE-630D-4B39-98FC-99D164FD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8097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6D1266-52DC-4F73-8B1B-4AE2A5F8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2402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Check CJ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0EC167-C23D-493F-89A2-D5845DC4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002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CJ CREATED / IN_CART are the only cancelable CJ states.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9966F7-2DC9-4E1F-9B8F-BF9BE9C3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76600"/>
            <a:ext cx="3524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097516-56D2-4863-956E-E23A9E1B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495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B92D40-C0CF-4D4A-9429-7F79B7D8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C16E26-9D48-4F47-BE72-1A2623A4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351472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Cancel or decline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D69894-1FD5-4A68-B5B8-53EE86A3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90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Allowed status: cancel. Beyond gate: decline.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8F93A1-8F9B-44D8-9C9A-14E4ADBB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76600"/>
            <a:ext cx="3524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A1F36C-A35F-455F-94DF-F2043197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95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123DF8-CFF7-429A-91CB-AC8DA6A1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C91C45-DD85-450E-8B0E-FE04D2BA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1472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Refund if charged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6DEF04-C7CA-43B8-B83A-9A365EE2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90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Refund through Stripe after valid cancellation succeeds.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ED578-BC7A-44AF-BB3C-2FD64C6EB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76600"/>
            <a:ext cx="35242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292ACB-7EDB-4F25-8065-DA33245AB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95675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F8B90F-341A-4DBE-9903-A08E662D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004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308BA-5FAB-4B75-B4A7-D7A726C2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514725"/>
            <a:ext cx="25431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Close and record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972A9F-D91B-4E20-A519-4A277210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90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Log status, refund id, CJ result, and message.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8A7F1F-C08F-49AD-9D84-1FF2CCEC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1208C4-7046-4C7D-B728-C7EB86F2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AND THEN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900988-C870-4CB0-9002-C30789D4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6850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If CJ already moved beyond CREATED / IN_CART, route to the correct support SOP.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CCF509C-D57F-4E2A-9C58-2C333539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0E09C7-E008-4AA6-8EBE-5C108200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HARD RULE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59F33F-6C34-4CBF-997C-2225D8B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9597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6A00"/>
                </a:solidFill>
              </a:defRPr>
            </a:pPr>
            <a:r>
              <a:rPr sz="900" b="1">
                <a:solidFill>
                  <a:srgbClr val="B66A00"/>
                </a:solidFill>
              </a:rPr>
              <a:t>No approval ladder for cancellation. Status decides the answer.</a:t>
            </a:r>
          </a:p>
        </p:txBody>
      </p:sp>
    </p:spTree>
    <p:extLst>
      <p:ext uri="{BB962C8B-B14F-4D97-AF65-F5344CB8AC3E}">
        <p14:creationId xmlns:p14="http://schemas.microsoft.com/office/powerpoint/2010/main" val="2141321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5E2491-6AEC-4014-9C2E-22522402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EB11A-2587-49F8-AFD6-6BA29FE0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What this SOP covers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7E346-9B83-4FA4-982C-FACF7845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44DBD-8FF4-4EF7-BA46-F6A4D89E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E5190-02BC-44DF-9544-E0A0341A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EE1D20-04E2-44D1-B12D-3C90CD4DB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3911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A0BF9-6F6C-4F44-B248-C34C0AB0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685925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5A"/>
                </a:solidFill>
              </a:defRPr>
            </a:pPr>
            <a:r>
              <a:rPr sz="1500" b="1">
                <a:solidFill>
                  <a:srgbClr val="17245A"/>
                </a:solidFill>
              </a:rPr>
              <a:t>In scope — cancellation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C0059-424C-40F6-B275-4A230846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000250"/>
            <a:ext cx="483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The customer wants to stop the order before CJ moves forward.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92FAC8-58FD-4C3D-9F61-2486BF34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3431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879"/>
                </a:solidFill>
              </a:defRPr>
            </a:pPr>
            <a:r>
              <a:rPr sz="1200" b="1">
                <a:solidFill>
                  <a:srgbClr val="009879"/>
                </a:solidFill>
              </a:rPr>
              <a:t>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70A5E-D446-431C-A2BD-CFF7BFD4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3431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Buyer changed mind before CJ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DDEE87-1C8C-45F1-9FC2-572E00BFA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622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879"/>
                </a:solidFill>
              </a:defRPr>
            </a:pPr>
            <a:r>
              <a:rPr sz="1200" b="1">
                <a:solidFill>
                  <a:srgbClr val="009879"/>
                </a:solidFill>
              </a:rPr>
              <a:t>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3B93B5-7FF9-414B-B4CD-9A0B0CCF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Wrong size, colour, SKU, or quantity before CJ order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848CAF-527C-45C4-A190-FD609338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813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879"/>
                </a:solidFill>
              </a:defRPr>
            </a:pPr>
            <a:r>
              <a:rPr sz="1200" b="1">
                <a:solidFill>
                  <a:srgbClr val="009879"/>
                </a:solidFill>
              </a:rPr>
              <a:t>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10146-CAC9-4CAE-85E9-27AD4B0B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1813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Wrong address before CJ order or CJ IN_CART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07F1F9-6818-4AE8-8FA7-9226F781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6004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879"/>
                </a:solidFill>
              </a:defRPr>
            </a:pPr>
            <a:r>
              <a:rPr sz="1200" b="1">
                <a:solidFill>
                  <a:srgbClr val="009879"/>
                </a:solidFill>
              </a:rPr>
              <a:t>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E89AA4-BF63-4141-9CFB-33589A55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36004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Duplicate order before CJ order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BB45C5-9328-422D-B27F-EF02A428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0195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879"/>
                </a:solidFill>
              </a:defRPr>
            </a:pPr>
            <a:r>
              <a:rPr sz="1200" b="1">
                <a:solidFill>
                  <a:srgbClr val="009879"/>
                </a:solidFill>
              </a:rPr>
              <a:t>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FC9454-DACA-4708-8966-C3C847C1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0195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Payment captured, no CJ order yet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FDD720-C930-410C-B0AA-00CFA144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4386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9879"/>
                </a:solidFill>
              </a:defRPr>
            </a:pPr>
            <a:r>
              <a:rPr sz="1200" b="1">
                <a:solidFill>
                  <a:srgbClr val="009879"/>
                </a:solidFill>
              </a:rPr>
              <a:t>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9C8183-8A74-43D1-954B-40E50CB7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386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CJ order still CREATED / IN_CART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21FBFC-FD18-459C-88DA-16A19E121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66850"/>
            <a:ext cx="53911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FFC5B2-AD7D-48D0-9AD9-902672B7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85925"/>
            <a:ext cx="48387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8324D"/>
                </a:solidFill>
              </a:defRPr>
            </a:pPr>
            <a:r>
              <a:rPr sz="1500" b="1">
                <a:solidFill>
                  <a:srgbClr val="C8324D"/>
                </a:solidFill>
              </a:rPr>
              <a:t>Handled by different SOP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7D7344-5F1B-433D-AB23-8669CCB12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000250"/>
            <a:ext cx="4838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Valid customer issues, but not cancellation after the gate closes.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EACF95-47E2-4F19-8DB2-4410F1EB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3431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24D"/>
                </a:solidFill>
              </a:defRPr>
            </a:pPr>
            <a:r>
              <a:rPr sz="1200" b="1">
                <a:solidFill>
                  <a:srgbClr val="C8324D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7CB7EC-D654-4F29-9CCB-D6F6D6D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3431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CJ UNPAID, UNSHIPPED, PENDING, PROCESSING, SHIPPED, or DELIVERED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0B4B2B-3219-47D5-A235-7D3C1BCD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7622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24D"/>
                </a:solidFill>
              </a:defRPr>
            </a:pPr>
            <a:r>
              <a:rPr sz="1200" b="1">
                <a:solidFill>
                  <a:srgbClr val="C8324D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A96C9A-EFEB-4099-B81F-E12453AF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7622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Damaged, wrong, missing, defective, unsafe, not as described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93716E-1F44-47C6-89FA-CB4B7371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1813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24D"/>
                </a:solidFill>
              </a:defRPr>
            </a:pPr>
            <a:r>
              <a:rPr sz="1200" b="1">
                <a:solidFill>
                  <a:srgbClr val="C8324D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24569C-4302-458A-A1F8-7944628B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1813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Lost shipment, delivered-but-not-received, or delivery exception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A22191-FF02-4019-A6FB-7D03F8FA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3600450"/>
            <a:ext cx="2762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8324D"/>
                </a:solidFill>
              </a:defRPr>
            </a:pPr>
            <a:r>
              <a:rPr sz="1200" b="1">
                <a:solidFill>
                  <a:srgbClr val="C8324D"/>
                </a:solidFill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FD21EB-8AD3-4C6F-B214-139933AF6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600450"/>
            <a:ext cx="439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45A"/>
                </a:solidFill>
              </a:defRPr>
            </a:pPr>
            <a:r>
              <a:rPr sz="1050" b="0">
                <a:solidFill>
                  <a:srgbClr val="17245A"/>
                </a:solidFill>
              </a:rPr>
              <a:t>Chargeback, duplicate charge, overcharge, or refund not received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EE564D-6159-4932-BB99-1A5DC09E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B1B2B1B-F8AE-4773-8A28-0527F8FC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054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ENTRY POINT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67A3AC-6F19-4F27-BA84-C3737D3D6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76850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My Orders → Select Order → Request Cancellation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1C9944-A76F-4E2D-98D6-86691DE5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9D6E37-9532-4756-ABDC-A0942AB9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NEVER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1B9DA0-FBBD-4F9D-B6C9-71295D8C8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9597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4D"/>
                </a:solidFill>
              </a:defRPr>
            </a:pPr>
            <a:r>
              <a:rPr sz="900" b="1">
                <a:solidFill>
                  <a:srgbClr val="C8324D"/>
                </a:solidFill>
              </a:rPr>
              <a:t>Do not ask for approval to cancel beyond the CJ cancelable statuses. It is already no.</a:t>
            </a:r>
          </a:p>
        </p:txBody>
      </p:sp>
    </p:spTree>
    <p:extLst>
      <p:ext uri="{BB962C8B-B14F-4D97-AF65-F5344CB8AC3E}">
        <p14:creationId xmlns:p14="http://schemas.microsoft.com/office/powerpoint/2010/main" val="15502151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A6006A4-CDF6-4B79-ADF9-103C045A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CANCELLATION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A7E7E9-7C4A-439E-878C-F10543DF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Only CJ CREATED and IN_CART are cancellable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F9C49-22AA-40BE-91F2-1C8397BB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FCEF0F-6E60-4071-A46D-86FF81BD3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5D72FC-476A-47C6-A08D-90DCAB09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B9DC5-C1BC-44AE-8909-3A019492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3E7B0C-3080-4104-9C46-4AF51204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4176E7-22C2-482B-8780-0BEA3753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A86E4-D6E3-4328-9F35-91A3126A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No CJ order yet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2A0E85-9599-44F2-87E9-C3AD9A7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Sals3 order exists, but no CJ order has been created.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AF2E54-B283-47F3-9A67-8FA7219D9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194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97EF6-8B4C-4C27-A4DA-0148CE2E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860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 allowed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B0DA02-D6FE-411B-8AE4-7A3F1D0C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478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4341DA-B424-412F-822B-EF52BF494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93B343-C0CC-452C-8C44-37B97877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5540B-30F8-4AE6-9DE1-C8ACE0F0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CREATED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FE5C61-B525-4251-8FF0-50AD578C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CJ order exists, not yet added to cart or confirmed.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E1949-BAB8-48BC-A970-9363903D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7C0D5D3-DF58-4BB4-823C-B97685C9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860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Delete/cancel allowed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CB2511-77FB-4AC5-87F3-B7A81446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478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29AE1-5538-4BED-A9F1-EBB3C43A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668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3AABF9-7485-4252-8B6C-3C18317D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62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E485A0-BC33-491C-A655-723F3AFA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IN_CART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1A4AE7-6B19-471D-BCF4-53748B1D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Order is in cart and waiting for confirmation.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C0F4F2-54DE-4866-86C0-0CC5E0A6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194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8275DF-52A3-486F-96C0-35EB862A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Delete/cancel allowed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7A29A5-57EC-4EFB-8342-735E2B8B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A30788-5B70-4281-91AB-8350B692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705B80-D789-41B9-85E8-E96A66EE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33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20755A-42A3-4E35-A4C1-53666C68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24D"/>
                </a:solidFill>
              </a:defRPr>
            </a:pPr>
            <a:r>
              <a:rPr sz="1275" b="1">
                <a:solidFill>
                  <a:srgbClr val="C8324D"/>
                </a:solidFill>
              </a:rPr>
              <a:t>CJ UNPAID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C2D960-2121-49CD-B1BA-601A3D43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148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Order is confirmed and CJ order number exists.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3B1B43-778C-4181-A573-7C096509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911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163A71-239C-4F1D-9F1E-666EEE95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577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Not cancellable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544ED8F-39E2-4933-AC27-3845F2C8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77DCF1-03BA-4AF6-ADAF-C2826A2E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385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95DB19-9870-4675-8702-6FE22F0B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3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9978CE-3C76-4C1B-B4D5-DB88C336E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24D"/>
                </a:solidFill>
              </a:defRPr>
            </a:pPr>
            <a:r>
              <a:rPr sz="1275" b="1">
                <a:solidFill>
                  <a:srgbClr val="C8324D"/>
                </a:solidFill>
              </a:rPr>
              <a:t>CJ UNSHIPPED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957E11-0274-4518-AB2C-D23C9386E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148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Paid and waiting shipment: PENDING or PROCESSING.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13D833-2FA1-4972-9274-80AD1BC0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552664-DDA6-42C8-BF59-C37676EF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577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Not cancellable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FA794E1-C284-4B4C-8392-9A74954F8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AC228C-D8FD-4272-AA8B-BBD56A8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385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D5B485-6909-4307-86AB-209BED80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33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529ADC-2149-4293-A494-81D1156D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24D"/>
                </a:solidFill>
              </a:defRPr>
            </a:pPr>
            <a:r>
              <a:rPr sz="1275" b="1">
                <a:solidFill>
                  <a:srgbClr val="C8324D"/>
                </a:solidFill>
              </a:rPr>
              <a:t>CJ SHIPPED / DELIVERED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3FD6533-8248-4D56-B16D-AA52DFC0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148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In transit, out for delivery, doorstep delivered, or delivered.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E0652-6CBE-4AD3-A3AA-6043693C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911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27B7254-26B1-4BA4-9C04-413104FE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577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Not cancellable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444832-9930-4082-BF98-7D174DA5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31BE60A-13D8-4499-B006-1452BA5D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REMEMBER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4CC5F30-7E50-4FA6-B09D-BBDD7796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9597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The cancellation window ends after CJ IN_CART. From CJ UNPAID onward, cancellation is closed.</a:t>
            </a:r>
          </a:p>
        </p:txBody>
      </p:sp>
    </p:spTree>
    <p:extLst>
      <p:ext uri="{BB962C8B-B14F-4D97-AF65-F5344CB8AC3E}">
        <p14:creationId xmlns:p14="http://schemas.microsoft.com/office/powerpoint/2010/main" val="20119560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0A92A3-678C-410D-B1CB-206B6474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CANCELLATION WINDOW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E482C4-D5DF-4055-958D-B68D1B12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How late a request can still be accepted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2D6B6-7FBD-4E82-824D-005B9A02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EA371F-9B2E-4F64-97C8-E666BA80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20A8F8-1419-40AF-8C28-6D1514E5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6A47F2-98B7-4E49-8AEF-CEFAB0BE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85900"/>
            <a:ext cx="53911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FB75C6-9388-4A18-B38A-6A4DB8AB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57350"/>
            <a:ext cx="2190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45A"/>
                </a:solidFill>
              </a:defRPr>
            </a:pPr>
            <a:r>
              <a:rPr sz="2700" b="1">
                <a:solidFill>
                  <a:srgbClr val="17245A"/>
                </a:solidFill>
              </a:rPr>
              <a:t>Open window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4032B8-59B7-4CB5-AFE6-C5AD12FA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8478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45A"/>
                </a:solidFill>
              </a:defRPr>
            </a:pPr>
            <a:r>
              <a:rPr sz="975" b="1">
                <a:solidFill>
                  <a:srgbClr val="17245A"/>
                </a:solidFill>
              </a:rPr>
              <a:t>No CJ order yet</a:t>
            </a:r>
          </a:p>
          <a:p xmlns:a="http://schemas.openxmlformats.org/drawingml/2006/main">
            <a:pPr algn="l">
              <a:defRPr sz="975" b="1">
                <a:solidFill>
                  <a:srgbClr val="17245A"/>
                </a:solidFill>
              </a:defRPr>
            </a:pPr>
            <a:r>
              <a:rPr sz="975" b="1">
                <a:solidFill>
                  <a:srgbClr val="17245A"/>
                </a:solidFill>
              </a:rPr>
              <a:t>or CJ IN_CART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ABE4E-6F29-43B2-92FA-E4863F4A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4838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45A"/>
                </a:solidFill>
              </a:defRPr>
            </a:pPr>
            <a:r>
              <a:rPr sz="900" b="0">
                <a:solidFill>
                  <a:srgbClr val="17245A"/>
                </a:solidFill>
              </a:rPr>
              <a:t>No CJ order yet  ·  CJ CREATED  ·  CJ IN_CART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56E1EA-F1A5-49B8-93F4-0D0CF311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6479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418F7-3F56-4711-9B78-E7B88D76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9925"/>
            <a:ext cx="2495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Cancelable statuses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045E5C-9D54-44B8-B69B-7F085463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85900"/>
            <a:ext cx="53911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720F01-CE13-44AB-BBA3-77F6F0AE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733550"/>
            <a:ext cx="238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C8324D"/>
                </a:solidFill>
              </a:defRPr>
            </a:pPr>
            <a:r>
              <a:rPr sz="2700" b="1">
                <a:solidFill>
                  <a:srgbClr val="C8324D"/>
                </a:solidFill>
              </a:rPr>
              <a:t>Closed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EEFA93-DBF9-44CD-B6EB-527B0A3E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478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8324D"/>
                </a:solidFill>
              </a:defRPr>
            </a:pPr>
            <a:r>
              <a:rPr sz="1050" b="1">
                <a:solidFill>
                  <a:srgbClr val="C8324D"/>
                </a:solidFill>
              </a:rPr>
              <a:t>CJ UNPAID</a:t>
            </a:r>
          </a:p>
          <a:p xmlns:a="http://schemas.openxmlformats.org/drawingml/2006/main">
            <a:pPr algn="l">
              <a:defRPr sz="1050" b="1">
                <a:solidFill>
                  <a:srgbClr val="C8324D"/>
                </a:solidFill>
              </a:defRPr>
            </a:pPr>
            <a:r>
              <a:rPr sz="1050" b="1">
                <a:solidFill>
                  <a:srgbClr val="C8324D"/>
                </a:solidFill>
              </a:rPr>
              <a:t>onward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B6BF6C-A116-4BC2-A8CA-4260A575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90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324D"/>
                </a:solidFill>
              </a:defRPr>
            </a:pPr>
            <a:r>
              <a:rPr sz="825" b="0">
                <a:solidFill>
                  <a:srgbClr val="C8324D"/>
                </a:solidFill>
              </a:rPr>
              <a:t>UNPAID, UNSHIPPED, PENDING, PROCESSING, SHIPPED, DELIVERED, refused, or unclaimed.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E68BC-FEFE-4C8E-A2A1-71CA8401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289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C8324D"/>
                </a:solidFill>
              </a:defRPr>
            </a:pPr>
            <a:r>
              <a:rPr sz="825" b="0">
                <a:solidFill>
                  <a:srgbClr val="C8324D"/>
                </a:solidFill>
              </a:rPr>
              <a:t>Decline cancellation. Route to support, delivery, return, or item-problem SOP.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2D40F-D96F-4694-8334-A7F01F49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766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3B1F4D-72AC-47D2-A15E-B424D0965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CUSTOMER-FACING WORDING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CC1D98-12A7-44CC-B88C-1153F409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“I checked the order status. It has already moved past the cancellation window, so we can’t cancel it now.”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B0B744-3196-4540-9023-1DD192DB7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B5762C-4D27-447B-8891-274991F5E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HOLD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7AD038-7341-4EE3-B065-363B434E1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81600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6A00"/>
                </a:solidFill>
              </a:defRPr>
            </a:pPr>
            <a:r>
              <a:rPr sz="900" b="1">
                <a:solidFill>
                  <a:srgbClr val="B66A00"/>
                </a:solidFill>
              </a:rPr>
              <a:t>No approval is needed. Once CJ is beyond CREATED / IN_CART, cancellation is closed.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DDE4BF-FF15-46E1-8826-443D8FF5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EAE0E-F13F-4320-B15C-A85CD12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9230BC-684B-4D6B-B40C-7B652652B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007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Check fresh Sals3 and CJ status before answering. If status data is stale, sync first, then apply the same gate.</a:t>
            </a:r>
          </a:p>
        </p:txBody>
      </p:sp>
    </p:spTree>
    <p:extLst>
      <p:ext uri="{BB962C8B-B14F-4D97-AF65-F5344CB8AC3E}">
        <p14:creationId xmlns:p14="http://schemas.microsoft.com/office/powerpoint/2010/main" val="18789323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40D945-0897-43C3-A0B0-8BCE4FAD4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CASE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874CF-9821-4797-961B-A4C11B0C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What we need before deciding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54D824-4C18-4B41-9CFC-2CFC41A9A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A23A23-E803-432C-B733-E4A81D61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BBE46-76AF-4D36-911F-C6C26D49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C866A9-06DC-432D-9A08-16355994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9FC7A-FBA8-4FC3-924C-8E5CE0BE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F1371-8366-4AA6-8F96-9D1168C88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68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0E59B-77C6-42AF-9364-07B3591C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Order identifiers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3104A-CD70-4FF7-A436-CD8BBCA0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Sals3 order ID, order line ID, customer ID, and CJ order ID if already created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A82EF-DFC8-48FF-B234-816895A9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060456-3405-4FE0-99F8-3DB4F508A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86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0644DA-AD29-4E35-9197-F3F403C6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948BBD-297F-45CF-8FEE-F88F1E9E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Payment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C9EC0A-2434-4227-A41B-DAB98A59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Stripe charge, payment intent, capture status, and refund or void eligibility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618652-E217-47EC-9334-CAFC06E2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EA2FDD-212C-406E-910A-1DA003AF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908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AA58FC-7190-48FC-9D64-53AE88D4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1DEBB0-77B6-4B91-8E3B-D5F86F57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EE25D5-9A73-4C41-B376-130C0A9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No CJ order, CREATED, IN_CART, UNPAID, UNSHIPPED, SHIPPED, DELIVERED, or CANCELLED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3B1E72-3CF1-4237-8C57-A681CDA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B0A1AC-1391-4D8A-9B33-372F3F60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95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8D8F49-D555-41F2-B6B4-9C70CBF8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814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696859-3836-4CED-BD9D-82D9C26C8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Customer 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5AA398-6290-4375-8A94-C635A5BBB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Change of mind, wrong details, duplicate order, address issue, or cannot wait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2B127D-CCC3-4492-B3AD-CFC7DEE2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BEC67C-B29A-46CF-A7BE-9C82BA85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005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43E57C-1100-4838-A219-9DB4CC6B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862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31D8C3-D815-4EB5-83F1-79411D108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Closed status case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6C9E19-0875-4F2E-8C3D-B0A02F775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960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UNPAID onward, tracking number, carrier scan, delivery attempt, doorstep proof, refusal or unclaimed flag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A4037-4A84-4D54-A305-AA5EE2CE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069ED7-4405-45D8-8565-8BD95CE8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A37E7F-A090-478C-891C-C78D858F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911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929B03-72B2-44B2-B447-C4A7FD4D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Decision trail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7931D9-1914-400D-B38B-273F17F3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Actor, timestamp, customer message, refund id if any, CJ action, and policy version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4CB22D-0AB9-4D51-95ED-06DA85CB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DFD13E-A226-49F2-A45B-8E76D31D5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IN EVERY CASE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CE6F7-4E77-40AF-B4E3-3DA7B276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50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No cancellation decision without a fresh CJ status check. The status snapshot is stored on the case record.</a:t>
            </a:r>
          </a:p>
        </p:txBody>
      </p:sp>
    </p:spTree>
    <p:extLst>
      <p:ext uri="{BB962C8B-B14F-4D97-AF65-F5344CB8AC3E}">
        <p14:creationId xmlns:p14="http://schemas.microsoft.com/office/powerpoint/2010/main" val="10177836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4686836-61B8-4D94-913F-8AAF1FC6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NO APPROVAL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22ECA1-BE5D-495A-87BE-36CE2212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Cancellation is not a judgment call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CCF3B-8AD2-4C74-93F3-762750A3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Base rule: if the status is cancelable, cancel; if not, decline and route.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275E95-C9A8-4BFA-B2AB-FC2CFCAF8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14E136-D651-4CD9-9A8A-1572DD3D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FF11DC-C32B-4784-9650-C5D6F4E93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CD8F38-31AD-458C-9AFA-415F9AD2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478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3158B-29DE-4AA8-BAA7-85569A8F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6668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7C9936-BB34-49D4-8CF5-5F28D0AC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762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ACD52-9538-44C2-AF13-6A8C67EB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No CJ order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C105D-650C-4A53-9DC7-A6C484C8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Stop fulfilment worker, close order, refund if charged.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4409E4-5C2C-4B0B-9EB2-F83E8D66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8194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7F8A2-1ACD-4868-88E8-19269D56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8860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System / Agent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4F7F5D-ABD0-40F4-AC10-3382C202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478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4367D-37B6-4272-835F-ADDC202B3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6668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0ADF9-C672-4CC0-BACD-26F996B7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CB3F9-531C-4096-B815-FD88A2F4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CREATED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AC7D87-013B-46A8-AE1A-0B9CE8E0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Call CJ delete/cancel path, confirm success, then refund if charged.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1731E-6BD8-4C09-A971-7960C93C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194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8ACE04-405E-41E1-8A1C-EFC87955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8860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System / Agent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14E9E4-B746-41F8-B00D-22AE6493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4478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72340-D2EC-43EB-94D2-9707651B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6668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2C629D-658C-4ACE-BFE2-24EA45E7F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62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689034-CAA9-4774-8539-6594E618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668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IN_CART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5BFDBE-8176-4D72-9A52-7D2B904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1431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Remove from cart / delete before confirmation; then refund if charged.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0DAD5-1568-4CB9-80FE-55AB2EEE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8194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87525-4139-4442-997F-0986CE0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8860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System / Agent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035C94-0ACB-4E91-A8BD-AC9E83AA4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B9C173-5760-4752-8FC5-47A2E4F1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385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2583D9-3E77-4CC6-9F82-0CF6ACFD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933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960FCE-605F-41D7-9544-D2514D0E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24D"/>
                </a:solidFill>
              </a:defRPr>
            </a:pPr>
            <a:r>
              <a:rPr sz="1275" b="1">
                <a:solidFill>
                  <a:srgbClr val="C8324D"/>
                </a:solidFill>
              </a:rPr>
              <a:t>CJ UNPAID+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05C2A8D-4488-4649-8A23-AF087BE1D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3148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UNPAID, UNSHIPPED, PENDING, PROCESSING, SHIPPED, DELIVERED.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3A5218-04F2-4AC2-8AA3-132677D2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9911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27164D-DE01-4F45-86BD-D57BB1E8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50577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No approval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61537C0-1546-4C3B-A2A3-16DBF008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FB718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54091-F217-4D98-9908-DAE59D1C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385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410E13-FBC6-4675-8E32-B68DF41C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33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82C27F-8208-4AFA-AEEC-B81EB5CD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8324D"/>
                </a:solidFill>
              </a:defRPr>
            </a:pPr>
            <a:r>
              <a:rPr sz="1275" b="1">
                <a:solidFill>
                  <a:srgbClr val="C8324D"/>
                </a:solidFill>
              </a:rPr>
              <a:t>Buyer pushback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83FF764-C727-4BA1-A26B-38616276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148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Explain the status gate and route the issue.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D21AC0C-B3B9-48A6-9A2C-401AFF92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9911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6F3557-DE1A-46EE-8616-9B3273D15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577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Do not override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AA5D0E-9AAB-47F4-8505-8C7B9030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19500"/>
            <a:ext cx="3524250" cy="1924050"/>
          </a:xfrm>
          <a:prstGeom xmlns:a="http://schemas.openxmlformats.org/drawingml/2006/main" prst="roundRect">
            <a:avLst>
              <a:gd name="adj" fmla="val 396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95F71-8E16-45BF-9DD8-D401A895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838575"/>
            <a:ext cx="3810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66A00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F3A8D8-5B9A-45C5-B0D0-FCD0C5C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9338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385030-9415-449F-9F39-86EFD12A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838575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Recordkeeping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6B422B-B818-464A-8F59-DBD25AE8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31482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F5E7C"/>
                </a:solidFill>
              </a:defRPr>
            </a:pPr>
            <a:r>
              <a:rPr sz="900" b="0">
                <a:solidFill>
                  <a:srgbClr val="4F5E7C"/>
                </a:solidFill>
              </a:rPr>
              <a:t>Record the decision per order line with current CJ status.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06ED97-2BAA-41AC-AD9D-EA1F087C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991100"/>
            <a:ext cx="3048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671E413-6FA0-485A-9552-53C0F13A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57775"/>
            <a:ext cx="2895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Required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F5BC254-50E7-4BE4-B1C7-DE118C8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74BC6E7-BE96-4EC7-A373-0A927F6B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DECLINE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D6455D-8A87-49AA-A65B-563CC763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9597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4D"/>
                </a:solidFill>
              </a:defRPr>
            </a:pPr>
            <a:r>
              <a:rPr sz="900" b="1">
                <a:solidFill>
                  <a:srgbClr val="C8324D"/>
                </a:solidFill>
              </a:rPr>
              <a:t>If the buyer pushes back, explain the status gate and route the issue. Do not escalate to approve cancellation.</a:t>
            </a:r>
          </a:p>
        </p:txBody>
      </p:sp>
    </p:spTree>
    <p:extLst>
      <p:ext uri="{BB962C8B-B14F-4D97-AF65-F5344CB8AC3E}">
        <p14:creationId xmlns:p14="http://schemas.microsoft.com/office/powerpoint/2010/main" val="2411688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416714-6CEC-47BB-A375-CB5126DC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AGENT ACTION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417F6-F24D-4170-AEF6-FC347B7E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What an agent can do immediately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C89C71-0D03-4ECD-98EC-BD3B34F14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29EA0-1B8B-482A-82C8-9886E36A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63475-69D4-40B3-9C73-F4ED455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4A6421-C920-4047-9A93-584A0C83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6A2D56-F1A4-404B-882E-944DD523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811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FCDAB-3F1F-484C-B93E-A485D1904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668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C23036-9795-4FDF-A05E-30151981E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5621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Draft / checkout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43DEDA-237E-45FC-AC21-F677004C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Close order; no refund needed because no charge was captured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A39022-A709-486E-B17C-E34C2F93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717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CDCA04-EE9C-4E04-A4C0-18D146A0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860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32BA7-3D3F-4429-8A59-F2A46C8F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3717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5BA16-DDA2-4BC2-9CF6-7E747E8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2669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Paid, no CJ 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44D271-D8C7-4DD7-8E00-4A0353D3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Stop worker; refund through Stripe after cancellation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25DA5-D159-4AF4-B361-E43A48874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9DD01-7D6E-494D-83CB-CDD0C4FF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908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3E46A-CC06-4694-8229-2896565E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765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42A993-7295-4D28-BCAE-B6C0BACA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718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CREATED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1E155C-2D2A-4AFE-8DB2-E633BF15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0990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Delete/cancel in CJ; confirm CJ result before refunding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DAE43-532E-451A-A99B-26C90AC7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814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F45AD3-B6B4-43AB-99E8-CB9CE3F3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957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CCF690-3B6C-4A0C-A9AA-D1060581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7814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55F52-ECB9-4A62-9241-501724464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IN_CART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16B492-FAFC-42AA-B237-5A802F17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71475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Delete/remove from cart; confirm CJ result before refunding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C6237F-53D6-43E0-A00A-ED58E829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FC9603-E1C5-44DE-8551-036E3F5B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005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BCC4D-3E29-4A6A-975E-929735BC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4862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62766-6142-4925-A3D0-4C8F1795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815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CJ UNPAID onward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F84DC6-E741-4747-9394-F6B9C9BBD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1960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Decline cancellation without seeking approval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12A10FD-ECA3-494D-8C75-B723D09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911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A33F7D-0BF0-41C4-A0DA-134EF4ED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054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A06757-7156-48C0-A340-6845A4557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1911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7A9965-3D91-4B15-BDE0-D2297916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45A"/>
                </a:solidFill>
              </a:defRPr>
            </a:pPr>
            <a:r>
              <a:rPr sz="1275" b="1">
                <a:solidFill>
                  <a:srgbClr val="17245A"/>
                </a:solidFill>
              </a:rPr>
              <a:t>Customer message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EF1C99-FBE9-4604-91A5-39A0035F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24450"/>
            <a:ext cx="8172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Send confirmation if cancelled, or status-gate explanation if declined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6F81C0-1671-47EA-B6BE-AFAA72D9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C48435-B964-438B-805F-00D4B56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AND ALWAYS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519AF14-544D-4F7F-B617-DF41168D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50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Refund the buyer through Stripe or the original payment path only after a valid cancellation succeeds.</a:t>
            </a:r>
          </a:p>
        </p:txBody>
      </p:sp>
    </p:spTree>
    <p:extLst>
      <p:ext uri="{BB962C8B-B14F-4D97-AF65-F5344CB8AC3E}">
        <p14:creationId xmlns:p14="http://schemas.microsoft.com/office/powerpoint/2010/main" val="2541174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A5179C-84BF-44F3-961C-DE075A89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STATUS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FDEB-4B1D-46F4-A1E5-56A42E4C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How status changes the answer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263B90-C3D8-4C17-9E3A-EBF94B90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98321D-EBD2-4B05-A5DE-7365E106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54A04-86CA-4130-8F46-1E976480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21F3B-71DE-493C-90F8-DD2C920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723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2EB15-C2C4-4DAD-A4F2-A61286F4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52575"/>
            <a:ext cx="3524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7955D-909F-463E-A5B8-F3117328A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192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 allowed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0D9D0-1ADB-46E7-B422-AC60418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287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5A"/>
                </a:solidFill>
              </a:defRPr>
            </a:pPr>
            <a:r>
              <a:rPr sz="1125" b="1">
                <a:solidFill>
                  <a:srgbClr val="17245A"/>
                </a:solidFill>
              </a:rPr>
              <a:t>No CJ order exists and fulfilment worker can be stopped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437BB-9248-4499-88A5-5780DE1D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81225"/>
            <a:ext cx="723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1A8DD-539C-4DA2-B107-EEBFC017A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57425"/>
            <a:ext cx="3524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EFAABC-58F4-4295-B19A-16C152DE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 allowed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A8C8B-426F-4712-9064-DB4AF44D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336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5A"/>
                </a:solidFill>
              </a:defRPr>
            </a:pPr>
            <a:r>
              <a:rPr sz="1125" b="1">
                <a:solidFill>
                  <a:srgbClr val="17245A"/>
                </a:solidFill>
              </a:rPr>
              <a:t>CJ status is CREATED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B906CE-7465-482D-AFB4-14B8CBBA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86075"/>
            <a:ext cx="723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3263F-BB15-4DF9-A5FA-F6276CF2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62275"/>
            <a:ext cx="3524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0801D1-40DD-4421-AE3D-A567830FA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 allowed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22849-CE2C-4C3C-9751-2EB76087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384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5A"/>
                </a:solidFill>
              </a:defRPr>
            </a:pPr>
            <a:r>
              <a:rPr sz="1125" b="1">
                <a:solidFill>
                  <a:srgbClr val="17245A"/>
                </a:solidFill>
              </a:rPr>
              <a:t>CJ status is IN_CART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669B4-6C07-4B43-8F7C-C10E170B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90925"/>
            <a:ext cx="723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195CA-65A6-4495-B72C-94FC6E4B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67125"/>
            <a:ext cx="3524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1E3E2D-2440-4A0A-9097-57462FA2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338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Decline cancellation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B95D9-9A50-4273-A1C3-D0E352C7E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5A"/>
                </a:solidFill>
              </a:defRPr>
            </a:pPr>
            <a:r>
              <a:rPr sz="1125" b="1">
                <a:solidFill>
                  <a:srgbClr val="17245A"/>
                </a:solidFill>
              </a:rPr>
              <a:t>CJ status is UNPAID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251D7-30DF-440B-9468-DE65A0893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95775"/>
            <a:ext cx="723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AF7C72-B9E9-4001-B565-A5EBCD88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71975"/>
            <a:ext cx="3524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6F3201-5F2E-47F3-92B2-544B636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Decline cancellation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B53C56-7EF1-40A0-9AF4-1FB881A6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481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5A"/>
                </a:solidFill>
              </a:defRPr>
            </a:pPr>
            <a:r>
              <a:rPr sz="1125" b="1">
                <a:solidFill>
                  <a:srgbClr val="17245A"/>
                </a:solidFill>
              </a:rPr>
              <a:t>CJ status is UNSHIPPED, PENDING or PROCESSING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F067CF-93FB-4E68-9703-0A4BB7C1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00625"/>
            <a:ext cx="72390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603652-F1FE-40E2-830D-B3D00C31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76825"/>
            <a:ext cx="3524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2C3E9-7005-4A56-8941-68672096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43500"/>
            <a:ext cx="3371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Decline cancellation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8B0AD-7021-4458-86F6-F9690583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530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45A"/>
                </a:solidFill>
              </a:defRPr>
            </a:pPr>
            <a:r>
              <a:rPr sz="1125" b="1">
                <a:solidFill>
                  <a:srgbClr val="17245A"/>
                </a:solidFill>
              </a:rPr>
              <a:t>CJ status is SHIPPED, DELIVERED, CANCELLED or REFUNDED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8A3F952-568A-4C74-B39B-56CA3594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816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B3DAA7-9BA9-4A29-B0F4-2730226E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436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READ THIS TWICE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FA7A32-FE0E-4E26-964D-98DD0B4A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150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4D"/>
                </a:solidFill>
              </a:defRPr>
            </a:pPr>
            <a:r>
              <a:rPr sz="900" b="1">
                <a:solidFill>
                  <a:srgbClr val="C8324D"/>
                </a:solidFill>
              </a:rPr>
              <a:t>No approval, no exception path inside cancellation SOP. Route non-cancellation issues to their proper SOP.</a:t>
            </a:r>
          </a:p>
        </p:txBody>
      </p:sp>
    </p:spTree>
    <p:extLst>
      <p:ext uri="{BB962C8B-B14F-4D97-AF65-F5344CB8AC3E}">
        <p14:creationId xmlns:p14="http://schemas.microsoft.com/office/powerpoint/2010/main" val="6437000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6D8716-43DB-4978-81AF-B1EF8773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THE HARD RULE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373326-A826-40D5-AC13-08CA0146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Once shipped, it is not cancellation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CEA51-2FB9-4EFE-A225-277D05CF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69AD39-7719-4E67-8A8E-1CFF5076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F74AB9-75E9-4BAF-BB56-BE076FC7D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C239C-6BE8-40B1-8BEC-5E8A0FC3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5A"/>
                </a:solidFill>
              </a:defRPr>
            </a:pPr>
            <a:r>
              <a:rPr sz="1500" b="1">
                <a:solidFill>
                  <a:srgbClr val="17245A"/>
                </a:solidFill>
              </a:rPr>
              <a:t>Once a carrier has the package, the cancellation window is closed. The next workflow is return/support, not order cancellation.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12047-8758-43D8-BFD2-FC70C2DAD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238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D366E-CDD9-4DC3-A12F-FC52F380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526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Cancel before CJ UNPAID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D6F3AD-C0EB-474E-AFF4-402E1B2AB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286000"/>
            <a:ext cx="3238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8C4E36-4BA1-4623-8892-E6443BA6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526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Decline from CJ UNPAID onward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A8D562-FF87-4042-A109-313C41E5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86000"/>
            <a:ext cx="3238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D2A712-00AB-44C0-AF9A-0B436E89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526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Return/support after shipment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895CC2-B43E-48B4-80E5-C1F36D4BE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WHY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37E9F-F8E1-45C2-AD1F-EEB0A2D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766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E7C"/>
                </a:solidFill>
              </a:defRPr>
            </a:pPr>
            <a:r>
              <a:rPr sz="1125" b="0">
                <a:solidFill>
                  <a:srgbClr val="4F5E7C"/>
                </a:solidFill>
              </a:rPr>
              <a:t>Refused or unclaimed packages can be lost, destroyed, returned slowly, or treated as customer-caused delivery failure.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50CC4A-7376-46E4-AB0C-5A3AE32B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E7C"/>
                </a:solidFill>
              </a:defRPr>
            </a:pPr>
            <a:r>
              <a:rPr sz="1125" b="0">
                <a:solidFill>
                  <a:srgbClr val="4F5E7C"/>
                </a:solidFill>
              </a:rPr>
              <a:t>If a carrier leaves the item at the doorstep, the buyer has no real chance to refuse.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4CDB8-2E4D-4AB0-9490-9A3BA21B4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76725"/>
            <a:ext cx="1028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F5E7C"/>
                </a:solidFill>
              </a:defRPr>
            </a:pPr>
            <a:r>
              <a:rPr sz="1125" b="0">
                <a:solidFill>
                  <a:srgbClr val="4F5E7C"/>
                </a:solidFill>
              </a:rPr>
              <a:t>Tell the buyer to accept the package, keep it unopened if possible, and contact Support for the correct next workflow.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41BEB2-4337-49F9-8D58-BB27F253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0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BADBDF-C31D-4852-95BF-41BB28CC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01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NO-CANCEL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73605-7961-4647-962B-41D5CEA4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181600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4D"/>
                </a:solidFill>
              </a:defRPr>
            </a:pPr>
            <a:r>
              <a:rPr sz="900" b="1">
                <a:solidFill>
                  <a:srgbClr val="C8324D"/>
                </a:solidFill>
              </a:rPr>
              <a:t>CJ UNPAID  ·  UNSHIPPED/PENDING/PROCESSING  ·  label created  ·  no tracking movement  ·  split package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10FAE2-0142-499D-8F5C-4239FB43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673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9CB692-8C44-4590-84B4-696C4FF0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293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ROUTE ELSEWHERE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773370-38AF-445E-8141-950A8539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007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6A00"/>
                </a:solidFill>
              </a:defRPr>
            </a:pPr>
            <a:r>
              <a:rPr sz="900" b="1">
                <a:solidFill>
                  <a:srgbClr val="B66A00"/>
                </a:solidFill>
              </a:rPr>
              <a:t>Delivered  ·  refused  ·  unclaimed  ·  chargeback/legal threat  ·  safety issue  ·  item problem</a:t>
            </a:r>
          </a:p>
        </p:txBody>
      </p:sp>
    </p:spTree>
    <p:extLst>
      <p:ext uri="{BB962C8B-B14F-4D97-AF65-F5344CB8AC3E}">
        <p14:creationId xmlns:p14="http://schemas.microsoft.com/office/powerpoint/2010/main" val="17887591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48B694-A7C1-4363-A54F-14458E13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DECISION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2A8244-A129-4F25-AE37-3C36050DC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Default action by CJ status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1187B-F235-48B7-8A27-9AD63E7C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B8B4FF-3DF0-4B95-AFC5-5A50CBA7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29127-03B8-48F8-A0D5-AFA5D6C4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3B86F0-EC43-4BE7-BE9A-CF05F16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879"/>
                </a:solidFill>
              </a:defRPr>
            </a:pPr>
            <a:r>
              <a:rPr sz="1125" b="1">
                <a:solidFill>
                  <a:srgbClr val="009879"/>
                </a:solidFill>
              </a:rPr>
              <a:t>No CJ order yet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C1DB7-E4CD-497E-905C-05ED4A43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81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Stop worker + cancel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C070F-C44B-436F-80DA-64D3A2A7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383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879"/>
                </a:solidFill>
              </a:defRPr>
            </a:pPr>
            <a:r>
              <a:rPr sz="1125" b="1">
                <a:solidFill>
                  <a:srgbClr val="009879"/>
                </a:solidFill>
              </a:rPr>
              <a:t>CJ CREATED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323250-23DE-4EB2-9C6A-43FAF640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383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Delete/cancel CJ + refund if charged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EF1F31-A9B2-4530-BB71-9E2B0422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955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9879"/>
                </a:solidFill>
              </a:defRPr>
            </a:pPr>
            <a:r>
              <a:rPr sz="1125" b="1">
                <a:solidFill>
                  <a:srgbClr val="009879"/>
                </a:solidFill>
              </a:rPr>
              <a:t>CJ IN_CART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0B1BF-3E45-4BB4-8A13-D30601FE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2955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Delete/cancel CJ + refund if charged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8DD669-6DEF-489E-A734-684BFA3E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4D"/>
                </a:solidFill>
              </a:defRPr>
            </a:pPr>
            <a:r>
              <a:rPr sz="1125" b="1">
                <a:solidFill>
                  <a:srgbClr val="C8324D"/>
                </a:solidFill>
              </a:rPr>
              <a:t>CJ UNPAID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82EE6B-A0C8-4DA5-BCF9-BA91A9BE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527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Decline cancellation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F18AF-5DA9-4E23-AFE2-CE0658956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4D"/>
                </a:solidFill>
              </a:defRPr>
            </a:pPr>
            <a:r>
              <a:rPr sz="1125" b="1">
                <a:solidFill>
                  <a:srgbClr val="C8324D"/>
                </a:solidFill>
              </a:rPr>
              <a:t>CJ UNSHIPPED / PENDING /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FA19BB-A85B-49D5-BE44-CB0BD6BC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Decline cancellation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AB9C6-8625-434B-87D5-26497578C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4D"/>
                </a:solidFill>
              </a:defRPr>
            </a:pPr>
            <a:r>
              <a:rPr sz="1125" b="1">
                <a:solidFill>
                  <a:srgbClr val="C8324D"/>
                </a:solidFill>
              </a:rPr>
              <a:t>CJ SHIPPED / DELIVERED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9CA4DD-1B4C-47EE-ABC8-A0544C61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671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Decline + route to support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C2275C-2809-46F4-AD70-C35D47A5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24325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8324D"/>
                </a:solidFill>
              </a:defRPr>
            </a:pPr>
            <a:r>
              <a:rPr sz="1125" b="1">
                <a:solidFill>
                  <a:srgbClr val="C8324D"/>
                </a:solidFill>
              </a:rPr>
              <a:t>Already cancelled/refunded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BC5654-5D08-4091-BF85-72F075CF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1243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45A"/>
                </a:solidFill>
              </a:defRPr>
            </a:pPr>
            <a:r>
              <a:rPr sz="1125" b="0">
                <a:solidFill>
                  <a:srgbClr val="17245A"/>
                </a:solidFill>
              </a:rPr>
              <a:t>No duplicate refund; close with reference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891D93-0BD3-4AA3-9565-1E655184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962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BF7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4005F8-E869-4C8C-AA05-8E74EF5B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8155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CUSTOMER FIRST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BF009-C7E5-4442-985E-4204D960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5297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9879"/>
                </a:solidFill>
              </a:defRPr>
            </a:pPr>
            <a:r>
              <a:rPr sz="900" b="1">
                <a:solidFill>
                  <a:srgbClr val="009879"/>
                </a:solidFill>
              </a:rPr>
              <a:t>If Sals3 has not sent the order to CJ yet, cancel and refund any captured payment through Stripe/original payment.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7BEB69-D7F8-47BD-A965-4BD9933B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BB8BBB-04D9-4C16-8F53-D42DA2E7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006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NEXT SOP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2DECB4-16BA-4B35-9F23-4805A73A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372100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6A00"/>
                </a:solidFill>
              </a:defRPr>
            </a:pPr>
            <a:r>
              <a:rPr sz="900" b="1">
                <a:solidFill>
                  <a:srgbClr val="B66A00"/>
                </a:solidFill>
              </a:rPr>
              <a:t>After CJ UNPAID, route to delivery, return, item-problem, payment, fraud, or legal SOP as needed.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ABC024-4EA0-4764-ACBA-1BB9B026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8578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D6E4A5-C710-42BF-A17F-41A0BA07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9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HARD GATE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0E383E-91F9-46A0-8FD7-E6B27A0B1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9912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4D"/>
                </a:solidFill>
              </a:defRPr>
            </a:pPr>
            <a:r>
              <a:rPr sz="900" b="1">
                <a:solidFill>
                  <a:srgbClr val="C8324D"/>
                </a:solidFill>
              </a:rPr>
              <a:t>CJ CREATED / IN_CART is the last cancellation point.</a:t>
            </a:r>
          </a:p>
        </p:txBody>
      </p:sp>
    </p:spTree>
    <p:extLst>
      <p:ext uri="{BB962C8B-B14F-4D97-AF65-F5344CB8AC3E}">
        <p14:creationId xmlns:p14="http://schemas.microsoft.com/office/powerpoint/2010/main" val="6364251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61D946B-9C3F-4DE9-905C-7FF916344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INTERNAL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36AE2F-38CA-4701-8561-E7B0FAC9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CJ cancel, Stripe refund, and what the case record must hold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6FE28-5EAE-44D0-8EF4-81C7C55F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9810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This runs only while the order is still inside the cancellation gate.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4AEF7E-CA01-4A9B-9EC7-5F6BC65F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5F6AEF-9419-49BA-A847-5D74D5D6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23DAB0-E96C-4597-9923-7F8282B63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EF52C8-92D4-4540-8976-E9F70A9A7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9696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This runs only while the order is still inside the cancellation gate.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29DF44-CF05-4B19-96D8-4CF6CF48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0006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4DEB1F-2061-4620-8929-48AB964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5A"/>
                </a:solidFill>
              </a:defRPr>
            </a:pPr>
            <a:r>
              <a:rPr sz="1500" b="1">
                <a:solidFill>
                  <a:srgbClr val="17245A"/>
                </a:solidFill>
              </a:rPr>
              <a:t>CJ / Stripe 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04555-4B07-4CB6-9D1F-8745484A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431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879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CCECBE-D530-47A8-8E31-2125E47A6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0027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F5948B-BF6F-4D4C-BAEE-608988F9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145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Freeze Sals3 state as CANCEL_REQUESTED.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5383C4-80CD-41C6-AF72-E8881E4A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879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8B65B3-4D3C-4DC2-851C-CE22DFD9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2249D-5325-4E11-9717-F77BC980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431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If no CJ order exists, stop fulfilment worker.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144D2F-31C4-4CB1-9EF8-4139FC1D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09879"/>
          </a:solidFill>
          <a:ln xmlns:a="http://schemas.openxmlformats.org/drawingml/2006/main" w="9525">
            <a:solidFill>
              <a:srgbClr val="0098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06519C-6396-4AFB-9B19-B4DD4DA0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EE008-AD21-4E62-AA98-3302A0CC2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718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If CJ is CREATED or IN_CART, delete/cancel in CJ.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97F57-97AF-40B5-A9B2-A30C9F96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29000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4471B-CE57-4CEC-B57C-C0C376DC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4E5107-3995-4474-9AAC-2D106513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004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If CJ is UNPAID or later, decline cancellation and route the case.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730D28-A264-4AB9-B06C-160CA9D9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57625"/>
            <a:ext cx="2667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C8324D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5D57A4-2FAE-4518-B919-203A02BF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14775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9311C7-72B8-4372-A88A-A59A70B6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290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If cancellation succeeds, refund through Stripe/original payment if charged.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D1C684-2F7F-4D0C-BE66-F35A65CD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76375"/>
            <a:ext cx="57340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D5C05-D128-4BB4-A67F-10E24C8D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954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5A"/>
                </a:solidFill>
              </a:defRPr>
            </a:pPr>
            <a:r>
              <a:rPr sz="1500" b="1">
                <a:solidFill>
                  <a:srgbClr val="17245A"/>
                </a:solidFill>
              </a:rPr>
              <a:t>Required case record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02AF69-B2C1-49EC-B067-07B2C543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Case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D9ABAF5-563A-4BA6-BDB6-8B3B3C8F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Order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5D83DE-A0E1-4D49-84DD-2940F7E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Order line ID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8485FD-D470-4251-8A54-F624EF2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09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Sals3 status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FDD238-5955-4449-804A-AE6CAC24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CJ exact status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34A619-FC88-4492-A044-6C8CEC83D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86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Request date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5E76B3-9250-4EF7-8D67-FC137354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24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Policy 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B020E3-256A-497A-835A-DA3B6472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623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Customer reason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F8F2D-6309-4F38-A78D-9EF6F2D45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Stripe charge 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795F87-739D-43CF-9879-641D09BFC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38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Decision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408DFA-8F73-4C0B-BEBF-708225F9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Refund amount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2AA235-FC83-4FD6-844F-74F736432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333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Stripe refund ID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CD70C9C-8828-48DF-9C1E-35EFFE03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Cancel API result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623489-9676-4907-8E7F-5EF890B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098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CJ dispute 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5A2D5AF-78B7-45E4-973E-EB69896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048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CJ final status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525DF6-27E7-4B3E-AAD3-2B04A033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861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No-cancel reason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D7D8D84-68C7-4676-B214-195F52FD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524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Buyer message sent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62B9A37-CD9C-4F50-A050-A50CDCC0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6237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Closing reason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A1AFB5B-BC6C-4ED7-9751-48D5914C8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7245A"/>
                </a:solidFill>
              </a:defRPr>
            </a:pPr>
            <a:r>
              <a:rPr sz="825" b="0">
                <a:solidFill>
                  <a:srgbClr val="17245A"/>
                </a:solidFill>
              </a:rPr>
              <a:t>Timestamps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0969179-039B-43EF-9604-9259C222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95875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1F3"/>
          </a:solidFill>
          <a:ln xmlns:a="http://schemas.openxmlformats.org/drawingml/2006/main" w="9525">
            <a:solidFill>
              <a:srgbClr val="C8324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72A8CAC-9A94-4626-A348-9793D2D4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57800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C8324D"/>
                </a:solidFill>
              </a:defRPr>
            </a:pPr>
            <a:r>
              <a:rPr sz="750" b="1">
                <a:solidFill>
                  <a:srgbClr val="C8324D"/>
                </a:solidFill>
              </a:rPr>
              <a:t>NEVER SAY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FC9AC21-08EF-4ECD-86F1-E61DB3A6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229225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8324D"/>
                </a:solidFill>
              </a:defRPr>
            </a:pPr>
            <a:r>
              <a:rPr sz="900" b="1">
                <a:solidFill>
                  <a:srgbClr val="C8324D"/>
                </a:solidFill>
              </a:rPr>
              <a:t>“Let me ask approval to cancel.” There is no approval path once CJ is beyond CREATED / IN_CART.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42C234-1C79-486A-A546-C9A71D30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110871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9525">
            <a:solidFill>
              <a:srgbClr val="B66A00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A918FC9-03C6-42D5-9AFF-AD57CF6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769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B66A00"/>
                </a:solidFill>
              </a:defRPr>
            </a:pPr>
            <a:r>
              <a:rPr sz="750" b="1">
                <a:solidFill>
                  <a:srgbClr val="B66A00"/>
                </a:solidFill>
              </a:rPr>
              <a:t>MEANING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BC4F1C-4604-41BC-AEF7-4E34EB3A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848350"/>
            <a:ext cx="935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66A00"/>
                </a:solidFill>
              </a:defRPr>
            </a:pPr>
            <a:r>
              <a:rPr sz="900" b="1">
                <a:solidFill>
                  <a:srgbClr val="B66A00"/>
                </a:solidFill>
              </a:rPr>
              <a:t>Escalation handles complaints or other SOPs. It does not turn a closed CJ status into a cancellable order.</a:t>
            </a:r>
          </a:p>
        </p:txBody>
      </p:sp>
    </p:spTree>
    <p:extLst>
      <p:ext uri="{BB962C8B-B14F-4D97-AF65-F5344CB8AC3E}">
        <p14:creationId xmlns:p14="http://schemas.microsoft.com/office/powerpoint/2010/main" val="9686069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2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54FCC-8553-49DF-B7D8-3ED533D93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"/>
            <a:ext cx="8191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009879"/>
                </a:solidFill>
              </a:defRPr>
            </a:pPr>
            <a:r>
              <a:rPr sz="750" b="1">
                <a:solidFill>
                  <a:srgbClr val="009879"/>
                </a:solidFill>
              </a:rPr>
              <a:t>GUARDRAILS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E9245F-E83C-483C-AA92-BABB3C14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0075"/>
            <a:ext cx="9810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45A"/>
                </a:solidFill>
              </a:defRPr>
            </a:pPr>
            <a:r>
              <a:rPr sz="2250" b="1">
                <a:solidFill>
                  <a:srgbClr val="17245A"/>
                </a:solidFill>
              </a:rPr>
              <a:t>Five rules that never bend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28817-DB5D-4BF7-ACA0-B384D94E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29375"/>
            <a:ext cx="7239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4F5E7C"/>
                </a:solidFill>
              </a:defRPr>
            </a:pPr>
            <a:r>
              <a:rPr sz="675" b="0">
                <a:solidFill>
                  <a:srgbClr val="4F5E7C"/>
                </a:solidFill>
              </a:rPr>
              <a:t>Internal SOP draft — not legal advice or final launch copy.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8271D2-642B-465D-975A-E1D59B4C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429375"/>
            <a:ext cx="6191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17245A"/>
                </a:solidFill>
              </a:defRPr>
            </a:pPr>
            <a:r>
              <a:rPr sz="675" b="1">
                <a:solidFill>
                  <a:srgbClr val="17245A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0C3F3F-76C9-44D8-8B75-98CD7AA4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810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9879"/>
                </a:solidFill>
              </a:defRPr>
            </a:pPr>
            <a:r>
              <a:rPr sz="1800" b="1">
                <a:solidFill>
                  <a:srgbClr val="009879"/>
                </a:solidFill>
              </a:rPr>
              <a:t>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616EE4-F2AB-4042-9319-DA5D6FC9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B8A093-11F2-46E7-A4D7-C7C64CFE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430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19ABE1-6C26-40D9-9924-A1FBEE27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287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0858AC-5D18-4867-9715-2E7F5EA6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24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CJ status decides cancellation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2483F-DAE4-4187-AD4A-0F9DFCF3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4305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Check fresh Sals3 status and CJ exact status before promising a cancel, refund, or decline.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7E2513-8E25-4C99-8D65-DC76285F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19A10E-DCB7-4CFB-941B-E994210FD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97016-B523-406E-8BA8-62FC7FAEC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193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2360CE-C4D7-4A22-ADB6-4F2DD9E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3145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No approval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B844AD-507E-46DC-B821-2B03708E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33625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If CJ is beyond CREATED / IN_CART, cancellation is declined. Do not seek approval to override 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9DB79C-8CEA-4361-A898-58C1CE75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0990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C9B0E-53C4-4801-8BCE-C0EC504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F18B12-712B-4E6D-94F4-9CE195C3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0992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F6C1C-4C88-4D8D-B03D-B7038A69D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051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No refusal advice by default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1004B8-2C6E-44FF-A984-3C9ECA5A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2420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Doorstep delivery can make refusal impossible and unclaimed packages are risky.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82E3FE-0282-42EF-8B86-11AB3B34D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00475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526B02-7B4F-4A86-9606-E3DC62D1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14775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6CB21E-2B88-4D9C-ADB8-3821D406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4A0BDD-92DC-482E-ADEC-9FA9ADF6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957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Refund after valid cancel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9BAB7F-E891-47FF-AFB5-2D6AC19F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14775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Refund through Stripe/original payment only after a valid cancellation succeeds.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049CC5-7EC2-4433-9DA6-91B4E9DF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0871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2BEA9E-A5A3-48DC-9221-107BD88C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05350"/>
            <a:ext cx="361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7245A"/>
          </a:solidFill>
          <a:ln xmlns:a="http://schemas.openxmlformats.org/drawingml/2006/main" w="9525">
            <a:solidFill>
              <a:srgbClr val="17245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103F37-5660-435C-A068-61EF52B86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91075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71E939-C485-4F25-9CDC-8BD58A25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863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45A"/>
                </a:solidFill>
              </a:defRPr>
            </a:pPr>
            <a:r>
              <a:rPr sz="1350" b="1">
                <a:solidFill>
                  <a:srgbClr val="17245A"/>
                </a:solidFill>
              </a:rPr>
              <a:t>Route, don’t bend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261FA-6067-4816-B58C-7A4D21AD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05350"/>
            <a:ext cx="6838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F5E7C"/>
                </a:solidFill>
              </a:defRPr>
            </a:pPr>
            <a:r>
              <a:rPr sz="975" b="0">
                <a:solidFill>
                  <a:srgbClr val="4F5E7C"/>
                </a:solidFill>
              </a:rPr>
              <a:t>After the cancel window closes, move the customer to the correct support SOP.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59A33E-C549-4B57-86F2-5E7C2339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62625"/>
            <a:ext cx="11087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F5E7C"/>
                </a:solidFill>
              </a:defRPr>
            </a:pPr>
            <a:r>
              <a:rPr sz="1050" b="1">
                <a:solidFill>
                  <a:srgbClr val="4F5E7C"/>
                </a:solidFill>
              </a:rPr>
              <a:t>Questions, edge cases, or pressure from the customer — apply the CJ status gate, then route the case rather than inventing an exception.</a:t>
            </a:r>
          </a:p>
        </p:txBody>
      </p:sp>
    </p:spTree>
    <p:extLst>
      <p:ext uri="{BB962C8B-B14F-4D97-AF65-F5344CB8AC3E}">
        <p14:creationId xmlns:p14="http://schemas.microsoft.com/office/powerpoint/2010/main" val="303290140"/>
      </p:ext>
    </p:extLst>
  </p:cSld>
</p:sld>
</file>

<file path=ppt/theme/theme1.xml><?xml version="1.0" encoding="utf-8"?>
<a:theme xmlns:a="http://schemas.openxmlformats.org/drawingml/2006/main" name="ChatGPT">
  <a:themeElements>
    <a:clrScheme name="Sals3 SOP">
      <a:dk1>
        <a:srgbClr val="000000"/>
      </a:dk1>
      <a:lt1>
        <a:srgbClr val="FFFFFF"/>
      </a:lt1>
      <a:dk2>
        <a:srgbClr val="17245A"/>
      </a:dk2>
      <a:lt2>
        <a:srgbClr val="D8E0EC"/>
      </a:lt2>
      <a:accent1>
        <a:srgbClr val="009879"/>
      </a:accent1>
      <a:accent2>
        <a:srgbClr val="C8324D"/>
      </a:accent2>
      <a:accent3>
        <a:srgbClr val="B66A00"/>
      </a:accent3>
      <a:accent4>
        <a:srgbClr val="8064A2"/>
      </a:accent4>
      <a:accent5>
        <a:srgbClr val="4BACC6"/>
      </a:accent5>
      <a:accent6>
        <a:srgbClr val="F79646"/>
      </a:accent6>
      <a:hlink>
        <a:srgbClr val="009879"/>
      </a:hlink>
      <a:folHlink>
        <a:srgbClr val="0098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Sals3 SO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2026-09-02T16:44:21.1560000Z</dcterms:created>
  <dcterms:modified xsi:type="dcterms:W3CDTF">2026-09-02T16:44:21.1570000Z</dcterms:modified>
</coreProperties>
</file>