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blic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6217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Sals3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205740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Item Problem Return &amp; Refund SOP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685800" y="288950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2"/>
                </a:solidFill>
              </a:rPr>
              <a:t>Phase 1 internal SOP | CJ-only fulfillment, no local returns warehouse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85800" y="3493008"/>
            <a:ext cx="2834640" cy="640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6080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6E2"/>
                </a:solidFill>
              </a:rPr>
              <a:t>Draft date: 09 Sep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pic>
        <p:nvPicPr>
          <p:cNvPr id="3" name="Image 0" descr="public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539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</a:rPr>
              <a:t>Sals3 Returns &amp; Refunds SOP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47472" y="89611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Scope: Item Problems Only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94360" y="1600200"/>
            <a:ext cx="5212080" cy="2880360"/>
          </a:xfrm>
          <a:prstGeom prst="roundRect">
            <a:avLst>
              <a:gd name="adj" fmla="val 1270"/>
            </a:avLst>
          </a:prstGeom>
          <a:solidFill>
            <a:srgbClr val="FFFFFF"/>
          </a:solidFill>
          <a:ln w="11430">
            <a:solidFill>
              <a:srgbClr val="D7DCE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" y="1764792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Included in this SOP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8952" y="2148840"/>
            <a:ext cx="4882896" cy="2167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Damaged item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Wrong item received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Missing parts/accessories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Defective or not working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Includes safety or hazard concern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355080" y="1600200"/>
            <a:ext cx="5212080" cy="2880360"/>
          </a:xfrm>
          <a:prstGeom prst="roundRect">
            <a:avLst>
              <a:gd name="adj" fmla="val 1270"/>
            </a:avLst>
          </a:prstGeom>
          <a:solidFill>
            <a:srgbClr val="FFFFFF"/>
          </a:solidFill>
          <a:ln w="11430">
            <a:solidFill>
              <a:srgbClr val="D7DC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19672" y="1764792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Not Included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19672" y="2148840"/>
            <a:ext cx="4882896" cy="2167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Delivery delay, lost shipment, delivered-but-not-received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Cancellation before fulfillment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Duplicate charge, overcharge, refund-not-received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Change of mind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" y="489204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5C8A"/>
                </a:solidFill>
              </a:rPr>
              <a:t>Customer entry point: My Orders &gt; Select Order &gt; Select Item &gt; Report Item Problem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10160">
            <a:solidFill>
              <a:srgbClr val="D7DC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7472" y="654710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Internal SOP draft. Not legal advice or final launch copy.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1320272" y="65196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pic>
        <p:nvPicPr>
          <p:cNvPr id="3" name="Image 0" descr="public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539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</a:rPr>
              <a:t>Sals3 Returns &amp; Refunds SOP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47472" y="89611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 Customer Claim Reasons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201400" cy="3566160"/>
        </p:xfrm>
        <a:graphic>
          <a:graphicData uri="http://schemas.openxmlformats.org/drawingml/2006/table">
            <a:tbl>
              <a:tblPr/>
              <a:tblGrid>
                <a:gridCol w="2103120"/>
                <a:gridCol w="5989320"/>
                <a:gridCol w="310896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Reason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Definition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Default Direction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Damaged item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Arrived broken, torn, cracked, stained, unusable, or visibly damaged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Full/partial refund depending severity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Wrong item received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Different product, variant, color, size, or SKU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refund when validated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Missing parts/accessories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Product arrived but required parts/accessories are missing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Partial refund; full if unusable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Defective / not working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Does not function as expected, or creates a safety, injury, electrical, battery, chemical, or hazard concern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Full/partial refund; safety concern escalates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2103120" y="5532120"/>
            <a:ext cx="7909560" cy="347472"/>
          </a:xfrm>
          <a:prstGeom prst="roundRect">
            <a:avLst>
              <a:gd name="adj" fmla="val 13158"/>
            </a:avLst>
          </a:prstGeom>
          <a:solidFill>
            <a:srgbClr val="0A5C8A">
              <a:alpha val="92000"/>
            </a:srgbClr>
          </a:solidFill>
          <a:ln w="12700">
            <a:solidFill>
              <a:srgbClr val="0A5C8A">
                <a:alpha val="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176272" y="5618988"/>
            <a:ext cx="7763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Standalone subjective listing-match claims are removed from this SOP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10160">
            <a:solidFill>
              <a:srgbClr val="D7DCE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47472" y="654710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Internal SOP draft. Not legal advice or final launch copy.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11320272" y="65196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pic>
        <p:nvPicPr>
          <p:cNvPr id="3" name="Image 0" descr="public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539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</a:rPr>
              <a:t>Sals3 Returns &amp; Refunds SOP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47472" y="89611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Filing Windows and Evidence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54480"/>
          <a:ext cx="5166360" cy="1554480"/>
        </p:xfrm>
        <a:graphic>
          <a:graphicData uri="http://schemas.openxmlformats.org/drawingml/2006/table">
            <a:tbl>
              <a:tblPr/>
              <a:tblGrid>
                <a:gridCol w="3063240"/>
                <a:gridCol w="210312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Issue Type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Filing Window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Damaged / wrong / missing / defective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 calendar days from delivery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Late but genuine complaint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Escalated review; not automatic decline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554480"/>
          <a:ext cx="5440680" cy="2834640"/>
        </p:xfrm>
        <a:graphic>
          <a:graphicData uri="http://schemas.openxmlformats.org/drawingml/2006/table">
            <a:tbl>
              <a:tblPr/>
              <a:tblGrid>
                <a:gridCol w="1691640"/>
                <a:gridCol w="3749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Issue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 Evidence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Damaged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Photo/video of damaged item, package, shipping label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Wrong item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Photo/video of received item, package, shipping label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Missing parts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Photo/video of package contents + explanation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Defective / safety concern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Short video/photo showing defect, malfunction, or hazard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594360" y="3520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Customer-facing caveat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594360" y="3822192"/>
            <a:ext cx="516636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These timeframes help us review issues quickly. A late but genuine complaint goes to escalation instead of automatic decline. These timeframes do not remove any rights the customer may have under applicable consumer law.</a:t>
            </a:r>
            <a:endParaRPr lang="en-US" sz="930" dirty="0"/>
          </a:p>
        </p:txBody>
      </p:sp>
      <p:sp>
        <p:nvSpPr>
          <p:cNvPr id="10" name="Shape 5"/>
          <p:cNvSpPr/>
          <p:nvPr/>
        </p:nvSpPr>
        <p:spPr>
          <a:xfrm>
            <a:off x="594360" y="5047488"/>
            <a:ext cx="5166360" cy="347472"/>
          </a:xfrm>
          <a:prstGeom prst="roundRect">
            <a:avLst>
              <a:gd name="adj" fmla="val 13158"/>
            </a:avLst>
          </a:prstGeom>
          <a:solidFill>
            <a:srgbClr val="0A5C8A">
              <a:alpha val="92000"/>
            </a:srgbClr>
          </a:solidFill>
          <a:ln w="12700">
            <a:solidFill>
              <a:srgbClr val="0A5C8A">
                <a:alpha val="0"/>
              </a:srgbClr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67512" y="5134356"/>
            <a:ext cx="5020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Do not return unless Sals3 Support instructs you</a:t>
            </a:r>
            <a:endParaRPr lang="en-US" sz="800" dirty="0"/>
          </a:p>
        </p:txBody>
      </p:sp>
      <p:sp>
        <p:nvSpPr>
          <p:cNvPr id="12" name="Shape 7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10160">
            <a:solidFill>
              <a:srgbClr val="D7DCE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47472" y="654710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Internal SOP draft. Not legal advice or final launch copy.</a:t>
            </a:r>
            <a:endParaRPr lang="en-US" sz="750" dirty="0"/>
          </a:p>
        </p:txBody>
      </p:sp>
      <p:sp>
        <p:nvSpPr>
          <p:cNvPr id="14" name="Text 9"/>
          <p:cNvSpPr/>
          <p:nvPr/>
        </p:nvSpPr>
        <p:spPr>
          <a:xfrm>
            <a:off x="11320272" y="65196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pic>
        <p:nvPicPr>
          <p:cNvPr id="3" name="Image 0" descr="public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539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</a:rPr>
              <a:t>Sals3 Returns &amp; Refunds SOP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47472" y="89611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Claim Profile View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94360" y="13533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Support/admin should decide with customer context, not just one claim in isolation.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83080"/>
          <a:ext cx="11018520" cy="4023360"/>
        </p:xfrm>
        <a:graphic>
          <a:graphicData uri="http://schemas.openxmlformats.org/drawingml/2006/table">
            <a:tbl>
              <a:tblPr/>
              <a:tblGrid>
                <a:gridCol w="3246120"/>
                <a:gridCol w="77724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Profile Field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Decision Use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orders placed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 history size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Lifetime customer value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Successful deliveries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Normal completed order history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 item-problem claims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Claim pattern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Approved refunds / declined claims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Valid history vs risk pattern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 cancellations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Ordering behavior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refunded amount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Refund exposure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Claim rate and last claim date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Repeat/recent behavior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Repeated reason pattern / high-risk flags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Suspicious behavior or mismatch evidence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94360" y="596188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C8A"/>
                </a:solidFill>
              </a:rPr>
              <a:t>Rule: customer history guides the decision. It should not automatically deny a valid claim.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10160">
            <a:solidFill>
              <a:srgbClr val="D7DCE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47472" y="654710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Internal SOP draft. Not legal advice or final launch copy.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11320272" y="65196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pic>
        <p:nvPicPr>
          <p:cNvPr id="3" name="Image 0" descr="public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539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</a:rPr>
              <a:t>Sals3 Returns &amp; Refunds SOP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47472" y="89611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Lanes, Amount Tiers, and Refund Decision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94360" y="135331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Base currency: USD equivalent per order line, converted using order/payment FX rate.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55648"/>
          <a:ext cx="11292840" cy="3337560"/>
        </p:xfrm>
        <a:graphic>
          <a:graphicData uri="http://schemas.openxmlformats.org/drawingml/2006/table">
            <a:tbl>
              <a:tblPr/>
              <a:tblGrid>
                <a:gridCol w="1874520"/>
                <a:gridCol w="1828800"/>
                <a:gridCol w="2057400"/>
                <a:gridCol w="5532120"/>
              </a:tblGrid>
              <a:tr h="556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Lane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Amount Tier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Decision to Refund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When Used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Manual Review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$0-$25 per item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Agent Level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Low-value item, clear evidence, healthy customer profile, no risk flags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Manual Review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&gt;$25-$100 per item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Supervisor/Manager Level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Normal claim, medium value, new customer, unclear evidence, moderate risk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Manual Review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&gt;$100-$250 per item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Supervisor/Manager Level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High-value item, safety concern, regulated product, repeat claimant, suspicious pattern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Manual Review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&gt;$250 per item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C-Level decision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Large refund exposure, legal risk, viral/social/regulator threat, repeated abuse concern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Decline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Any amount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 Lead if disputed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Evidence or policy clearly does not support claim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94360" y="5486400"/>
            <a:ext cx="4709160" cy="347472"/>
          </a:xfrm>
          <a:prstGeom prst="roundRect">
            <a:avLst>
              <a:gd name="adj" fmla="val 13158"/>
            </a:avLst>
          </a:prstGeom>
          <a:solidFill>
            <a:srgbClr val="B42318">
              <a:alpha val="92000"/>
            </a:srgbClr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67512" y="5573268"/>
            <a:ext cx="4562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All item-problem refunds require review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5486400" y="5486400"/>
            <a:ext cx="5303520" cy="347472"/>
          </a:xfrm>
          <a:prstGeom prst="roundRect">
            <a:avLst>
              <a:gd name="adj" fmla="val 13158"/>
            </a:avLst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559552" y="5573268"/>
            <a:ext cx="5157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Decision to refund is recorded per order line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10160">
            <a:solidFill>
              <a:srgbClr val="D7DCE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47472" y="654710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Internal SOP draft. Not legal advice or final launch copy.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1320272" y="65196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pic>
        <p:nvPicPr>
          <p:cNvPr id="3" name="Image 0" descr="public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539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</a:rPr>
              <a:t>Sals3 Returns &amp; Refunds SOP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47472" y="89611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Refund Decision Rules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201400" cy="3703320"/>
        </p:xfrm>
        <a:graphic>
          <a:graphicData uri="http://schemas.openxmlformats.org/drawingml/2006/table">
            <a:tbl>
              <a:tblPr/>
              <a:tblGrid>
                <a:gridCol w="4663440"/>
                <a:gridCol w="2331720"/>
                <a:gridCol w="4206240"/>
              </a:tblGrid>
              <a:tr h="4629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Issue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Max Refund Before Higher Review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Decision Outcome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Missing small accessory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 to $10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Agent may approve partial refund after review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Minor visible damage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 to $15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Agent may approve partial refund after review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Low-value badly damaged item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 to $25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Agent may approve full refund after review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Low-value wrong item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 to $25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Agent may approve full refund after review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Low-value defective item with clear photo/video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 to $25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Agent may approve full refund after review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Low-value missing non-critical part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 to $10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Agent may approve partial refund after review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Low-value unusable due to missing critical part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 to $25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Agent may approve full refund after review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85800" y="5468112"/>
            <a:ext cx="51663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7DCE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50392" y="5632704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Hard Rule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50392" y="6016752"/>
            <a:ext cx="4837176" cy="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Every refund requires review and an explicit decision to refund. Approved remedies are refund-only.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6263640" y="5468112"/>
            <a:ext cx="51663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7DCE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428232" y="5632704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Why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428232" y="6016752"/>
            <a:ext cx="4837176" cy="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A second shipment creates extra fulfillment cost, stock checks, shipping risk, and abuse risk. This SOP avoids that path.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10160">
            <a:solidFill>
              <a:srgbClr val="D7DCE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47472" y="654710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Internal SOP draft. Not legal advice or final launch copy.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11320272" y="65196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pic>
        <p:nvPicPr>
          <p:cNvPr id="3" name="Image 0" descr="public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539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</a:rPr>
              <a:t>Sals3 Returns &amp; Refunds SOP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47472" y="89611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Profile Rules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00200"/>
          <a:ext cx="11018520" cy="3474720"/>
        </p:xfrm>
        <a:graphic>
          <a:graphicData uri="http://schemas.openxmlformats.org/drawingml/2006/table">
            <a:tbl>
              <a:tblPr/>
              <a:tblGrid>
                <a:gridCol w="6583680"/>
                <a:gridCol w="4434840"/>
              </a:tblGrid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 Profile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Review Direction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3+ successful deliveries, claim rate under 10%, no recent suspicious claims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Agent-level review up to $25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New customer / first order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Agent-level review up to $15; otherwise supervisor/manager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Claim rate 10%-20%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Manual review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Claim rate over 20%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Escalated review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Prior declined/suspicious claim in last 180 days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Escalated review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refunded amount over 30% of lifetime order value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Escalated review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94360" y="5440680"/>
            <a:ext cx="10927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5C8A"/>
                </a:solidFill>
              </a:rPr>
              <a:t>These thresholds are review controls, not automatic denial rules.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10160">
            <a:solidFill>
              <a:srgbClr val="D7DCE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47472" y="654710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Internal SOP draft. Not legal advice or final launch copy.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11320272" y="65196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pic>
        <p:nvPicPr>
          <p:cNvPr id="3" name="Image 0" descr="public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539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</a:rPr>
              <a:t>Sals3 Returns &amp; Refunds SOP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47472" y="89611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Category Risk Adjustment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4617720"/>
        </p:xfrm>
        <a:graphic>
          <a:graphicData uri="http://schemas.openxmlformats.org/drawingml/2006/table">
            <a:tbl>
              <a:tblPr/>
              <a:tblGrid>
                <a:gridCol w="3840480"/>
                <a:gridCol w="2148840"/>
                <a:gridCol w="5074920"/>
              </a:tblGrid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Product Type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Default Review Path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Rule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Standard low-risk items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Agent-level review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 to $25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Small accessories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Agent-level review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Partial refund up to $10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Apparel / simple household goods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Agent-level review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 to $25 if evidence is clear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Fragile items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Supervisor/manager review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Agent level only if very low value and clear damage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Electronics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Supervisor/manager review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Escalate if high-value or safety-related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Battery / electrical goods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Escalated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Supervisor/manager or safety review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Hygiene-sensitive items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Supervisor/manager review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Escalate if safety/regulatory issue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 / personalized items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Supervisor/manager review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agent-level approval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Regulated / safety-sensitive items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Escalated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Supervisor/manager or safety review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10160">
            <a:solidFill>
              <a:srgbClr val="D7DCE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47472" y="654710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Internal SOP draft. Not legal advice or final launch copy.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11320272" y="65196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pic>
        <p:nvPicPr>
          <p:cNvPr id="3" name="Image 0" descr="public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539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</a:rPr>
              <a:t>Sals3 Returns &amp; Refunds SOP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47472" y="89611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Manual and Escalated Refund Rules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3566160" cy="370332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1430">
            <a:solidFill>
              <a:srgbClr val="D7DCE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7512" y="162763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Manual Review Required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67512" y="2011680"/>
            <a:ext cx="3236976" cy="2990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Unclear evidence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Above agent-level cap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New customer with no successful deliveries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Recent claims or moderate claim rate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Safety or hazard concern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Fragile/electronics/battery/hygiene/custom/regulated item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43400" y="1463040"/>
            <a:ext cx="3566160" cy="370332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1430">
            <a:solidFill>
              <a:srgbClr val="D7DC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07992" y="162763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Escalated Review Required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07992" y="2011680"/>
            <a:ext cx="3236976" cy="2990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Safety or hazard concern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Injury claim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Battery/electrical safety issue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Possible counterfeit/prohibited item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High-value product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Unusually high claim rate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Legal/regulator/chargeback threat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183880" y="1463040"/>
            <a:ext cx="3566160" cy="370332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1430">
            <a:solidFill>
              <a:srgbClr val="D7DCE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48472" y="162763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Refund-Only Remedy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348472" y="2011680"/>
            <a:ext cx="3236976" cy="2990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All approved item-problem remedies are refund-only.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The decision must state full refund or partial refund, the amount, reason, approver level, and evidence used.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886200" y="5532120"/>
            <a:ext cx="4389120" cy="347472"/>
          </a:xfrm>
          <a:prstGeom prst="roundRect">
            <a:avLst>
              <a:gd name="adj" fmla="val 13158"/>
            </a:avLst>
          </a:prstGeom>
          <a:solidFill>
            <a:srgbClr val="B42318">
              <a:alpha val="92000"/>
            </a:srgbClr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59352" y="5618988"/>
            <a:ext cx="4242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Refund-only remedy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10160">
            <a:solidFill>
              <a:srgbClr val="D7DCE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7472" y="654710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Internal SOP draft. Not legal advice or final launch copy.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320272" y="65196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pic>
        <p:nvPicPr>
          <p:cNvPr id="3" name="Image 0" descr="public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539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</a:rPr>
              <a:t>Sals3 Returns &amp; Refunds SOP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47472" y="89611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Rules by Issue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08760"/>
          <a:ext cx="11018520" cy="3108960"/>
        </p:xfrm>
        <a:graphic>
          <a:graphicData uri="http://schemas.openxmlformats.org/drawingml/2006/table">
            <a:tbl>
              <a:tblPr/>
              <a:tblGrid>
                <a:gridCol w="3749040"/>
                <a:gridCol w="726948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Issue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Default Remedy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Badly damaged item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refund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Minor damage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Partial refund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Wrong item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refund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Missing part/accessory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Partial refund, or full refund if item is unusable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Defective / not working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refund or partial refund; safety concern escalates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85800" y="52303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Returnless-first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2331720" y="5212080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</a:rPr>
              <a:t>For valid low-value item problems, Sals3 normally resolves after review through full or partial refund without physical return.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85800" y="56692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2318"/>
                </a:solidFill>
              </a:rPr>
              <a:t>Return-required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2331720" y="56509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</a:rPr>
              <a:t>Only for high-value, fraud-risk, inspection-required, or legally sensitive items. Do not default buyers to CJ China returns.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10160">
            <a:solidFill>
              <a:srgbClr val="D7DCE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47472" y="654710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Internal SOP draft. Not legal advice or final launch copy.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11320272" y="65196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pic>
        <p:nvPicPr>
          <p:cNvPr id="3" name="Image 0" descr="public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539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</a:rPr>
              <a:t>Sals3 Returns &amp; Refunds SOP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47472" y="89611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Internal CJ Recovery and Case Record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94360" y="1508760"/>
            <a:ext cx="5120640" cy="3520440"/>
          </a:xfrm>
          <a:prstGeom prst="roundRect">
            <a:avLst>
              <a:gd name="adj" fmla="val 1039"/>
            </a:avLst>
          </a:prstGeom>
          <a:solidFill>
            <a:srgbClr val="FFFFFF"/>
          </a:solidFill>
          <a:ln w="11430">
            <a:solidFill>
              <a:srgbClr val="D7DCE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" y="1673352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CJ Recovery Steps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8952" y="2057400"/>
            <a:ext cx="4791456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1. Open CJ dispute internally if eligible.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2. Attach customer evidence.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3. Resolve buyer under Sals3 policy, not CJ decision.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4. Record CJ outcome: recovered, partially recovered, denied, or pending.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5. Ledger unrecovered loss.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126480" y="1508760"/>
            <a:ext cx="5212080" cy="3520440"/>
          </a:xfrm>
          <a:prstGeom prst="roundRect">
            <a:avLst>
              <a:gd name="adj" fmla="val 1039"/>
            </a:avLst>
          </a:prstGeom>
          <a:solidFill>
            <a:srgbClr val="FFFFFF"/>
          </a:solidFill>
          <a:ln w="11430">
            <a:solidFill>
              <a:srgbClr val="D7DC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91072" y="1673352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Required Case Record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91072" y="2057400"/>
            <a:ext cx="4882896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Case ID, order ID, order line ID, issue type, delivery date, filing date, policy version, evidence files, customer profile snapshot, decision, remedy type, refund amount, refund-only remedy note, return required flag, CJ dispute ID, CJ recovery result, absorbed loss, closing reason, timestamps.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148840" y="5504688"/>
            <a:ext cx="7863840" cy="347472"/>
          </a:xfrm>
          <a:prstGeom prst="roundRect">
            <a:avLst>
              <a:gd name="adj" fmla="val 13158"/>
            </a:avLst>
          </a:prstGeom>
          <a:solidFill>
            <a:srgbClr val="B42318">
              <a:alpha val="92000"/>
            </a:srgbClr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221992" y="5591556"/>
            <a:ext cx="7717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Never tell customer: CJ denied the dispute, so we cannot help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10160">
            <a:solidFill>
              <a:srgbClr val="D7DCE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7472" y="654710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Internal SOP draft. Not legal advice or final launch copy.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1320272" y="65196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Sals3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Sals3 Item Problem Return &amp; Refund SOP</dc:title>
  <dc:subject>Item Problem Return and Refund SOP</dc:subject>
  <dc:creator>Sals3</dc:creator>
  <cp:lastModifiedBy>Sals3</cp:lastModifiedBy>
  <cp:revision>1</cp:revision>
  <dcterms:created xsi:type="dcterms:W3CDTF">2026-09-22T20:10:52Z</dcterms:created>
  <dcterms:modified xsi:type="dcterms:W3CDTF">2026-09-22T20:10:52Z</dcterms:modified>
</cp:coreProperties>
</file>